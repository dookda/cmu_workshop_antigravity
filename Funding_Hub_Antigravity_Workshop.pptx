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33" d="100"/>
          <a:sy n="133" d="100"/>
        </p:scale>
        <p:origin x="224" y="1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341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แนะนำตัว ถามพื้นฐานผู้เรียน: ใครเคยเขียนเว็บมาก่อน ใครเคยใช้ AI ช่วยเขียนโค้ด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141732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200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WORKSHOP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94360" y="1828800"/>
            <a:ext cx="9875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การพัฒนา Web Application</a:t>
            </a:r>
            <a:endParaRPr lang="en-US" sz="42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ด้วย Google Antigravity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94360" y="3611880"/>
            <a:ext cx="6675120" cy="566928"/>
          </a:xfrm>
          <a:prstGeom prst="roundRect">
            <a:avLst>
              <a:gd name="adj" fmla="val 16129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13816" y="361188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D6F5F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กรณีศึกษา : Funding Hub — ระบบจัดการข้อมูลทุนวิจัย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443484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sz="1500" dirty="0">
                <a:solidFill>
                  <a:srgbClr val="9FB0B3"/>
                </a:solidFill>
                <a:latin typeface="TH Sarabun New" pitchFamily="34" charset="0"/>
                <a:cs typeface="TH Sarabun New" pitchFamily="34" charset="-120"/>
              </a:rPr>
              <a:t>ศักดิ์ดา หอมหวล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เป้าหมาย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เมื่อจบวันนี้ ผู้เข้าอบรมจะทำสิ่งเหล่านี้ได้ด้วยตนเอง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เข้าใจโครงสร้างเว็บแอปพลิเคชัน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แยกออกว่า Frontend / Backend / Database ทำหน้าที่ต่างกันอย่างไร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สั่งงาน AI Agent ด้วย Antigravity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Editor, Agent, Artifacts และ Browser Subagent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เขียนสเปกที่ AI ทำตามได้จริง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แปลงโจทย์เป็นเอกสารสเปกไฟล์เดียว พร้อมเกณฑ์ยอมรับที่วัดผลได้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สร้างเว็บที่ใช้งานได้จริงและนำขึ้นระบบ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ครบ 4 หน้า เชื่อมฐานข้อมูลจริง และเปิดจาก URL สาธารณะ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กำหนดการ 3 ชั่วโมง 30 นาที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บรรยาย 110 นาที · ปฏิบัติ 100 นาที — แบ่งเป็น 3 แล็บ ต่อเนื่องกันเป็นเรื่องเดียว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777240" y="14630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508760" y="146304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เปิดการอบรม / ภาพรวม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94360" y="202996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777240" y="202996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508760" y="202996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594360" y="2596896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777240" y="2596896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508760" y="25968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 · เตรียมเครื่องและเปิดโปรเจกต์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777240" y="3163824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08760" y="31638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594360" y="3730752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777240" y="373075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น.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37307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 · วางบล็อกแรกของสเปก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94360" y="429768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777240" y="42976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508760" y="42976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แกะโจทย์ให้เป็นสเปก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594360" y="486460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77240" y="486460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508760" y="486460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ประกอบสเปก ตอนที่ 1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6263640" y="146304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446520" y="146304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น.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178040" y="146304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: สไตล์ สี ฟอนต์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6263640" y="202996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6446520" y="202996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178040" y="202996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ตอนที่ 2 — Design System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6263640" y="2596896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6446520" y="2596896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178040" y="25968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ฐานข้อมูลด้วย Supabase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6263640" y="3163824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6446520" y="3163824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7178040" y="31638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 · ตอนที่ 3 — ฐานข้อมูล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6263640" y="3730752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9" name="Text 37"/>
          <p:cNvSpPr/>
          <p:nvPr/>
        </p:nvSpPr>
        <p:spPr>
          <a:xfrm>
            <a:off x="6446520" y="373075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น.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7178040" y="37307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กลยุทธ์สั่งงาน AI Agent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6263640" y="4297680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2" name="Text 40"/>
          <p:cNvSpPr/>
          <p:nvPr/>
        </p:nvSpPr>
        <p:spPr>
          <a:xfrm>
            <a:off x="6446520" y="4297680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 น.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7178040" y="42976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C · สั่ง Antigravity สร้างแอป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6263640" y="4864608"/>
            <a:ext cx="5303520" cy="475488"/>
          </a:xfrm>
          <a:prstGeom prst="roundRect">
            <a:avLst>
              <a:gd name="adj" fmla="val 13462"/>
            </a:avLst>
          </a:prstGeom>
          <a:solidFill>
            <a:srgbClr val="E8F6F7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5" name="Text 43"/>
          <p:cNvSpPr/>
          <p:nvPr/>
        </p:nvSpPr>
        <p:spPr>
          <a:xfrm>
            <a:off x="6446520" y="486460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น.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178040" y="486460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· Deploy · สรุป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แถบสีฟ้า = ช่วงลงมือปฏิบัติ  ·  LAB A เตรียมพร้อม  ·  LAB B ประกอบสเปกด้วยการคัดลอกวาง  ·  LAB C สั่งสร้างและ deploy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รู้ว่าเรากำลังสร้างอะไร ก่อนจะสั่งให้ AI สร้างให้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ต่างจาก เว็บแอปพลิเคชัน อย่างไร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(Website)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ผู้ใช้อ่านอย่างเดียว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เนื้อหาคงที่ แก้ต้องแก้ไฟล์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ไม่จำเป็นต้องมีฐานข้อมูล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หน้าประชาสัมพันธ์คณะ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เว็บแอปพลิเคชัน (Web Application)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ผู้ใช้ป้อน แก้ไข และลบข้อมูลได้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เนื้อหาเปลี่ยนตามข้อมูลในระบบ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ต้องมีฐานข้อมูลเสมอ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Funding Hub ที่เราจะสร้าง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480060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5F7F8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4800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Funding Hub เป็นเว็บแอปพลิเคชัน เพราะมีการ เพิ่ม / อ่าน / แก้ไข / ลบ ข้อมูล — เรียกรวมว่า CRUD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3 ชั้นของเว็บแอปพลิเคชัน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ทุกเว็บแอปในโลกนี้ประกอบด้วยสามชั้นนี้เสมอ ไม่ว่าจะใช้เทคโนโลยีอะไร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32104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Frontend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32104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สิ่งที่ผู้ใช้เห็นและกด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32104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ทำงานในเบราว์เซอร์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32104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32104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+ Vite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50208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498848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736592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Backend / API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736592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รับคำขอ ตรวจสิทธิ์ ส่งข้อมูล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36592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736592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4736592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API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54696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8403336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641080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Database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641080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เก็บข้อมูลอย่างถาวร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641080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641080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41080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300" dirty="0"/>
          </a:p>
        </p:txBody>
      </p:sp>
      <p:pic>
        <p:nvPicPr>
          <p:cNvPr id="28" name="Picture 27" descr="Client-server architecture, a short guide - negg Blog">
            <a:extLst>
              <a:ext uri="{FF2B5EF4-FFF2-40B4-BE49-F238E27FC236}">
                <a16:creationId xmlns:a16="http://schemas.microsoft.com/office/drawing/2014/main" id="{228717F9-2696-FEA7-E99E-7476693A1D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93" b="15750"/>
          <a:stretch>
            <a:fillRect/>
          </a:stretch>
        </p:blipFill>
        <p:spPr>
          <a:xfrm>
            <a:off x="3455135" y="3986784"/>
            <a:ext cx="5727700" cy="245251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FBF2653-14FE-4D73-A45E-D0BB1C6EE652}"/>
              </a:ext>
            </a:extLst>
          </p:cNvPr>
          <p:cNvSpPr txBox="1"/>
          <p:nvPr/>
        </p:nvSpPr>
        <p:spPr>
          <a:xfrm>
            <a:off x="3694176" y="6344150"/>
            <a:ext cx="60976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050"/>
              <a:t>https://negg.blog/en/client-server-architecture-a-short-guide/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ภาษาและเครื่องมือฝั่ง Frontend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795528" y="1508760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795528" y="15087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377440" y="137160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โครงสร้างของหน้า — เปรียบเหมือนโครงกระดูก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0" y="137160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 ตาราง ฟอร์ม อยู่ตรงไหน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21284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795528" y="2350008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795528" y="2350008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377440" y="22128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หน้าตาและการจัดวาง — เปรียบเหมือนเสื้อผ้า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040880" y="221284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 ฟอนต์ ระยะห่าง การตอบสนองต่อขนาดจอ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05409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795528" y="3191256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795528" y="31912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377440" y="30540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พฤติกรรม — เปรียบเหมือนกล้ามเนื้อ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040880" y="305409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กดปุ่มแล้วเกิดอะไร ดึงข้อมูลจากฐานข้อมูลอย่างไร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68680" y="420624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 React กับ Vite คืออะไร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68680" y="4572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React  คือไลบรารีที่ช่วยแบ่งหน้าเว็บออกเป็นชิ้นส่วนเล็ก ๆ (Component) เช่น ปุ่ม การ์ดทุน แล้วนำกลับมาใช้ซ้ำได้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 คือเครื่องมือรวมและรันโค้ด ทำให้แก้ไฟล์แล้วเห็นผลบนเบราว์เซอร์ทันทีโดยไม่ต้องกดรีเฟรช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CRUD และพื้นฐานฐานข้อมูล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คำสี่คำที่อธิบายได้ทุกอย่างที่ระบบข้อมูลทำ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694944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การกระทำ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651760" y="155448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HTTP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8620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 SQL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03520" y="155448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ในระบบของเรา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5528" y="1975104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Create — สร้าง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651760" y="19751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886200" y="197510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303520" y="197510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เพิ่มทุนวิจัยใหม่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95528" y="2633472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6334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Read — อ่าน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265176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86200" y="26334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03520" y="26334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แสดงรายการทุน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795528" y="3291840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3291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Update — แก้ไข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2651760" y="3291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886200" y="3291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0352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แก้ข้อมูลทุนเดิม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795528" y="3950208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68680" y="3950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Delete — ลบ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2651760" y="39502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886200" y="39502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303520" y="39502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ลบทุนออกจากระบบ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7772400" y="1371600"/>
            <a:ext cx="3794760" cy="3566160"/>
          </a:xfrm>
          <a:prstGeom prst="roundRect">
            <a:avLst>
              <a:gd name="adj" fmla="val 2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001000" y="157276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ตารางในฐานข้อมูล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8001000" y="201168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 (Table) — เก็บข้อมูลชนิดเดียวกัน เช่น ตาราง grants เก็บทุนวิจัย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คอลัมน์ (Column) — ฟิลด์ข้อมูล เช่น ชื่อทุน แหล่งทุน กำหนดปิดรับ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 (Row) — ทุน 1 รายการ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Primary Key — รหัสประจำแถวที่ไม่ซ้ำกัน ใช้ระบุว่าจะแก้หรือลบแถวไหน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ชนิดข้อมูล — text, date, uuid บอกว่าคอลัมน์นั้นเก็บอะไรได้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ทุกหน้าจอในระบบเรา เป็นเพียงหน้าตาที่สวยงามของคำสั่งสี่คำนี้เท่านั้น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และชุดเทคโนโลยีของเวิร์กช็อป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760720" cy="3977640"/>
          </a:xfrm>
          <a:prstGeom prst="roundRect">
            <a:avLst>
              <a:gd name="adj" fmla="val 206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คืออะไร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บริการฐานข้อมูลสำเร็จรูปบนคลาวด์ (Backend as a Service)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สร้างตารางเสร็จ ได้ API ใช้ทันที ไม่ต้องเขียนเซิร์ฟเวอร์เอง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86968" y="2798064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86968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07592" y="274320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PostgreSQL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566160" y="27432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ฐานข้อมูลมาตรฐานอุตสาหกรรม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86968" y="3401568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86968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07592" y="334670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API อัตโนมัติ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566160" y="33467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สร้างให้ทันทีจากโครงสร้างตาราง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86968" y="4005072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86968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395020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66160" y="395020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กำหนดสิทธิ์ว่าใครทำอะไรได้บ้าง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86968" y="4608576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86968" y="4608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07592" y="455371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Storage / Auth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3566160" y="45537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มีให้ใช้ แต่ไม่ใช้ในเวิร์กช็อปนี้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647688" y="1371600"/>
            <a:ext cx="4919472" cy="3977640"/>
          </a:xfrm>
          <a:prstGeom prst="roundRect">
            <a:avLst>
              <a:gd name="adj" fmla="val 206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922008" y="1572768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ชุดเทคโนโลยีที่เราจะใช้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922008" y="2103120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710488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+ React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208008" y="2103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สร้างหน้าเว็บ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922008" y="2724912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7104888" y="272491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Tailwind CSS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208008" y="27249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จัดสไตล์ตาม Design System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922008" y="3346704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7104888" y="33467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208008" y="33467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 API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922008" y="3968496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7104888" y="396849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GitHub + Pages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208008" y="39684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เก็บโค้ดและนำขึ้นระบบฟรี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22008" y="4590288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8" name="Text 36"/>
          <p:cNvSpPr/>
          <p:nvPr/>
        </p:nvSpPr>
        <p:spPr>
          <a:xfrm>
            <a:off x="7104888" y="459028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Antigravity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208008" y="45902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Agent ที่เขียนโค้ดให้เรา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เตรียมเครื่องและเปิดโปรเจกต์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79476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ตรวจว่ามี Node.js, Git และ Antigravity IDE แล้ว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2199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21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798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สร้างโฟลเดอร์ fundinghub แล้วเปิดใน Antigravity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7208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43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สร้างไฟล์เปล่าชื่อ SPEC_FundingHub.md ที่รากโปรเจกต์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9242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92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841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เปิดไฟล์ SPEC_BLOCKS.md ที่แจกให้ ไว้อีกหน้าต่างหนึ่ง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97764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6868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913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หาให้เจอ 4 ส่วน : Editor / Agent / Artifacts / Browser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6729984" y="1115568"/>
            <a:ext cx="46908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2788920"/>
            <a:ext cx="4983480" cy="2029968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812280" y="292608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เกณฑ์ผ่าน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12280" y="3310128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ทุกคำสั่งขึ้นเลขเวอร์ชัน ไม่ขึ้น command not found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เปิดโฟลเดอร์ fundinghub ใน Antigravity ได้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มีไฟล์เปล่า SPEC_FundingHub.md รออยู่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การติดตั้งควรทำมาล่วงหน้าก่อนวันอบรม เวลาในห้องมีเพียง 10 นาทีสำหรับตรวจความพร้อม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เครื่องมือที่เราจะใช้สั่งงานตลอดทั้งวัน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Google Antigravity คืออะไร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599"/>
            <a:ext cx="5392554" cy="2555507"/>
          </a:xfrm>
          <a:prstGeom prst="roundRect">
            <a:avLst>
              <a:gd name="adj" fmla="val 461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83910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สภาพแวดล้อมการพัฒนาแบบ agent-first ของ Google เปิดตัวเดือนพฤศจิกายน 2568 พัฒนาต่อจาก VS Code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แนวคิดหลักคือเรามอบหมายงานระดับ “สิ่งที่อยากได้” ให้ AI Agent แทนการพิมพ์โค้ดทุกบรรทัดเอง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ปี 2569 มี Antigravity 2.0 เป็นแอปแยกสำหรับสั่งงาน Agent หลายตัวพร้อมกัน พร้อม CLI และ SDK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4715417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68680" y="4898297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เวิร์กช็อปนี้ใช้ Antigravity IDE ไม่ใช่ Antigravity 2.0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5300633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เพราะผู้เริ่มต้นควรเห็นทั้งไฟล์โค้ด หน้าต่างคำสั่ง และเบราว์เซอร์ทดสอบอยู่ในหน้าจอเดียวกัน จะได้เข้าใจว่า Agent กำลังทำอะไรกับโปรเจกต์ของเรา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ดาวน์โหลด : antigravity.google/download  ·  เอกสาร : antigravity.google/docs  ·  ใช้งานได้ฟรีในช่วง preview</a:t>
            </a:r>
            <a:endParaRPr lang="en-US" sz="1300" dirty="0"/>
          </a:p>
        </p:txBody>
      </p:sp>
      <p:pic>
        <p:nvPicPr>
          <p:cNvPr id="10" name="Picture 9" descr="Google Antigravity Review: Is it a $20 AI Coding Paperweight?">
            <a:extLst>
              <a:ext uri="{FF2B5EF4-FFF2-40B4-BE49-F238E27FC236}">
                <a16:creationId xmlns:a16="http://schemas.microsoft.com/office/drawing/2014/main" id="{BCF92CEF-2D70-0848-2686-43A101ECB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830" y="1371599"/>
            <a:ext cx="5231330" cy="31605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องค์ประกอบสำคัญ 4 ส่วนที่ต้องรู้จัก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เปิดโปรแกรมแล้วให้หาสี่ส่วนนี้ให้เจอก่อน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Editor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หน้าต่างแก้ไขไฟล์โค้ดตามปกติ มีการเติมโค้ดอัตโนมัติด้วยปุ่ม Tab เราใช้ดูว่า Agent เขียนอะไรลงไป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 Manager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ช่องสนทนาสำหรับสั่งงาน และแผงติดตามว่า Agent กำลังทำงานไหนอยู่ สั่งหลายงานพร้อมกันได้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Artifacts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ผลงานระหว่างทางที่ Agent สร้าง เช่น แผนงาน รายการสิ่งที่จะทำ ผลทดสอบ เราสามารถคอมเมนต์แก้ไขได้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เบราว์เซอร์ที่ Agent เปิดและควบคุมเอง เพื่อกดปุ่ม กรอกฟอร์ม และถ่ายภาพหน้าจอมายืนยันว่าใช้งานได้จริง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 คือสิ่งที่ทำให้ Antigravity ต่างจากเครื่องมืออื่น — มันทดสอบงานของตัวเองได้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 กับ Spec-driven Development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สองวิธีสั่งงาน AI ที่ให้ผลลัพธ์ต่างกันมาก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พิมพ์บอกสั้น ๆ ตามความรู้สึก แล้วดูว่า AI ให้อะไรมา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ได้ผลเร็วมากในช่วงแรก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สั่งคำเดิมสองครั้ง ได้ผลไม่เหมือนกัน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เติมฟีเจอร์ที่เราไม่ได้ขอ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แก้จุดหนึ่ง พังอีกจุดหนึ่ง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ไม่มีเกณฑ์บอกว่างานเสร็จหรือยัง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53796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Spec-driven Development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เขียนข้อกำหนดให้ครบก่อน แล้วสั่งงานโดยอ้างหมายเลขหัวข้อ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3796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ผลลัพธ์คงเส้นคงวา ทำซ้ำได้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ไม่สร้างเกินขอบเขตที่เขียนไว้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แก้สเปกที่เดียว งานตามทั้งระบบ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มีเกณฑ์ยอมรับไว้ตรวจว่าผ่านหรือไม่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สั้นลงเหลือ 3–5 บรรทัด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89204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6F5F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วันนี้เราใช้ Spec-driven : เขียน SPEC_FundingHub.md เพียงไฟล์เดียว แล้ว prompt ทุกอันชี้ไปที่หมายเลขหัวข้อในไฟล์นั้น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 Prompt ที่ใช้งานได้จริง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ที่ดีไม่ใช่ prompt ที่ยาว แต่คือ prompt ที่ระบุครบและตรวจสอบได้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13816" y="162763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13816" y="1627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52728" y="14630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งานที่ต้องทำ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36392" y="14630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บอกให้ชัดว่าทำชั้นไหน ขั้นไหน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249424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813816" y="24140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13816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52728" y="22494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บริบทที่ต้องอ่าน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136392" y="224942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ระบุชื่อไฟล์และหมายเลขหัวข้อ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035808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13816" y="320040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13816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52728" y="303580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136392" y="303580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อะไรห้ามแตะ อะไรห้ามเพิ่ม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3822192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813816" y="398678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13816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52728" y="38221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วิธียืนยันผล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136392" y="38221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ให้ทดสอบและถ่ายภาพหน้าจอมาให้ดู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72200" y="14173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prompt จริงที่จะใช้ใน LAB C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72200" y="1810512"/>
            <a:ext cx="539496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318504" y="1901952"/>
            <a:ext cx="510235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ทำชั้น L3 ตาม SPEC_FundingHub.md §11.3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สร้างหน้า /grants ให้ครบตาม §7.2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ใช้เฉพาะ token สีและตัวอักษรใน §4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ทดสอบด้วย Browser แล้วถ่าย screenshot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3840480"/>
            <a:ext cx="5394960" cy="1280160"/>
          </a:xfrm>
          <a:prstGeom prst="roundRect">
            <a:avLst>
              <a:gd name="adj" fmla="val 64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6400800" y="39776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สี่บรรทัดนี้แทนคำอธิบายกว่า 300 บรรทัด เพราะรายละเอียดทั้งหมดอยู่ในไฟล์สเปกแล้ว ไม่ต้องพิมพ์ซ้ำและไม่มีโอกาสพิมพ์ตกหล่น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วางบล็อกแรกของสเปก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 SPEC_BLOCKS.md หาบล็อกที่ 1 (§0 กติกา + §1 ขอบเขต)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1970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19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569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คัดลอกทั้งบล็อก วางลงใน SPEC_FundingHub.md แล้วบันทึก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26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26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386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 prompt ด้านขวาในช่อง Agent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8556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855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155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อ่านคำตอบร่วมกัน — Agent ต้องรู้ขอบเขตแล้ว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83680" y="1024128"/>
            <a:ext cx="498348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729984" y="1115568"/>
            <a:ext cx="46908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อ่านไฟล์ SPEC_FundingHub.md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สรุปเป็นภาษาไทยว่า ระบบนี้มีกี่หน้า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อะไรบ้าง และมีอะไรบ้างที่ห้ามสร้าง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ยังไม่ต้องเขียนโค้ด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0" y="3063240"/>
            <a:ext cx="4983480" cy="1755648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812280" y="320040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คำตอบที่ถูกต้อง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12280" y="3566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 : Dashboard / ทุนวิจัย / เพิ่มทุน / Admin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ห้ามสร้าง AI / LINE / Proposal / Project Tracking / ระบบล็อกอิน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ถ้า Agent ตอบผิดหรือเดา แปลว่ายังไม่ได้อ่านไฟล์จริง ให้ลากไฟล์เข้าไปในช่องแชทแล้วสั่งใหม่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17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แกะโจทย์ให้กลายเป็นสเปก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ขั้นตอนที่สำคัญที่สุดของวันนี้ และเป็นขั้นที่คนข้ามบ่อยที่สุด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โจทย์ตั้งต้น : Funding Hub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ข้อความที่ผู้ใช้เขียนมาให้เรา — สั้น กระชับ แต่ยังสั่ง AI ตรง ๆ ไม่ได้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50392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หน้าเท่านั้น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50392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Dashboard · รายการทุน · เพิ่ม/แก้ไข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7064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483096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KPI 4 ช่อง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6483096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 · ใกล้หมดเขต · ปิดรับแล้ว · ทั้งหมด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50392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ค้นหาและกรอง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850392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ค้นชื่อทุน และกรองตามสถานะ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27064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6483096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 7 ช่อง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483096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ชื่อทุน แหล่งทุน Theme Deadline URL หมายเหตุ สถานะ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850392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50392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Supabase ชื่อโปรเจกต์ fundinghub พร้อม CRUD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27064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6483096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ข้อมูลตัวอย่าง 3 รายการ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6483096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TREE Fund · Belmont Forum CRA · ASEA-UNINET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94360" y="4370832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8680" y="44805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ประโยคที่มีค่าที่สุดในโจทย์ทั้งหมด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68680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“ไม่ต้องสร้าง AI, LINE, Proposal, Project Tracking หรือระบบซับซ้อนอื่น” — สิ่งที่ทำให้ AI สร้างงานเกินจริงมากที่สุด คือการไม่บอกว่าอะไรที่ไม่ต้องทำ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แกะทีละประโยค แล้วจัดลงหัวข้อของสเปก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ทุกประโยคในโจทย์ต้องมีบ้านของมันในไฟล์ SPEC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38988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ประโยคในโจทย์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78040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จัดเป็น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12680" y="138988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ลงหัวข้อ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1755648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914400" y="1755648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“มีเพียง 4 หน้า”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178040" y="175564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ขอบเขต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0126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§1.3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231136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914400" y="2231136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“แสดง KPI 4 ช่อง”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178040" y="223113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ฟีเจอร์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012680" y="223113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§7.1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2706624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914400" y="2706624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“มี Search และ Filter ตามสถานะ”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178040" y="270662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ฟีเจอร์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0012680" y="270662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§7.2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3182112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914400" y="3182112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“ชื่อทุน แหล่งทุน Theme Deadline URL หมายเหตุ สถานะ”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178040" y="318211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โครงสร้างข้อมูล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012680" y="318211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3657600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914400" y="3657600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“สถานะ : เปิดรับ / ใกล้หมดเขต / ปิดรับแล้ว”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7178040" y="36576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กติกาทางธุรกิจ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0012680" y="365760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§8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7240" y="4133088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914400" y="4133088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“ใช้ Supabase / project name : fundinghub”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7178040" y="41330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เทคโนโลยี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10012680" y="41330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§5.1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" y="4608576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914400" y="4608576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“Demo Data 3 รายการ”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178040" y="4608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ข้อมูลทดสอบ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10012680" y="46085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§5.5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77240" y="5084064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7" name="Text 35"/>
          <p:cNvSpPr/>
          <p:nvPr/>
        </p:nvSpPr>
        <p:spPr>
          <a:xfrm>
            <a:off x="914400" y="5084064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“UI ภาษาไทย Minimal Clean Responsive”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7178040" y="50840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การออกแบบ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10012680" y="508406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77240" y="5559552"/>
            <a:ext cx="10607040" cy="420624"/>
          </a:xfrm>
          <a:prstGeom prst="roundRect">
            <a:avLst>
              <a:gd name="adj" fmla="val 1087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1" name="Text 39"/>
          <p:cNvSpPr/>
          <p:nvPr/>
        </p:nvSpPr>
        <p:spPr>
          <a:xfrm>
            <a:off x="914400" y="5559552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“ไม่ต้องสร้าง AI, LINE, Proposal, Project Tracking”</a:t>
            </a:r>
            <a:endParaRPr lang="en-US" sz="1550" dirty="0"/>
          </a:p>
        </p:txBody>
      </p:sp>
      <p:sp>
        <p:nvSpPr>
          <p:cNvPr id="42" name="Text 40"/>
          <p:cNvSpPr/>
          <p:nvPr/>
        </p:nvSpPr>
        <p:spPr>
          <a:xfrm>
            <a:off x="7178040" y="5559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นอกขอบเขต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10012680" y="555955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§1.4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ผลลัพธ์ของขั้นตอนนี้คือไฟล์ SPEC_FundingHub.md ที่มีหมายเลขหัวข้อกำกับทุกส่วน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ออกแบบตารางข้อมูล : ตาราง grants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 7 ช่องในโจทย์ กลายเป็นคอลัมน์ในฐานข้อมูล บวกคอลัมน์ระบบอีก 3 คอลัมน์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6858000" cy="37033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517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คอลัมน์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880360" y="1517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ชนิดข้อมูล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0" y="1517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ความหมาย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847088"/>
            <a:ext cx="6492240" cy="292608"/>
          </a:xfrm>
          <a:prstGeom prst="rect">
            <a:avLst/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84708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880360" y="184708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uuid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18470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รหัสประจำทุน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215798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880360" y="21579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0" y="21579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ชื่อทุน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2468880"/>
            <a:ext cx="6492240" cy="292608"/>
          </a:xfrm>
          <a:prstGeom prst="rect">
            <a:avLst/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68680" y="24688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funder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80360" y="246888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0" y="2468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แหล่งทุน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68680" y="277977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880360" y="27797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0" y="27797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Theme / สาขา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77240" y="3090672"/>
            <a:ext cx="6492240" cy="292608"/>
          </a:xfrm>
          <a:prstGeom prst="rect">
            <a:avLst/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8680" y="309067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deadline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880360" y="30906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0" y="30906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กำหนดปิดรับ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8680" y="34015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880360" y="34015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0" y="34015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ลิงก์ประกาศ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77240" y="3712464"/>
            <a:ext cx="6492240" cy="292608"/>
          </a:xfrm>
          <a:prstGeom prst="rect">
            <a:avLst/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68680" y="37124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880360" y="37124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0" y="37124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หมายเหตุ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68680" y="40233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880360" y="40233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0" y="40233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สถานะ 3 ค่า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77240" y="4334256"/>
            <a:ext cx="6492240" cy="292608"/>
          </a:xfrm>
          <a:prstGeom prst="rect">
            <a:avLst/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8" name="Text 36"/>
          <p:cNvSpPr/>
          <p:nvPr/>
        </p:nvSpPr>
        <p:spPr>
          <a:xfrm>
            <a:off x="868680" y="43342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880360" y="43342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timestamptz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72000" y="4334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เวลาสร้าง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68680" y="464515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updated_at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880360" y="46451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timestamptz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0" y="4645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เวลาแก้ไข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680960" y="1371600"/>
            <a:ext cx="3886200" cy="1737360"/>
          </a:xfrm>
          <a:prstGeom prst="roundRect">
            <a:avLst>
              <a:gd name="adj" fmla="val 4737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45" name="Text 43"/>
          <p:cNvSpPr/>
          <p:nvPr/>
        </p:nvSpPr>
        <p:spPr>
          <a:xfrm>
            <a:off x="7909560" y="1481328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สถานะ 3 ค่า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7909560" y="184708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7" name="Text 45"/>
          <p:cNvSpPr/>
          <p:nvPr/>
        </p:nvSpPr>
        <p:spPr>
          <a:xfrm>
            <a:off x="7909560" y="184708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9464040" y="184708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4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09560" y="224942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0" name="Text 48"/>
          <p:cNvSpPr/>
          <p:nvPr/>
        </p:nvSpPr>
        <p:spPr>
          <a:xfrm>
            <a:off x="7909560" y="224942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ใกล้หมดเขต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464040" y="22494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4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closing_soon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909560" y="265176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3" name="Text 51"/>
          <p:cNvSpPr/>
          <p:nvPr/>
        </p:nvSpPr>
        <p:spPr>
          <a:xfrm>
            <a:off x="7909560" y="26517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46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ปิดรับแล้ว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464040" y="26517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4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680960" y="3291840"/>
            <a:ext cx="3886200" cy="1783080"/>
          </a:xfrm>
          <a:prstGeom prst="roundRect">
            <a:avLst>
              <a:gd name="adj" fmla="val 461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6" name="Text 54"/>
          <p:cNvSpPr/>
          <p:nvPr/>
        </p:nvSpPr>
        <p:spPr>
          <a:xfrm>
            <a:off x="7909560" y="3419856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กติกาเรื่องวันที่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7909560" y="376732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ฐานข้อมูลเก็บเป็น ค.ศ. เสมอ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หน้าจอแสดงเป็น พ.ศ. เสมอ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 กันยายน 2569 → 2026-09-01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แปลงด้วย Intl ของเบราว์เซอร์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เกณฑ์ยอมรับ : บอก AI ว่างานแบบไหนเรียกว่าเสร็จ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เขียนด้วยรูปแบบ Given – When – Then เพื่อให้ทดสอบซ้ำได้ทุกครั้ง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Given  สถานการณ์ตั้งต้น   →   When  ผู้ใช้ทำอะไร   →   Then  ระบบต้องแสดงผลอย่างไร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4360" y="2267712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22677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AC-01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2267712"/>
            <a:ext cx="9464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มีข้อมูล 3 รายการ · เปิดหน้าแรก · KPI ต้องแสดง เปิดรับ 2 ใกล้หมดเขต 1 ปิดรับแล้ว 0 ทั้งหมด 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2926080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50392" y="292608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AC-04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2926080"/>
            <a:ext cx="9464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อยู่หน้าเพิ่มทุน · กดบันทึกโดยไม่กรอกชื่อทุน · ต้องขึ้นข้อความ กรุณากรอกชื่อทุน และไม่บันทึกลงฐานข้อมูล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3584448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50392" y="3584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AC-08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3584448"/>
            <a:ext cx="9464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ทุนมีกำหนดปิดรับ 2026-09-01 · แสดงผลบนหน้าจอ · ต้องเห็นเป็น 1 กันยายน 2569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4242816"/>
            <a:ext cx="1097280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424281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AC-11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28800" y="4242816"/>
            <a:ext cx="9464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ค้นคำว่า service_role ทั้งโปรเจกต์ · ต้องไม่พบเลย และ .env.local ต้องไม่ถูก commit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5029200"/>
            <a:ext cx="5303520" cy="868680"/>
          </a:xfrm>
          <a:prstGeom prst="roundRect">
            <a:avLst>
              <a:gd name="adj" fmla="val 9474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32104" y="5120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เขียนแบบนี้ตรวจไม่ได้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" y="5394960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ระบบต้องใช้งานง่ายและสวยงาม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63640" y="5029200"/>
            <a:ext cx="5303520" cy="868680"/>
          </a:xfrm>
          <a:prstGeom prst="roundRect">
            <a:avLst>
              <a:gd name="adj" fmla="val 947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6501384" y="5120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เขียนแบบนี้ตรวจได้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01384" y="5394960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กดล้างตัวกรองแล้วช่องค้นหาต้องว่าง และตัวกรองกลับเป็น ทั้งหมด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ประกอบสเปก ตอนที่ 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61188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วางบล็อกที่ 2 — §2 ผู้ใช้ และ §3 โครงหน้าจอ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1854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21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วางบล็อกที่ 5 — §6 ชั้นข้อมูล และ §7 สเปกราย 4 หน้า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73405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734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6700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วางบล็อกที่ 6 — §8 กติกา · §9 error · §10 เกณฑ์ยอมรับ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28269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282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2186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เพิ่มเกณฑ์ยอมรับของตัวเองอีก 1 ข้อ ใน §10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8313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6868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7673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prompt ด้านขวาให้ Agent ตรวจสเปกที่ประกอบเสร็จ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2148840"/>
          </a:xfrm>
          <a:prstGeom prst="roundRect">
            <a:avLst>
              <a:gd name="adj" fmla="val 2979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6729984" y="1115568"/>
            <a:ext cx="46908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ตรวจ SPEC_FundingHub.md ในฐานะ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Reviewer หาจุดที่กำกวม ขัดแย้ง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หรือทดสอบไม่ได้ ใน §1 ถึง §10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รายงานเป็นตารางภาษาไทย: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หัวข้อ | ปัญหา | ข้อเสนอแนะ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ห้ามแก้ไฟล์ ให้รายงานอย่างเดียว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3337560"/>
            <a:ext cx="498348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812280" y="3456432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สังเกตคำว่า “ห้ามแก้ไฟล์”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812280" y="378561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การกำหนดขอบเขตให้ Agent ว่าห้ามทำอะไร สำคัญพอ ๆ กับการบอกว่าให้ทำอะไร มิฉะนั้นมันจะแก้ไฟล์ให้เราโดยไม่ถาม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B ตอนที่ 1  ·  งานของขั้นนี้คือ “เอกสาร” ไม่ใช่ “โค้ด” — ยังไม่ต้องรีบสร้างแอป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23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ก่อนสั่ง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กำหนดสไตล์ สี และฟอนต์ด้วยตัวเอง เพื่อไม่ให้งานของทุกคนหน้าตาเหมือนกัน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ทำไมต้องกำหนด Design System ก่อน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ถ้าไม่กำหนด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เลือกสีน้ำเงินและฟอนต์สากลให้ทุกครั้ง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งานของผู้เข้าอบรมทุกคนหน้าตาเหมือนกันหมด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สั่งแก้หน้าหนึ่ง สีเพี้ยนไปอีกหน้าหนึ่ง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ภาษาไทยแสดงผลเพี้ยนเพราะฟอนต์ไม่รองรับ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CCFBF1"/>
          </a:solidFill>
          <a:ln w="9525">
            <a:solidFill>
              <a:srgbClr val="CCFBF1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ถ้ากำหนดไว้ใน §4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ทุกหน้าใช้สีและฟอนต์ชุดเดียวกันโดยอัตโนมัติ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เปลี่ยนสีทั้งระบบด้วยการแก้ไฟล์สเปกที่เดียว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งานออกมาเป็นเอกลักษณ์ของเราเอง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ภาษาไทยอ่านง่าย เพราะเลือกฟอนต์ที่รองรับ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393192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สามสิ่งที่ต้องเลือกใน LAB 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9436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85039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5039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8074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8074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uistyleguide.com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55371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55371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8406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08406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colorhunt.co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0100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825703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825703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78738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ฟอนต์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78738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fonts.google.com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เลือกสไตล์การออกแบบ : uistyleguide.com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เว็บรวมสไตล์ UI กว่า 67 แบบ พร้อมตัวอย่างที่กดเล่นได้จริงและคำแนะนำการใช้ CSS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48132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Minimalism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08960" y="148132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อ่านข้อมูลง่าย เหมาะกับงานวิชาการและราชการ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78040" y="162763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7178040" y="162763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แนะนำ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221284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Flat Design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08960" y="221284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เรียบ ทำเร็ว รองรับหลายขนาดจอได้ดี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178040" y="235915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E8F6F7"/>
          </a:solidFill>
          <a:ln w="12700">
            <a:solidFill>
              <a:srgbClr val="E8F6F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7178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294436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94436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Soft UI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08960" y="294436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นุ่มนวลสบายตา แต่ต้องระวังความคมชัดของตัวอักษร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7178040" y="309067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7178040" y="30906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ระวัง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94360" y="367588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367588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Glassmorphism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108960" y="36758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สวยแต่ทำให้อ่านตัวเลข KPI ยาก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178040" y="382219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178040" y="382219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ไม่แนะนำ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503920" y="1481328"/>
            <a:ext cx="3063240" cy="2980944"/>
          </a:xfrm>
          <a:prstGeom prst="roundRect">
            <a:avLst>
              <a:gd name="adj" fmla="val 276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73252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วิธีจดสไตล์ลงสเปก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732520" y="195681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เขียนหลักการที่ “มองเห็นได้จริง” 3–5 ข้อ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732520" y="2340864"/>
            <a:ext cx="2560320" cy="777240"/>
          </a:xfrm>
          <a:prstGeom prst="roundRect">
            <a:avLst>
              <a:gd name="adj" fmla="val 823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8915400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อย่าเขียนว่า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“ทำให้ดูโมเดิร์น”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732520" y="3218688"/>
            <a:ext cx="2560320" cy="1097280"/>
          </a:xfrm>
          <a:prstGeom prst="roundRect">
            <a:avLst>
              <a:gd name="adj" fmla="val 58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91540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ให้เขียนว่า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“การ์ดพื้นขาว มุมมน 12px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เงาอ่อน ไม่มีเส้นขอบหนา”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เลือกเพียงหนึ่งสไตล์ แล้วยึดให้ตลอดทั้งระบบ — การผสมหลายสไตล์คือสาเหตุอันดับหนึ่งที่ทำให้งานดูไม่เป็นมืออาชีพ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เลือกจานสี : colorhunt.co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เลือกชุดสี 4 สีที่ผ่านการจับคู่มาแล้ว แทนการเดาสีเอง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จานสีที่เวิร์กช็อปนี้ใช้เป็นค่าเริ่มต้น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222831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94360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#222831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393E46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2039112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#393E46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83864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00ADB5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483864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#00ADB5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928616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EEEEEE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928616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#EEEEEE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จับคู่สีเข้ากับหน้าที่ ด้วยหลัก 60 – 30 – 10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94360" y="3401568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13816" y="340156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สีอ่อนที่สุด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606040" y="340156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พื้นหลังหน้าเว็บ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532120" y="340156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968496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13816" y="39684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สีเข้มที่สุด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606040" y="39684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ตัวอักษรและแถบเมนู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532120" y="396849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535424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13816" y="453542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สีที่สดที่สุด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2606040" y="453542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ปุ่มหลักและจุดเน้นเท่านั้น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32120" y="453542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0" y="1371600"/>
            <a:ext cx="4983480" cy="1691640"/>
          </a:xfrm>
          <a:prstGeom prst="roundRect">
            <a:avLst>
              <a:gd name="adj" fmla="val 486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6812280" y="14996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ตรวจความคมชัดเสมอ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12280" y="184708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สีตัวอักษรกับสีพื้นหลังต้องมีอัตราส่วนความคมชัดอย่างน้อย 4.5 : 1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ตรวจได้ที่ webaim.org/resources/contrastchecker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6583680" y="3200400"/>
            <a:ext cx="4983480" cy="213969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6812280" y="33284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สีสถานะ — ไม่ต้องเปลี่ยน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58000" y="37124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6858000" y="37124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858000" y="41696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6858000" y="41696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ใกล้หมดเขต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858000" y="46268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7" name="Text 35"/>
          <p:cNvSpPr/>
          <p:nvPr/>
        </p:nvSpPr>
        <p:spPr>
          <a:xfrm>
            <a:off x="6858000" y="46268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46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ปิดรับแล้ว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49640" y="3712464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เขียว – เหลือง – เทา เป็นสีสื่อความหมายที่คนทั่วโลกเข้าใจตรงกัน การเปลี่ยนจะทำให้ผู้ใช้สับสน</a:t>
            </a:r>
            <a:endParaRPr lang="en-US" sz="14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เลือกฟอนต์ : Google Fonts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สำคัญมาก — ต้องกรอง Language = Thai เท่านั้น มิฉะนั้นสระและวรรณยุกต์จะแสดงผลเพี้ยน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50392" y="148132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Sarabun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0" y="148132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ทางการ อ่านง่าย เป็นกลาง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72200" y="148132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เอกสารวิชาการและราชการ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94360" y="2084832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50392" y="20848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IBM Plex Sans Thai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00400" y="208483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สมัยใหม่ ตัวเลขคมชัด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172200" y="208483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ระบบข้อมูลและแดชบอร์ด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688336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50392" y="26883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Noto Sans Thai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200400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กลาง ๆ ปลอดภัย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72200" y="268833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ใช้ได้กับทุกงาน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94360" y="3291840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850392" y="32918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200400" y="329184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โมเดิร์น เรขาคณิต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172200" y="32918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เว็บองค์กรและงาน ปชส.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94360" y="3895344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50392" y="3895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Kanit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200400" y="38953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หนักแน่น เด่นชัด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172200" y="3895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หัวข้อใหญ่ ไม่เหมาะเนื้อหายาว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8321040" y="1481328"/>
            <a:ext cx="3246120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54964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กฎการใช้ฟอนต์ไทย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549640" y="201168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85496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970264" y="197510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โหลดแค่ 2–3 น้ำหนัก (400 / 600 / 700) โหลดหมดทำให้เว็บช้า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549640" y="283464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54964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970264" y="279806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line-height อย่างน้อย 1.6 เพราะภาษาไทยมีสระบนและล่าง ถ้าบรรทัดชิดจะชนกัน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549640" y="365760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/>
          <p:nvPr/>
        </p:nvSpPr>
        <p:spPr>
          <a:xfrm>
            <a:off x="854964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970264" y="3621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ห้ามใช้ text-transform uppercase เพราะภาษาไทยไม่มีตัวพิมพ์ใหญ่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ค้นได้ที่ fonts.google.com/?subset=thai  ·  สเปกของเราตั้งค่าเริ่มต้นไว้ที่ Sarabun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28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ประกอบสเปก ตอนที่ 2 — ดีไซน์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วางบล็อกที่ 3 — §4 Design System ลงในไฟล์สเปก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17627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1226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 1 สไตล์จาก uistyleguide.com แล้วแก้ §4.1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715768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6517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เลือกจานสีจาก colorhunt.co แล้วแก้ §4.2 ตามหลัก 60-30-10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25526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19125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เลือกฟอนต์ไทยจาก Google Fonts แล้วแก้ §4.3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79476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6868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7307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prompt ด้านขวาดูตัวอย่างจริงก่อนสร้างแอป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2514600"/>
          </a:xfrm>
          <a:prstGeom prst="roundRect">
            <a:avLst>
              <a:gd name="adj" fmla="val 254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6729984" y="1115568"/>
            <a:ext cx="46908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อ่าน SPEC_FundingHub.md §4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สร้าง preview/style-preview.html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ไฟล์เดียวจบ แสดงจานสีทุก token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สเกลตัวอักษร ปุ่ม 3 แบบ input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StatusBadge และ KpiCard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ใช้ข้อความภาษาไทยจริง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เปิดด้วย Browser ถ่าย screenshot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3703320"/>
            <a:ext cx="498348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812280" y="380390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ทำไมต้องทำ preview ก่อน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812280" y="4114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เห็นสีและฟอนต์จริงก่อนสร้างทั้งระบบ ถ้าไม่ชอบ แก้ที่สเปกแล้วสั่งใหม่ ใช้เวลาไม่ถึงนาที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B ตอนที่ 2  ·  ถ้าเวลาไม่พอ ใช้ค่าเริ่มต้นในบล็อกที่ 3 ไปก่อนได้ แล้วกลับมาแก้ทีหลังที่เดียว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29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ฐานข้อมูลและการสร้างแอป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จากสเปกบนกระดาษ สู่ระบบที่ใช้งานได้จริง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สร้างฐานข้อมูลด้วย Supabase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สามขั้นตอน ใช้เวลารวมไม่เกิน 15 นาที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32104" y="1618488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32104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14904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สร้างโปรเจกต์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4168" y="181965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ตั้งชื่อ fundinghub เลือก region Singapore และตั้งรหัสผ่านฐานข้อมูลเอง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350008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832104" y="2551176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32104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44168" y="24231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SQL สร้างตาราง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4168" y="27523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คัดลอกคำสั่งจาก §5.3 ทั้งบล็อก ครอบคลุมตาราง ดัชนี trigger และ RLS policy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282696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32104" y="3483864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32104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4168" y="33558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ใส่ข้อมูลตัวอย่างและคัดลอกกุญแจ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44168" y="368503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INSERT จาก §5.5 แล้วคัดลอก Project URL กับ anon key มาไว้ใน .env.local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4261104"/>
            <a:ext cx="6858000" cy="1143000"/>
          </a:xfrm>
          <a:prstGeom prst="roundRect">
            <a:avLst>
              <a:gd name="adj" fmla="val 72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438912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— Row Level Security คืออะไร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" y="4718304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กติกาในฐานข้อมูลที่กำหนดว่า “ใครทำอะไรกับแถวไหนได้บ้าง” เวิร์กช็อปนี้เปิดสิทธิ์ให้ทุกคนเพื่อความง่าย แต่ระบบใช้งานจริงต้องผูกกับผู้ใช้ที่ล็อกอิน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680960" y="1417320"/>
            <a:ext cx="3886200" cy="3986784"/>
          </a:xfrm>
          <a:prstGeom prst="roundRect">
            <a:avLst>
              <a:gd name="adj" fmla="val 235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909560" y="160020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กฎเหล็กเรื่องความลับ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909560" y="201168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ใช้ได้เฉพาะ anon key เท่านั้น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service_role key ห้ามปรากฏในฝั่งหน้าเว็บเด็ดขาด เพราะข้าม RLS ได้ทั้งหมด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รหัสผ่านฐานข้อมูลห้ามเขียนลงไฟล์ใด ๆ ในโปรเจกต์ และห้ามส่งให้ AI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 .env.local ไว้ใน .gitignore เสมอ ก่อน push ให้รัน git status ตรวจซ้ำ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7909560" y="4480560"/>
            <a:ext cx="338328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8092440" y="453542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สังเกตว่าโจทย์ต้นฉบับมีบรรทัด password: xxx — นี่คือตัวอย่างของสิ่งที่ไม่ควรเขียนไว้ในเอกสารที่แชร์กัน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ประกอบสเปก ตอนที่ 3 — ฐานข้อมูล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38328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วางบล็อกที่ 4 (§5) และบล็อกที่ 7 (§11 §12) — สเปกครบแล้ว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13969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0756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สร้างโปรเจกต์ Supabase ชื่อ fundinghub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6426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642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5786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 SQL จาก §5.3 แล้ว §5.5 ไปรันใน SQL Editor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1455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145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0815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 .env.local และ .gitignore ตามด้านขวา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64845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68680" y="3648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5844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ไล่เช็กลิสต์ท้าย SPEC_BLOCKS.md ว่ามี §0 ถึง §12 ครบ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1371600"/>
          </a:xfrm>
          <a:prstGeom prst="roundRect">
            <a:avLst>
              <a:gd name="adj" fmla="val 4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6729984" y="1115568"/>
            <a:ext cx="4690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.env.local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VITE_SUPABASE_URL=...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VITE_SUPABASE_ANON_KEY=...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0" y="2542032"/>
            <a:ext cx="4983480" cy="1188720"/>
          </a:xfrm>
          <a:prstGeom prst="roundRect">
            <a:avLst>
              <a:gd name="adj" fmla="val 538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729984" y="2633472"/>
            <a:ext cx="4690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.env.local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node_modules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83680" y="3895344"/>
            <a:ext cx="498348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6812280" y="400507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เกณฑ์ผ่าน : สเปกมี §0 ถึง §12 ครบ · ตาราง grants มี 10 คอลัมน์ และมีข้อมูล 3 แถว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B ตอนที่ 3  ·  จบขั้นนี้ ไฟล์สเปกพร้อมโยนให้ Antigravity ทำงานแล้ว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กลยุทธ์สั่งงาน : แบ่งเป็นชั้น ไม่สั่งรวดเดียว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หกคำสั่ง หกชั้น ตรวจผลทุกชั้นก่อนไปต่อ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795528" y="1572768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795528" y="157276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508760" y="146304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โครงโปรเจกต์ + Design System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เว็บเปิดได้ มีเมนู 4 รายการ หน้ายังว่าง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084832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795528" y="2194560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795528" y="2194560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508760" y="208483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เชื่อมต่อ Supabase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892040" y="20848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 /grants ดึงข้อมูลจริงมาแสดงได้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2706624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795528" y="2816352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795528" y="281635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508760" y="270662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หน้ารายการทุนเต็มรูปแบบ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892040" y="27066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การ์ด ค้นหา ตัวกรอง ทำงานครบ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3328416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795528" y="3438144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795528" y="3438144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L4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508760" y="3328416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ฟอร์มเพิ่มและแก้ไข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4892040" y="332841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บันทึกลงฐานข้อมูลจริงได้ พร้อม validation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94360" y="3950208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795528" y="4059936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795528" y="4059936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L5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508760" y="395020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แดชบอร์ด KPI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4892040" y="395020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ตัวเลข 4 ช่องมาจากฐานข้อมูลจริง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94360" y="4572000"/>
            <a:ext cx="786384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795528" y="4681728"/>
            <a:ext cx="566928" cy="310896"/>
          </a:xfrm>
          <a:prstGeom prst="roundRect">
            <a:avLst>
              <a:gd name="adj" fmla="val 20588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795528" y="4681728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508760" y="457200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 Admin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4892040" y="457200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ลบได้ พร้อมกล่องยืนยันก่อนลบ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686800" y="1463040"/>
            <a:ext cx="2880360" cy="3602736"/>
          </a:xfrm>
          <a:prstGeom prst="roundRect">
            <a:avLst>
              <a:gd name="adj" fmla="val 317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8915400" y="1645920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กฎเหล็กของ LAB C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8915400" y="202996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สั่งทีละคำสั่งเท่านั้น</a:t>
            </a:r>
            <a:endParaRPr lang="en-US" sz="1650" dirty="0"/>
          </a:p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ห้ามวางรวดเดียวทั้งหกอัน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8915400" y="278892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เหตุผล : ถ้าสั่งรวดเดียวแล้วผลลัพธ์ผิด คุณจะไม่รู้ว่าผิดที่ชั้นไหน และการไล่แก้จะใช้เวลานานกว่าการทำทีละชั้นหลายเท่า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ต้องเห็นผลของชั้นก่อนหน้าทำงานได้จริง จึงค่อยสั่งชั้นถัดไป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ตรวจงานของ Agent และเขียน Prompt แก้บั๊ก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394960" cy="2148840"/>
          </a:xfrm>
          <a:prstGeom prst="roundRect">
            <a:avLst>
              <a:gd name="adj" fmla="val 383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179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 Agent ตรวจงานตัวเอง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สั่งให้เปิด Browser Subagent ทดสอบจริง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 screenshot ทุกหน้าที่แก้ไข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ให้รายงานว่าเกณฑ์ยอมรับข้อไหนผ่านแล้ว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อย่าเชื่อคำว่า “เสร็จแล้ว” โดยไม่เห็นภาพ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94360" y="370332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68680" y="38404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สิ่งที่ผู้เรียนต้องตรวจเอง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42062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เมนูยังมี 4 รายการเท่าเดิมหรือไม่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มีฟีเจอร์นอกขอบเขตงอกขึ้นมาไหม</a:t>
            </a:r>
            <a:endParaRPr lang="en-US" sz="15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สีและฟอนต์ตรงกับ §4 หรือเปล่า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217920" y="1371600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 Prompt แก้บั๊ก 4 บรรทัด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1773936"/>
            <a:ext cx="5349240" cy="2286000"/>
          </a:xfrm>
          <a:prstGeom prst="roundRect">
            <a:avLst>
              <a:gd name="adj" fmla="val 28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364224" y="1865376"/>
            <a:ext cx="50566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[อาการ]    กดปุ่มบันทึกแล้วไม่มีอะไรเกิดขึ้น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[คาดหวัง]  ตาม §10 AC-05 ต้องบันทึกแล้ว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เด้งกลับ /grants พร้อม Toast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[หลักฐาน]  Console: new row violates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row-level security policy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[ขอบเขต]   แก้เฉพาะจุดนี้ ห้ามแก้ไฟล์อื่น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4224528"/>
            <a:ext cx="534924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6446520" y="4334256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อย่าพิมพ์แค่ “มันพัง” หรือ “แก้ให้หน่อย” — Agent ต้องรู้ทั้งอาการ ผลที่คาดหวัง หลักฐาน และขอบเขตที่อนุญาตให้แตะ</a:t>
            </a:r>
            <a:endParaRPr lang="en-US" sz="15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 Antigravity สร้างแอป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79476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P1 โครงโปรเจกต์ + Design System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12445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124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0604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P2 เชื่อม Supabase  →  เห็นข้อมูล 3 รายการ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6121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612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548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P3 หน้ารายการทุน  →  AC-02, AC-03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0998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099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0358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P4 ฟอร์มเพิ่ม / แก้ไข  →  AC-04, AC-05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58749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68680" y="3587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52348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P5 แดชบอร์ด KPI  →  AC-01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68680" y="40751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868680" y="4075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07592" y="4011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P6 หน้า Admin  →  AC-07  (ถ้าเวลาไม่พอ ทำต่อที่บ้าน)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83680" y="102412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คำสั่งทั้งหกอยู่ในเอกสารแล็บ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583680" y="1408176"/>
            <a:ext cx="4983480" cy="1691640"/>
          </a:xfrm>
          <a:prstGeom prst="roundRect">
            <a:avLst>
              <a:gd name="adj" fmla="val 3784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6729984" y="1499616"/>
            <a:ext cx="46908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ทำชั้น L3 ตาม SPEC_FundingHub.md §11.3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สร้างหน้า /grants ให้ครบตาม §7.2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ใช้เฉพาะ token สีและตัวอักษรใน §4</a:t>
            </a:r>
            <a:endParaRPr lang="en-US" sz="11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ทดสอบด้วย Browser แล้วถ่าย screenshot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83680" y="3273552"/>
            <a:ext cx="4983480" cy="1554480"/>
          </a:xfrm>
          <a:prstGeom prst="roundRect">
            <a:avLst>
              <a:gd name="adj" fmla="val 5882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6812280" y="340156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สั่งทีละอัน รอผลก่อน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812280" y="374904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ถ้าชั้นไหนไม่ผ่าน ให้ใช้โครง prompt แก้บั๊ก 4 บรรทัด แก้ให้จบก่อน แล้วจึงสั่งชั้นถัดไป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C ตอนที่ 1  ·  คัดลอกคำสั่ง P1 ถึง P6 จากกล่องโค้ดในเอกสารได้โดยตรง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ทดสอบและนำขึ้นระบบ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งานยังไม่เสร็จจนกว่าคนอื่นจะเปิดใช้ได้จากลิงก์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5577840" cy="3931920"/>
          </a:xfrm>
          <a:prstGeom prst="roundRect">
            <a:avLst>
              <a:gd name="adj" fmla="val 209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572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ระดับ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68680" y="202996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6868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62456" y="20116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ตามเกณฑ์ยอมรับ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62456" y="2359152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ไล่ AC-01 ถึง AC-12 ใน §10 ทีละข้อ ให้ Agent รายงานเป็นตารางว่าผ่านหรือไม่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" y="308152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68680" y="3081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62456" y="30632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ตามขนาดหน้าจอ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62456" y="3410712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ทดสอบที่ 375px 768px และ 1440px ต้องไม่มีข้อความล้นกรอบ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68680" y="413308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4133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62456" y="41148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ตามความปลอดภัย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62456" y="4462272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ค้นคำว่า service_role ต้องไม่พบ และ git status ต้องไม่มี .env.local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1417320"/>
            <a:ext cx="5166360" cy="3931920"/>
          </a:xfrm>
          <a:prstGeom prst="roundRect">
            <a:avLst>
              <a:gd name="adj" fmla="val 2093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6675120" y="1572768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นำขึ้น GitHub Pages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675120" y="1993392"/>
            <a:ext cx="4617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903720" y="2048256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base ใน vite.config.js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03720" y="23408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base: '/fundinghub/' ต้องตรงกับชื่อ repository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675120" y="2798064"/>
            <a:ext cx="4617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6903720" y="2852928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HashRouter เท่านั้น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903720" y="314553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GitHub Pages ไม่รองรับการเปลี่ยนหน้าแบบ path routing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75120" y="3602736"/>
            <a:ext cx="4617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6903720" y="3657600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เก็บกุญแจใน Actions Secrets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03720" y="395020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อย่าใส่ค่าลงไฟล์ workflow โดยตรง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675120" y="4407408"/>
            <a:ext cx="461772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6903720" y="4462272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Pages Source เป็น GitHub Actions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903720" y="475488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แล้วรอ workflow ขึ้นสีเขียว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ทดสอบและ Deploy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 Agent ทดสอบตาม §10 ทุกข้อ แล้วแก้ข้อที่ไม่ผ่าน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1970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19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569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ขนาดหน้าจอ แล้วดู screenshot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26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26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386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push ขึ้น GitHub (ตรวจ git status ก่อนเสมอ)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8556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855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155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ตั้งค่า Secrets และ Pages แล้วเปิดเว็บจาก URL จริง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83680" y="1024128"/>
            <a:ext cx="498348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729984" y="1115568"/>
            <a:ext cx="46908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"Funding Hub"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add origin &lt;repo-url&gt;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main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0" y="3063240"/>
            <a:ext cx="4983480" cy="1755648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812280" y="320040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ผลลัพธ์สุดท้าย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12280" y="3566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เว็บที่เปิดได้จาก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https://&lt;username&gt;.github.io/fundinghub/</a:t>
            </a:r>
            <a:endParaRPr lang="en-US" sz="1550" dirty="0"/>
          </a:p>
          <a:p>
            <a:pPr marL="0" indent="0">
              <a:buNone/>
            </a:pP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ส่งลิงก์ให้เพื่อนในห้องลองใช้จริง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C ตอนที่ 2  ·  เช็กลิสต์สุดท้ายอยู่ที่ §12 นิยามของคำว่าเสร็จ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ข้อจำกัดของ AI และความรับผิดชอบของเรา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สิ่งที่ต้องจำให้ขึ้นใจเมื่อกลับไปทำงานจริง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ไม่รู้ว่าอะไรถูก ถ้าเราไม่บอก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80744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มันทำตามสิ่งที่เขียนไว้ ไม่ใช่สิ่งที่เราคิดในใจ ความคลุมเครือทุกจุดจะกลายเป็นการเดา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โค้ดที่ได้ยังเป็นความรับผิดชอบของเรา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13448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ต้องอ่าน ต้องทดสอบ ต้องเข้าใจก่อนนำไปใช้จริง โดยเฉพาะระบบที่มีข้อมูลของคนอื่น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ความลับห้ามอยู่ในโค้ด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80744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กุญแจ รหัสผ่าน และข้อมูลส่วนบุคคล ต้องอยู่นอกโปรเจกต์เสมอ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ระบบจริงต้องมีสิทธิ์ผู้ใช้จริง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13448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แบบเปิดทุกสิทธิ์ใช้ได้เฉพาะการฝึกอบรม ระบบที่มีข้อมูลจริงต้องผูกกับผู้ใช้ที่ล็อกอินและคำนึงถึง PDPA</a:t>
            </a:r>
            <a:endParaRPr lang="en-US" sz="15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สรุปสิ่งที่ได้เรียนรู้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832104" y="1655064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32104" y="1655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148132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เขียนสเปกก่อน แล้วค่อยสั่ง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5623560" y="1481328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 ไฟล์เดียว + prompt สั้นที่อ้างหมายเลขหัวข้อ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32257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832104" y="2496312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32104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23225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ออกแบบก่อนสร้าง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5623560" y="2322576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สไตล์จาก uistyleguide · สีจาก colorhunt · ฟอนต์จาก Google Fonts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832104" y="3337560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32104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44168" y="316382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สร้างทีละชั้น ตรวจทีละชั้น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5623560" y="3163824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L1 ถึง L6 และตรวจด้วยเกณฑ์ยอมรับที่วัดผลได้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94360" y="4005072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832104" y="417880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32104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4168" y="4005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งานเสร็จเมื่อคนอื่นเปิดใช้ได้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5623560" y="4005072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ระดับ แล้วนำขึ้น GitHub Pages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9436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ขอบคุณครับ  ·  ช่วงถาม-ตอบ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9436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ไฟล์ประกอบ : SPEC_FundingHub.md  ·  LAB_FundingHub_Antigravity.md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4648</Words>
  <Application>Microsoft Macintosh PowerPoint</Application>
  <PresentationFormat>Widescreen</PresentationFormat>
  <Paragraphs>776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Arial</vt:lpstr>
      <vt:lpstr>Courier New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การพัฒนา Web Application ด้วย Google Antigravity</dc:title>
  <dc:subject>PptxGenJS Presentation</dc:subject>
  <dc:creator>Workshop: Funding Hub x Google Antigravity</dc:creator>
  <cp:lastModifiedBy>SAKDA HOMHUAN</cp:lastModifiedBy>
  <cp:revision>4</cp:revision>
  <dcterms:created xsi:type="dcterms:W3CDTF">2026-08-18T22:19:13Z</dcterms:created>
  <dcterms:modified xsi:type="dcterms:W3CDTF">2026-08-19T00:23:00Z</dcterms:modified>
</cp:coreProperties>
</file>