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94" r:id="rId2"/>
    <p:sldId id="299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8" r:id="rId19"/>
    <p:sldId id="279" r:id="rId20"/>
    <p:sldId id="280" r:id="rId21"/>
    <p:sldId id="297" r:id="rId22"/>
    <p:sldId id="281" r:id="rId23"/>
    <p:sldId id="296" r:id="rId24"/>
    <p:sldId id="282" r:id="rId25"/>
    <p:sldId id="298" r:id="rId26"/>
    <p:sldId id="284" r:id="rId27"/>
    <p:sldId id="285" r:id="rId28"/>
    <p:sldId id="295" r:id="rId29"/>
    <p:sldId id="292" r:id="rId30"/>
    <p:sldId id="293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341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แนะนำตัว 2 นาที. ย้ำว่าวันนี้ทุกคนจะได้ระบบจริงที่เปิดจากมือถือได้ก่อนกลับบ้าน. ประโยคสำคัญ: AI เก่งเรื่อง "ทำอย่างไร" แต่เราต้องเป็นคนตอบว่า "ทำอะไร และทำไม".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mu.to/z84tQ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241280" y="3840480"/>
            <a:ext cx="3840480" cy="3840480"/>
          </a:xfrm>
          <a:prstGeom prst="ellipse">
            <a:avLst/>
          </a:prstGeom>
          <a:solidFill>
            <a:srgbClr val="17324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2103120" cy="292608"/>
          </a:xfrm>
          <a:prstGeom prst="roundRect">
            <a:avLst>
              <a:gd name="adj" fmla="val 40625"/>
            </a:avLst>
          </a:prstGeom>
          <a:solidFill>
            <a:srgbClr val="E89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8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WORKSHOP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7556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CFE0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สร้างเว็บแอปด้วย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2267712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Google Antigravity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566928" y="4663440"/>
            <a:ext cx="2066544" cy="402336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66928" y="4663440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0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ออกแบบด้วย Flowchart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98064" y="4663440"/>
            <a:ext cx="1618488" cy="402336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2798064" y="4663440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0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Agent เขียนโค้ด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81144" y="4663440"/>
            <a:ext cx="2156155" cy="402336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581144" y="4663440"/>
            <a:ext cx="21561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0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Browser Agent ตรวจงาน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01891" y="4663440"/>
            <a:ext cx="1528877" cy="402336"/>
          </a:xfrm>
          <a:prstGeom prst="roundRect">
            <a:avLst>
              <a:gd name="adj" fmla="val 50000"/>
            </a:avLst>
          </a:prstGeom>
          <a:solidFill>
            <a:srgbClr val="1F446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6901891" y="4663440"/>
            <a:ext cx="152887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0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Deploy ใช้จริง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562356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200" dirty="0">
                <a:solidFill>
                  <a:srgbClr val="8FA9B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ศักดิ์ดา หอมหวล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9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900" dirty="0"/>
          </a:p>
        </p:txBody>
      </p:sp>
      <p:pic>
        <p:nvPicPr>
          <p:cNvPr id="19" name="Picture 18" descr="Antigravity IDE Community - Guides, Tutorials &amp; Reviews (Unofficial)">
            <a:extLst>
              <a:ext uri="{FF2B5EF4-FFF2-40B4-BE49-F238E27FC236}">
                <a16:creationId xmlns:a16="http://schemas.microsoft.com/office/drawing/2014/main" id="{23648048-B75D-7042-BBC9-454592533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306" y="1591056"/>
            <a:ext cx="2942083" cy="27067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2B6859-8155-3FC0-4729-D2349EB11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449" y="1753538"/>
            <a:ext cx="3621293" cy="36212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6AA7FA-08A3-0813-318A-134AA6B5530F}"/>
              </a:ext>
            </a:extLst>
          </p:cNvPr>
          <p:cNvSpPr txBox="1"/>
          <p:nvPr/>
        </p:nvSpPr>
        <p:spPr>
          <a:xfrm>
            <a:off x="6096000" y="331026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sz="2800" b="0" i="0" u="none" strike="noStrike">
                <a:solidFill>
                  <a:schemeClr val="tx1"/>
                </a:solidFill>
                <a:effectLst/>
                <a:latin typeface="+mn-lt"/>
                <a:hlinkClick r:id="rId3"/>
              </a:rPr>
              <a:t>https://cmu.to/z84tQ</a:t>
            </a:r>
            <a:endParaRPr lang="en-TH" sz="2800"/>
          </a:p>
        </p:txBody>
      </p:sp>
    </p:spTree>
    <p:extLst>
      <p:ext uri="{BB962C8B-B14F-4D97-AF65-F5344CB8AC3E}">
        <p14:creationId xmlns:p14="http://schemas.microsoft.com/office/powerpoint/2010/main" val="534680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เป้าหมาย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89611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เมื่อจบวันนี้ ผู้เข้าอบรมจะทำสิ่งเหล่านี้ได้ด้วยตนเอง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5340096" cy="1371600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850392" y="1737360"/>
            <a:ext cx="402336" cy="402336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85039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80744" y="17007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เข้าใจโครงสร้างเว็บแอปพลิเคชัน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80744" y="212140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แยกออกว่า Frontend / Backend / Database ทำหน้าที่ต่างกันอย่างไร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27064" y="1481328"/>
            <a:ext cx="5340096" cy="1371600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6483096" y="1737360"/>
            <a:ext cx="402336" cy="402336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6483096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3448" y="17007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สั่งงาน AI Agent ด้วย Antigravity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013448" y="212140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รู้จัก Editor, Agent, Artifacts และ Browser Subagent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94360" y="3054096"/>
            <a:ext cx="5340096" cy="1371600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850392" y="3310128"/>
            <a:ext cx="402336" cy="402336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850392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80744" y="32735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เขียนสเปกที่ AI ทำตามได้จริง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80744" y="369417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แปลงโจทย์เป็นเอกสารสเปกไฟล์เดียว พร้อมเกณฑ์ยอมรับที่วัดผลได้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227064" y="3054096"/>
            <a:ext cx="5340096" cy="1371600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6483096" y="3310128"/>
            <a:ext cx="402336" cy="402336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6483096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13448" y="32735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สร้างเว็บที่ใช้งานได้จริงและนำขึ้นระบบ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013448" y="369417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ครบ 4 หน้า เชื่อมฐานข้อมูลจริง และเปิดจาก URL สาธารณะ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2212848"/>
            <a:ext cx="960120" cy="960120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94360" y="221284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286000"/>
            <a:ext cx="9646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พื้นฐาน Web Application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920240" y="2907792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FB0B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รู้ว่าเรากำลังสร้างอะไร ก่อนจะสั่งให้ AI สร้างให้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เว็บไซต์ ต่างจาก เว็บแอปพลิเคชัน อย่างไร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5303520" cy="3200400"/>
          </a:xfrm>
          <a:prstGeom prst="roundRect">
            <a:avLst>
              <a:gd name="adj" fmla="val 2571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000"/>
          </a:p>
        </p:txBody>
      </p:sp>
      <p:sp>
        <p:nvSpPr>
          <p:cNvPr id="5" name="Text 3"/>
          <p:cNvSpPr/>
          <p:nvPr/>
        </p:nvSpPr>
        <p:spPr>
          <a:xfrm>
            <a:off x="868680" y="1572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เว็บไซต์ (Website)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ผู้ใช้อ่านอย่างเดียว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เนื้อหาคงที่ แก้ต้องแก้ไฟล์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ไม่จำเป็นต้องมีฐานข้อมูล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ตัวอย่าง : หน้าประชาสัมพันธ์คณะ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03520" cy="3200400"/>
          </a:xfrm>
          <a:prstGeom prst="roundRect">
            <a:avLst>
              <a:gd name="adj" fmla="val 2571"/>
            </a:avLst>
          </a:prstGeom>
          <a:solidFill>
            <a:srgbClr val="E8F6F7"/>
          </a:solidFill>
          <a:ln w="9525">
            <a:solidFill>
              <a:srgbClr val="E8F6F7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000"/>
          </a:p>
        </p:txBody>
      </p:sp>
      <p:sp>
        <p:nvSpPr>
          <p:cNvPr id="8" name="Text 6"/>
          <p:cNvSpPr/>
          <p:nvPr/>
        </p:nvSpPr>
        <p:spPr>
          <a:xfrm>
            <a:off x="6537960" y="1572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DB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เว็บแอปพลิเคชัน (Web Application)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37960" y="205740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ผู้ใช้ป้อน แก้ไข และลบข้อมูลได้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เนื้อหาเปลี่ยนตามข้อมูลในระบบ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ต้องมีฐานข้อมูลเสมอ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ตัวอย่าง : Funding Hub ที่เราจะสร้าง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4360" y="4800600"/>
            <a:ext cx="10972800" cy="658368"/>
          </a:xfrm>
          <a:prstGeom prst="roundRect">
            <a:avLst>
              <a:gd name="adj" fmla="val 13889"/>
            </a:avLst>
          </a:prstGeom>
          <a:solidFill>
            <a:srgbClr val="F5F7F8"/>
          </a:solidFill>
          <a:ln w="9525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TH" sz="2000"/>
          </a:p>
        </p:txBody>
      </p:sp>
      <p:sp>
        <p:nvSpPr>
          <p:cNvPr id="11" name="Text 9"/>
          <p:cNvSpPr/>
          <p:nvPr/>
        </p:nvSpPr>
        <p:spPr>
          <a:xfrm>
            <a:off x="868680" y="480060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Funding Hub เป็นเว็บแอปพลิเคชัน เพราะมีการ เพิ่ม / อ่าน / แก้ไข / ลบ ข้อมูล — เรียกรวมว่า CRUD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สถาปัตยกรรม 3 ชั้นของเว็บแอปพลิเคชัน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89611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ทุกเว็บแอปในโลกนี้ประกอบด้วยสามชั้นนี้เสมอ ไม่ว่าจะใช้เทคโนโลยีอะไร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3337560" cy="2331720"/>
          </a:xfrm>
          <a:prstGeom prst="roundRect">
            <a:avLst>
              <a:gd name="adj" fmla="val 3529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000"/>
          </a:p>
        </p:txBody>
      </p:sp>
      <p:sp>
        <p:nvSpPr>
          <p:cNvPr id="6" name="Text 4"/>
          <p:cNvSpPr/>
          <p:nvPr/>
        </p:nvSpPr>
        <p:spPr>
          <a:xfrm>
            <a:off x="832104" y="1682496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Frontend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2104" y="2121408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สิ่งที่ผู้ใช้เห็นและกด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2104" y="261518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ทำงานในเบราว์เซอร์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2104" y="3017520"/>
            <a:ext cx="2862072" cy="457200"/>
          </a:xfrm>
          <a:prstGeom prst="roundRect">
            <a:avLst>
              <a:gd name="adj" fmla="val 16000"/>
            </a:avLst>
          </a:prstGeom>
          <a:solidFill>
            <a:srgbClr val="222831"/>
          </a:solidFill>
          <a:ln w="12700">
            <a:solidFill>
              <a:srgbClr val="222831"/>
            </a:solidFill>
            <a:prstDash val="solid"/>
          </a:ln>
        </p:spPr>
        <p:txBody>
          <a:bodyPr/>
          <a:lstStyle/>
          <a:p>
            <a:endParaRPr lang="en-TH" sz="2000"/>
          </a:p>
        </p:txBody>
      </p:sp>
      <p:sp>
        <p:nvSpPr>
          <p:cNvPr id="10" name="Text 8"/>
          <p:cNvSpPr/>
          <p:nvPr/>
        </p:nvSpPr>
        <p:spPr>
          <a:xfrm>
            <a:off x="832104" y="301752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6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+ Vite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50208" y="237744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DB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498848" y="1481328"/>
            <a:ext cx="3337560" cy="2331720"/>
          </a:xfrm>
          <a:prstGeom prst="roundRect">
            <a:avLst>
              <a:gd name="adj" fmla="val 3529"/>
            </a:avLst>
          </a:prstGeom>
          <a:solidFill>
            <a:srgbClr val="E8F6F7"/>
          </a:solidFill>
          <a:ln w="9525">
            <a:solidFill>
              <a:srgbClr val="E8F6F7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000"/>
          </a:p>
        </p:txBody>
      </p:sp>
      <p:sp>
        <p:nvSpPr>
          <p:cNvPr id="13" name="Text 11"/>
          <p:cNvSpPr/>
          <p:nvPr/>
        </p:nvSpPr>
        <p:spPr>
          <a:xfrm>
            <a:off x="4736592" y="1682496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DB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Backend / API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36592" y="2121408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รับคำขอ ตรวจสิทธิ์ ส่งข้อมูล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36592" y="261518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ทำงานบนเซิร์ฟเวอร์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36592" y="3017520"/>
            <a:ext cx="2862072" cy="457200"/>
          </a:xfrm>
          <a:prstGeom prst="roundRect">
            <a:avLst>
              <a:gd name="adj" fmla="val 16000"/>
            </a:avLst>
          </a:prstGeom>
          <a:solidFill>
            <a:srgbClr val="222831"/>
          </a:solidFill>
          <a:ln w="12700">
            <a:solidFill>
              <a:srgbClr val="222831"/>
            </a:solidFill>
            <a:prstDash val="solid"/>
          </a:ln>
        </p:spPr>
        <p:txBody>
          <a:bodyPr/>
          <a:lstStyle/>
          <a:p>
            <a:endParaRPr lang="en-TH" sz="2000"/>
          </a:p>
        </p:txBody>
      </p:sp>
      <p:sp>
        <p:nvSpPr>
          <p:cNvPr id="17" name="Text 15"/>
          <p:cNvSpPr/>
          <p:nvPr/>
        </p:nvSpPr>
        <p:spPr>
          <a:xfrm>
            <a:off x="4736592" y="301752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6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API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54696" y="237744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DB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8403336" y="1481328"/>
            <a:ext cx="3337560" cy="2331720"/>
          </a:xfrm>
          <a:prstGeom prst="roundRect">
            <a:avLst>
              <a:gd name="adj" fmla="val 3529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000"/>
          </a:p>
        </p:txBody>
      </p:sp>
      <p:sp>
        <p:nvSpPr>
          <p:cNvPr id="20" name="Text 18"/>
          <p:cNvSpPr/>
          <p:nvPr/>
        </p:nvSpPr>
        <p:spPr>
          <a:xfrm>
            <a:off x="8641080" y="1682496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Database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641080" y="2121408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เก็บข้อมูลอย่างถาวร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641080" y="261518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ทำงานบนเซิร์ฟเวอร์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41080" y="3017520"/>
            <a:ext cx="2862072" cy="457200"/>
          </a:xfrm>
          <a:prstGeom prst="roundRect">
            <a:avLst>
              <a:gd name="adj" fmla="val 16000"/>
            </a:avLst>
          </a:prstGeom>
          <a:solidFill>
            <a:srgbClr val="222831"/>
          </a:solidFill>
          <a:ln w="12700">
            <a:solidFill>
              <a:srgbClr val="222831"/>
            </a:solidFill>
            <a:prstDash val="solid"/>
          </a:ln>
        </p:spPr>
        <p:txBody>
          <a:bodyPr/>
          <a:lstStyle/>
          <a:p>
            <a:endParaRPr lang="en-TH" sz="2000"/>
          </a:p>
        </p:txBody>
      </p:sp>
      <p:sp>
        <p:nvSpPr>
          <p:cNvPr id="24" name="Text 22"/>
          <p:cNvSpPr/>
          <p:nvPr/>
        </p:nvSpPr>
        <p:spPr>
          <a:xfrm>
            <a:off x="8641080" y="301752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6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</a:t>
            </a:r>
            <a:endParaRPr lang="en-US" sz="1400" dirty="0"/>
          </a:p>
        </p:txBody>
      </p:sp>
      <p:pic>
        <p:nvPicPr>
          <p:cNvPr id="28" name="Picture 27" descr="Client-server architecture, a short guide - negg Blog">
            <a:extLst>
              <a:ext uri="{FF2B5EF4-FFF2-40B4-BE49-F238E27FC236}">
                <a16:creationId xmlns:a16="http://schemas.microsoft.com/office/drawing/2014/main" id="{228717F9-2696-FEA7-E99E-7476693A1D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093" b="15750"/>
          <a:stretch>
            <a:fillRect/>
          </a:stretch>
        </p:blipFill>
        <p:spPr>
          <a:xfrm>
            <a:off x="3455135" y="3986784"/>
            <a:ext cx="5727700" cy="245251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FBF2653-14FE-4D73-A45E-D0BB1C6EE652}"/>
              </a:ext>
            </a:extLst>
          </p:cNvPr>
          <p:cNvSpPr txBox="1"/>
          <p:nvPr/>
        </p:nvSpPr>
        <p:spPr>
          <a:xfrm>
            <a:off x="3694176" y="6344150"/>
            <a:ext cx="60976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sz="1050"/>
              <a:t>https://negg.blog/en/client-server-architecture-a-short-guide/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ภาษาและเครื่องมือฝั่ง Frontend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795528" y="150876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222831"/>
          </a:solidFill>
          <a:ln w="12700">
            <a:solidFill>
              <a:srgbClr val="22283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795528" y="15087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1250" b="1" dirty="0"/>
          </a:p>
        </p:txBody>
      </p:sp>
      <p:sp>
        <p:nvSpPr>
          <p:cNvPr id="7" name="Text 5"/>
          <p:cNvSpPr/>
          <p:nvPr/>
        </p:nvSpPr>
        <p:spPr>
          <a:xfrm>
            <a:off x="2377440" y="137160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โครงสร้างของหน้า — เปรียบเหมือนโครงกระดูก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40880" y="137160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ปุ่ม ตาราง ฟอร์ม อยู่ตรงไหน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212848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795528" y="2350008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222831"/>
          </a:solidFill>
          <a:ln w="12700">
            <a:solidFill>
              <a:srgbClr val="222831"/>
            </a:solidFill>
            <a:prstDash val="solid"/>
          </a:ln>
        </p:spPr>
        <p:txBody>
          <a:bodyPr/>
          <a:lstStyle/>
          <a:p>
            <a:endParaRPr lang="en-TH" b="1"/>
          </a:p>
        </p:txBody>
      </p:sp>
      <p:sp>
        <p:nvSpPr>
          <p:cNvPr id="11" name="Text 9"/>
          <p:cNvSpPr/>
          <p:nvPr/>
        </p:nvSpPr>
        <p:spPr>
          <a:xfrm>
            <a:off x="795528" y="235000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en-US" sz="1250" b="1" dirty="0"/>
          </a:p>
        </p:txBody>
      </p:sp>
      <p:sp>
        <p:nvSpPr>
          <p:cNvPr id="12" name="Text 10"/>
          <p:cNvSpPr/>
          <p:nvPr/>
        </p:nvSpPr>
        <p:spPr>
          <a:xfrm>
            <a:off x="2377440" y="221284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หน้าตาและการจัดวาง — เปรียบเหมือนเสื้อผ้า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40880" y="221284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สี ฟอนต์ ระยะห่าง การตอบสนองต่อขนาดจอ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054096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95528" y="3191256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222831"/>
          </a:solidFill>
          <a:ln w="12700">
            <a:solidFill>
              <a:srgbClr val="22283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795528" y="319125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1250" b="1" dirty="0"/>
          </a:p>
        </p:txBody>
      </p:sp>
      <p:sp>
        <p:nvSpPr>
          <p:cNvPr id="17" name="Text 15"/>
          <p:cNvSpPr/>
          <p:nvPr/>
        </p:nvSpPr>
        <p:spPr>
          <a:xfrm>
            <a:off x="2377440" y="305409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พฤติกรรม — เปรียบเหมือนกล้ามเนื้อ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40880" y="3054096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กดปุ่มแล้วเกิดอะไร ดึงข้อมูลจากฐานข้อมูลอย่างไร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E8F6F7"/>
          </a:solidFill>
          <a:ln w="9525">
            <a:solidFill>
              <a:srgbClr val="E8F6F7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868680" y="420624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ADB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แล้ว React กับ Vite คืออะไร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68680" y="45720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React  คือไลบรารีที่ช่วยแบ่งหน้าเว็บออกเป็นชิ้นส่วนเล็ก ๆ (Component) เช่น ปุ่ม การ์ดทุน แล้วนำกลับมาใช้ซ้ำได้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Vite  คือเครื่องมือรวมและรันโค้ด ทำให้แก้ไฟล์แล้วเห็นผลบนเบราว์เซอร์ทันทีโดยไม่ต้องกดรีเฟรช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CRUD และพื้นฐานฐานข้อมูล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89611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คำสี่คำที่อธิบายได้ทุกอย่างที่ระบบข้อมูลทำ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694944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800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การกระทำ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651760" y="15544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HTTP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86200" y="15544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คำสั่ง SQL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ในระบบของเรา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5528" y="1975104"/>
            <a:ext cx="6547104" cy="548640"/>
          </a:xfrm>
          <a:prstGeom prst="roundRect">
            <a:avLst>
              <a:gd name="adj" fmla="val 10000"/>
            </a:avLst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  <p:txBody>
          <a:bodyPr/>
          <a:lstStyle/>
          <a:p>
            <a:endParaRPr lang="en-TH" sz="2800"/>
          </a:p>
        </p:txBody>
      </p:sp>
      <p:sp>
        <p:nvSpPr>
          <p:cNvPr id="11" name="Text 9"/>
          <p:cNvSpPr/>
          <p:nvPr/>
        </p:nvSpPr>
        <p:spPr>
          <a:xfrm>
            <a:off x="868680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Create — สร้าง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51760" y="197510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86200" y="19751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03520" y="197510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เพิ่มทุนวิจัยใหม่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95528" y="2633472"/>
            <a:ext cx="65471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 sz="2800"/>
          </a:p>
        </p:txBody>
      </p:sp>
      <p:sp>
        <p:nvSpPr>
          <p:cNvPr id="16" name="Text 14"/>
          <p:cNvSpPr/>
          <p:nvPr/>
        </p:nvSpPr>
        <p:spPr>
          <a:xfrm>
            <a:off x="868680" y="26334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Read — อ่าน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651760" y="263347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86200" y="26334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03520" y="263347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แสดงรายการทุน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95528" y="3291840"/>
            <a:ext cx="6547104" cy="548640"/>
          </a:xfrm>
          <a:prstGeom prst="roundRect">
            <a:avLst>
              <a:gd name="adj" fmla="val 10000"/>
            </a:avLst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  <p:txBody>
          <a:bodyPr/>
          <a:lstStyle/>
          <a:p>
            <a:endParaRPr lang="en-TH" sz="2800"/>
          </a:p>
        </p:txBody>
      </p:sp>
      <p:sp>
        <p:nvSpPr>
          <p:cNvPr id="21" name="Text 19"/>
          <p:cNvSpPr/>
          <p:nvPr/>
        </p:nvSpPr>
        <p:spPr>
          <a:xfrm>
            <a:off x="868680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Update — แก้ไข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651760" y="32918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886200" y="3291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03520" y="3291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แก้ข้อมูลทุนเดิม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95528" y="3950208"/>
            <a:ext cx="65471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 sz="2800"/>
          </a:p>
        </p:txBody>
      </p:sp>
      <p:sp>
        <p:nvSpPr>
          <p:cNvPr id="26" name="Text 24"/>
          <p:cNvSpPr/>
          <p:nvPr/>
        </p:nvSpPr>
        <p:spPr>
          <a:xfrm>
            <a:off x="868680" y="39502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Delete — ลบ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651760" y="39502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886200" y="39502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03520" y="395020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ลบทุนออกจากระบบ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772400" y="1371599"/>
            <a:ext cx="3794760" cy="4070733"/>
          </a:xfrm>
          <a:prstGeom prst="roundRect">
            <a:avLst>
              <a:gd name="adj" fmla="val 2308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800"/>
          </a:p>
        </p:txBody>
      </p:sp>
      <p:sp>
        <p:nvSpPr>
          <p:cNvPr id="31" name="Text 29"/>
          <p:cNvSpPr/>
          <p:nvPr/>
        </p:nvSpPr>
        <p:spPr>
          <a:xfrm>
            <a:off x="8001000" y="15727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ตารางในฐานข้อมูล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8001000" y="201168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ตาราง (Table) — เก็บข้อมูลชนิดเดียวกัน เช่น ตาราง grants เก็บทุนวิจัย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คอลัมน์ (Column) — ฟิลด์ข้อมูล เช่น ชื่อทุน แหล่งทุน กำหนดปิดรับ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แถว (Row) — ทุน 1 รายการ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Primary Key — รหัสประจำแถวที่ไม่ซ้ำกัน ใช้ระบุว่าจะแก้หรือลบแถวไหน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ชนิดข้อมูล — text, date, uuid บอกว่าคอลัมน์นั้นเก็บอะไรได้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94360" y="6263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ทุกหน้าจอในระบบเรา เป็นเพียงหน้าตาที่สวยงามของคำสั่งสี่คำนี้เท่านั้น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Supabase และชุดเทคโนโลยีของเวิร์กช็อป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5760720" cy="3977640"/>
          </a:xfrm>
          <a:prstGeom prst="roundRect">
            <a:avLst>
              <a:gd name="adj" fmla="val 2069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000"/>
          </a:p>
        </p:txBody>
      </p:sp>
      <p:sp>
        <p:nvSpPr>
          <p:cNvPr id="5" name="Text 3"/>
          <p:cNvSpPr/>
          <p:nvPr/>
        </p:nvSpPr>
        <p:spPr>
          <a:xfrm>
            <a:off x="868680" y="157276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Supabase คืออะไร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บริการฐานข้อมูลสำเร็จรูปบนคลาวด์ (Backend as a Service)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สร้างตารางเสร็จ ได้ API ใช้ทันที ไม่ต้องเขียนเซิร์ฟเวอร์เอง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6968" y="2798064"/>
            <a:ext cx="310896" cy="310896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 sz="2000"/>
          </a:p>
        </p:txBody>
      </p:sp>
      <p:sp>
        <p:nvSpPr>
          <p:cNvPr id="8" name="Text 6"/>
          <p:cNvSpPr/>
          <p:nvPr/>
        </p:nvSpPr>
        <p:spPr>
          <a:xfrm>
            <a:off x="886968" y="2798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7592" y="274320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PostgreSQL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66160" y="274320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ฐานข้อมูลมาตรฐานอุตสาหกรรม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86968" y="3401568"/>
            <a:ext cx="310896" cy="310896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 sz="2000"/>
          </a:p>
        </p:txBody>
      </p:sp>
      <p:sp>
        <p:nvSpPr>
          <p:cNvPr id="12" name="Text 10"/>
          <p:cNvSpPr/>
          <p:nvPr/>
        </p:nvSpPr>
        <p:spPr>
          <a:xfrm>
            <a:off x="886968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07592" y="334670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API อัตโนมัติ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66160" y="334670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สร้างให้ทันทีจากโครงสร้างตาราง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86968" y="4005072"/>
            <a:ext cx="310896" cy="310896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 sz="2000"/>
          </a:p>
        </p:txBody>
      </p:sp>
      <p:sp>
        <p:nvSpPr>
          <p:cNvPr id="16" name="Text 14"/>
          <p:cNvSpPr/>
          <p:nvPr/>
        </p:nvSpPr>
        <p:spPr>
          <a:xfrm>
            <a:off x="886968" y="4005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07592" y="395020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RLS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66160" y="395020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กำหนดสิทธิ์ว่าใครทำอะไรได้บ้าง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6968" y="4608576"/>
            <a:ext cx="310896" cy="310896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 sz="2000"/>
          </a:p>
        </p:txBody>
      </p:sp>
      <p:sp>
        <p:nvSpPr>
          <p:cNvPr id="20" name="Text 18"/>
          <p:cNvSpPr/>
          <p:nvPr/>
        </p:nvSpPr>
        <p:spPr>
          <a:xfrm>
            <a:off x="886968" y="4608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07592" y="455371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Storage / Auth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66160" y="45537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มีให้ใช้ แต่ไม่ใช้ในเวิร์กช็อปนี้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47688" y="1371600"/>
            <a:ext cx="4919472" cy="3977640"/>
          </a:xfrm>
          <a:prstGeom prst="roundRect">
            <a:avLst>
              <a:gd name="adj" fmla="val 2069"/>
            </a:avLst>
          </a:prstGeom>
          <a:solidFill>
            <a:srgbClr val="E8F6F7"/>
          </a:solidFill>
          <a:ln w="9525">
            <a:solidFill>
              <a:srgbClr val="E8F6F7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000"/>
          </a:p>
        </p:txBody>
      </p:sp>
      <p:sp>
        <p:nvSpPr>
          <p:cNvPr id="24" name="Text 22"/>
          <p:cNvSpPr/>
          <p:nvPr/>
        </p:nvSpPr>
        <p:spPr>
          <a:xfrm>
            <a:off x="6922008" y="1572768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DB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ชุดเทคโนโลยีที่เราจะใช้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922008" y="2103120"/>
            <a:ext cx="437083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EE7EA"/>
            </a:solidFill>
            <a:prstDash val="solid"/>
          </a:ln>
        </p:spPr>
        <p:txBody>
          <a:bodyPr/>
          <a:lstStyle/>
          <a:p>
            <a:endParaRPr lang="en-TH" sz="2000"/>
          </a:p>
        </p:txBody>
      </p:sp>
      <p:sp>
        <p:nvSpPr>
          <p:cNvPr id="26" name="Text 24"/>
          <p:cNvSpPr/>
          <p:nvPr/>
        </p:nvSpPr>
        <p:spPr>
          <a:xfrm>
            <a:off x="7104888" y="210312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Vite + React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208008" y="21031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สร้างหน้าเว็บ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22008" y="2724912"/>
            <a:ext cx="437083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EE7EA"/>
            </a:solidFill>
            <a:prstDash val="solid"/>
          </a:ln>
        </p:spPr>
        <p:txBody>
          <a:bodyPr/>
          <a:lstStyle/>
          <a:p>
            <a:endParaRPr lang="en-TH" sz="2000"/>
          </a:p>
        </p:txBody>
      </p:sp>
      <p:sp>
        <p:nvSpPr>
          <p:cNvPr id="29" name="Text 27"/>
          <p:cNvSpPr/>
          <p:nvPr/>
        </p:nvSpPr>
        <p:spPr>
          <a:xfrm>
            <a:off x="7104888" y="272491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Tailwind CSS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208008" y="272491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จัดสไตล์ตาม Design System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922008" y="3346704"/>
            <a:ext cx="437083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EE7EA"/>
            </a:solidFill>
            <a:prstDash val="solid"/>
          </a:ln>
        </p:spPr>
        <p:txBody>
          <a:bodyPr/>
          <a:lstStyle/>
          <a:p>
            <a:endParaRPr lang="en-TH" sz="2000"/>
          </a:p>
        </p:txBody>
      </p:sp>
      <p:sp>
        <p:nvSpPr>
          <p:cNvPr id="32" name="Text 30"/>
          <p:cNvSpPr/>
          <p:nvPr/>
        </p:nvSpPr>
        <p:spPr>
          <a:xfrm>
            <a:off x="7104888" y="334670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Supabase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208008" y="334670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ฐานข้อมูลและ API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922008" y="3968496"/>
            <a:ext cx="437083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EE7EA"/>
            </a:solidFill>
            <a:prstDash val="solid"/>
          </a:ln>
        </p:spPr>
        <p:txBody>
          <a:bodyPr/>
          <a:lstStyle/>
          <a:p>
            <a:endParaRPr lang="en-TH" sz="2000"/>
          </a:p>
        </p:txBody>
      </p:sp>
      <p:sp>
        <p:nvSpPr>
          <p:cNvPr id="35" name="Text 33"/>
          <p:cNvSpPr/>
          <p:nvPr/>
        </p:nvSpPr>
        <p:spPr>
          <a:xfrm>
            <a:off x="7104888" y="396849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GitHub + Pages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208008" y="396849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เก็บโค้ดและนำขึ้นระบบฟรี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922008" y="4590288"/>
            <a:ext cx="437083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EE7EA"/>
            </a:solidFill>
            <a:prstDash val="solid"/>
          </a:ln>
        </p:spPr>
        <p:txBody>
          <a:bodyPr/>
          <a:lstStyle/>
          <a:p>
            <a:endParaRPr lang="en-TH" sz="2000"/>
          </a:p>
        </p:txBody>
      </p:sp>
      <p:sp>
        <p:nvSpPr>
          <p:cNvPr id="38" name="Text 36"/>
          <p:cNvSpPr/>
          <p:nvPr/>
        </p:nvSpPr>
        <p:spPr>
          <a:xfrm>
            <a:off x="7104888" y="459028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Antigravity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208008" y="459028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AI Agent ที่เขียนโค้ดให้เรา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310896"/>
            <a:ext cx="1481328" cy="475488"/>
          </a:xfrm>
          <a:prstGeom prst="roundRect">
            <a:avLst>
              <a:gd name="adj" fmla="val 50000"/>
            </a:avLst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94360" y="310896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 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เตรียมเครื่องและเปิดโปรเจกต์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738360" y="3108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 นาที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5760720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850392" y="1188720"/>
            <a:ext cx="5248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สิ่งที่ต้องทำ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8680" y="1636776"/>
            <a:ext cx="329184" cy="329184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86868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07592" y="15727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ตรวจว่ามี Node.js, Git และ Antigravity IDE แล้ว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2221992"/>
            <a:ext cx="329184" cy="329184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868680" y="2221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07592" y="215798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สร้างโฟลเดอร์ fundinghub แล้วเปิดใน Antigravity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8680" y="2807208"/>
            <a:ext cx="329184" cy="329184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868680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07592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สร้างไฟล์เปล่าชื่อ SPEC_FundingHub.md ที่รากโปรเจกต์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3392424"/>
            <a:ext cx="329184" cy="329184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868680" y="3392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07592" y="332841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เปิดไฟล์ SPEC_BLOCKS.md ที่แจกให้ ไว้อีกหน้าต่างหนึ่ง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8680" y="3977640"/>
            <a:ext cx="329184" cy="329184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868680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07592" y="39136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หาให้เจอ 4 ส่วน : Editor / Agent / Artifacts / Browser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0" y="1024128"/>
            <a:ext cx="4983480" cy="1600200"/>
          </a:xfrm>
          <a:prstGeom prst="roundRect">
            <a:avLst>
              <a:gd name="adj" fmla="val 4000"/>
            </a:avLst>
          </a:prstGeom>
          <a:solidFill>
            <a:srgbClr val="222831"/>
          </a:solidFill>
          <a:ln w="12700">
            <a:solidFill>
              <a:srgbClr val="22283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6729984" y="1115568"/>
            <a:ext cx="46908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D6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D6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-v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D6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0" y="2788920"/>
            <a:ext cx="4983480" cy="2029968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6812280" y="292608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เกณฑ์ผ่าน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12280" y="3310128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ทุกคำสั่งขึ้นเลขเวอร์ชัน ไม่ขึ้น command not found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เปิดโฟลเดอร์ fundinghub ใน Antigravity ได้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มีไฟล์เปล่า SPEC_FundingHub.md รออยู่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594360" y="6263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เอกสารแล็บ : LAB A  ·  การติดตั้งควรทำมาล่วงหน้าก่อนวันอบรม เวลาในห้องมีเพียง 10 นาทีสำหรับตรวจความพร้อม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2212848"/>
            <a:ext cx="960120" cy="960120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94360" y="221284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286000"/>
            <a:ext cx="9646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รู้จัก Google Antigravity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920240" y="2907792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FB0B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เครื่องมือที่เราจะใช้สั่งงานตลอดทั้งวัน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Google Antigravity คืออะไร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371599"/>
            <a:ext cx="5392554" cy="2555507"/>
          </a:xfrm>
          <a:prstGeom prst="roundRect">
            <a:avLst>
              <a:gd name="adj" fmla="val 4615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868680" y="1572768"/>
            <a:ext cx="483910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สภาพแวดล้อมการพัฒนาแบบ agent-first ของ Google เปิดตัวเดือนพฤศจิกายน 2568 พัฒนาต่อจาก VS Code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แนวคิดหลักคือเรามอบหมายงานระดับ “สิ่งที่อยากได้” ให้ AI Agent แทนการพิมพ์โค้ดทุกบรรทัดเอง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ปี 2569 มี Antigravity 2.0 เป็นแอปแยกสำหรับสั่งงาน Agent หลายตัวพร้อมกัน พร้อม CLI และ SDK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4715417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E8F6F7"/>
          </a:solidFill>
          <a:ln w="9525">
            <a:solidFill>
              <a:srgbClr val="E8F6F7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868680" y="4898297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DB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เวิร์กช็อปนี้ใช้ Antigravity IDE ไม่ใช่ Antigravity 2.0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5300633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เพราะผู้เริ่มต้นควรเห็นทั้งไฟล์โค้ด หน้าต่างคำสั่ง และเบราว์เซอร์ทดสอบอยู่ในหน้าจอเดียวกัน จะได้เข้าใจว่า Agent กำลังทำอะไรกับโปรเจกต์ของเรา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ดาวน์โหลด : antigravity.google/download  ·  เอกสาร : antigravity.google/docs  ·  ใช้งานได้ฟรีในช่วง preview</a:t>
            </a:r>
            <a:endParaRPr lang="en-US" sz="1300" dirty="0"/>
          </a:p>
        </p:txBody>
      </p:sp>
      <p:pic>
        <p:nvPicPr>
          <p:cNvPr id="10" name="Picture 9" descr="Google Antigravity Review: Is it a $20 AI Coding Paperweight?">
            <a:extLst>
              <a:ext uri="{FF2B5EF4-FFF2-40B4-BE49-F238E27FC236}">
                <a16:creationId xmlns:a16="http://schemas.microsoft.com/office/drawing/2014/main" id="{BCF92CEF-2D70-0848-2686-43A101ECB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830" y="1371599"/>
            <a:ext cx="5231330" cy="31605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องค์ประกอบสำคัญ 4 ส่วนที่ต้องรู้จัก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89611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เปิดโปรแกรมแล้วให้หาสี่ส่วนนี้ให้เจอก่อน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5340096" cy="1572768"/>
          </a:xfrm>
          <a:prstGeom prst="roundRect">
            <a:avLst>
              <a:gd name="adj" fmla="val 5233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850392" y="1764792"/>
            <a:ext cx="402336" cy="402336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850392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80744" y="172821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Editor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80744" y="216712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หน้าต่างแก้ไขไฟล์โค้ดตามปกติ มีการเติมโค้ดอัตโนมัติด้วยปุ่ม Tab เราใช้ดูว่า Agent เขียนอะไรลงไป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27064" y="1508760"/>
            <a:ext cx="5340096" cy="1572768"/>
          </a:xfrm>
          <a:prstGeom prst="roundRect">
            <a:avLst>
              <a:gd name="adj" fmla="val 5233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6483096" y="1764792"/>
            <a:ext cx="402336" cy="402336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6483096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3448" y="172821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Agent Manager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013448" y="216712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ช่องสนทนาสำหรับสั่งงาน และแผงติดตามว่า Agent กำลังทำงานไหนอยู่ สั่งหลายงานพร้อมกันได้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94360" y="3291840"/>
            <a:ext cx="5340096" cy="1572768"/>
          </a:xfrm>
          <a:prstGeom prst="roundRect">
            <a:avLst>
              <a:gd name="adj" fmla="val 5233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850392" y="3547872"/>
            <a:ext cx="402336" cy="402336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850392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80744" y="35112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Artifacts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80744" y="395020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ผลงานระหว่างทางที่ Agent สร้าง เช่น แผนงาน รายการสิ่งที่จะทำ ผลทดสอบ เราสามารถคอมเมนต์แก้ไขได้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227064" y="3291840"/>
            <a:ext cx="5340096" cy="1572768"/>
          </a:xfrm>
          <a:prstGeom prst="roundRect">
            <a:avLst>
              <a:gd name="adj" fmla="val 5233"/>
            </a:avLst>
          </a:prstGeom>
          <a:solidFill>
            <a:srgbClr val="E8F6F7"/>
          </a:solidFill>
          <a:ln w="9525">
            <a:solidFill>
              <a:srgbClr val="E8F6F7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6483096" y="3547872"/>
            <a:ext cx="402336" cy="402336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6483096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13448" y="35112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ADB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Browser Subagent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013448" y="395020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เบราว์เซอร์ที่ Agent เปิดและควบคุมเอง เพื่อกดปุ่ม กรอกฟอร์ม และถ่ายภาพหน้าจอมายืนยันว่าใช้งานได้จริง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94360" y="6263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Browser Subagent คือสิ่งที่ทำให้ Antigravity ต่างจากเครื่องมืออื่น — มันทดสอบงานของตัวเองได้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Vibe Coding กับ Spec-driven Development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89611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สองวิธีสั่งงาน AI ที่ให้ผลลัพธ์ต่างกันมาก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5303520" cy="3246120"/>
          </a:xfrm>
          <a:prstGeom prst="roundRect">
            <a:avLst>
              <a:gd name="adj" fmla="val 2535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400"/>
          </a:p>
        </p:txBody>
      </p:sp>
      <p:sp>
        <p:nvSpPr>
          <p:cNvPr id="6" name="Text 4"/>
          <p:cNvSpPr/>
          <p:nvPr/>
        </p:nvSpPr>
        <p:spPr>
          <a:xfrm>
            <a:off x="868680" y="1627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Vibe Coding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พิมพ์บอกสั้น ๆ ตามความรู้สึก แล้วดูว่า AI ให้อะไรมา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ได้ผลเร็วมากในช่วงแรก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สั่งคำเดิมสองครั้ง ได้ผลไม่เหมือนกัน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AI เติมฟีเจอร์ที่เราไม่ได้ขอ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แก้จุดหนึ่ง พังอีกจุดหนึ่ง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ไม่มีเกณฑ์บอกว่างานเสร็จหรือยัง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303520" cy="3246120"/>
          </a:xfrm>
          <a:prstGeom prst="roundRect">
            <a:avLst>
              <a:gd name="adj" fmla="val 2535"/>
            </a:avLst>
          </a:prstGeom>
          <a:solidFill>
            <a:srgbClr val="E8F6F7"/>
          </a:solidFill>
          <a:ln w="9525">
            <a:solidFill>
              <a:srgbClr val="E8F6F7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400"/>
          </a:p>
        </p:txBody>
      </p:sp>
      <p:sp>
        <p:nvSpPr>
          <p:cNvPr id="10" name="Text 8"/>
          <p:cNvSpPr/>
          <p:nvPr/>
        </p:nvSpPr>
        <p:spPr>
          <a:xfrm>
            <a:off x="6537960" y="1627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Spec-driven Development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3796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เขียนข้อกำหนดให้ครบก่อน แล้วสั่งงานโดยอ้างหมายเลขหัวข้อ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3796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ผลลัพธ์คงเส้นคงวา ทำซ้ำได้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AI ไม่สร้างเกินขอบเขตที่เขียนไว้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แก้สเปกที่เดียว งานตามทั้งระบบ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มีเกณฑ์ยอมรับไว้ตรวจว่าผ่านหรือไม่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prompt สั้นลงเหลือ 3–5 บรรทัด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94360" y="4892040"/>
            <a:ext cx="10972800" cy="658368"/>
          </a:xfrm>
          <a:prstGeom prst="roundRect">
            <a:avLst>
              <a:gd name="adj" fmla="val 13889"/>
            </a:avLst>
          </a:prstGeom>
          <a:solidFill>
            <a:srgbClr val="222831"/>
          </a:solidFill>
          <a:ln w="12700">
            <a:solidFill>
              <a:srgbClr val="22283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868680" y="48920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6F5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วันนี้เราใช้ Spec-driven : เขียน FundingHub.md เพียงไฟล์เดียว แล้ว prompt ทุกอันชี้ไปที่หมายเลขหัวข้อในไฟล์นั้น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310896"/>
            <a:ext cx="1481328" cy="475488"/>
          </a:xfrm>
          <a:prstGeom prst="roundRect">
            <a:avLst>
              <a:gd name="adj" fmla="val 50000"/>
            </a:avLst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94360" y="310896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 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วางบล็อกแรกของสเปก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738360" y="3108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 นาที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57607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850392" y="1188720"/>
            <a:ext cx="5248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สิ่งที่ต้องทำ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8680" y="1636776"/>
            <a:ext cx="329184" cy="329184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86868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07592" y="15727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เปิด SPEC_BLOCKS.md หาบล็อกที่ 1 (§0 กติกา + §1 ขอบเขต)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2219706"/>
            <a:ext cx="329184" cy="329184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868680" y="22197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07592" y="215569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คัดลอกทั้งบล็อก วางลงใน SPEC_FundingHub.md แล้วบันทึก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8680" y="2802636"/>
            <a:ext cx="329184" cy="329184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868680" y="28026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07592" y="27386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วาง prompt ด้านขวาในช่อง Agent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3385566"/>
            <a:ext cx="329184" cy="329184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868680" y="33855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07592" y="332155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อ่านคำตอบร่วมกัน — Agent ต้องรู้ขอบเขตแล้ว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83680" y="1024128"/>
            <a:ext cx="4983480" cy="1874520"/>
          </a:xfrm>
          <a:prstGeom prst="roundRect">
            <a:avLst>
              <a:gd name="adj" fmla="val 3415"/>
            </a:avLst>
          </a:prstGeom>
          <a:solidFill>
            <a:srgbClr val="222831"/>
          </a:solidFill>
          <a:ln w="12700">
            <a:solidFill>
              <a:srgbClr val="22283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6729984" y="1115568"/>
            <a:ext cx="46908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6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อ่านไฟล์ SPEC_FundingHub.md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6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สรุปเป็นภาษาไทยว่า ระบบนี้มีกี่หน้า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6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อะไรบ้าง และมีอะไรบ้างที่ห้ามสร้าง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6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ยังไม่ต้องเขียนโค้ด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3063240"/>
            <a:ext cx="498348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6812280" y="320040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คำตอบที่ถูกต้อง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12280" y="35661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 หน้า : Dashboard / ทุนวิจัย / เพิ่มทุน / Admin</a:t>
            </a:r>
            <a:endParaRPr lang="en-US" sz="15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ห้ามสร้าง AI / LINE / Proposal / Project Tracking / ระบบล็อกอิน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594360" y="6263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เอกสารแล็บ : LAB A  ·  ถ้า Agent ตอบผิดหรือเดา แปลว่ายังไม่ได้อ่านไฟล์จริง ให้ลากไฟล์เข้าไปในช่องแชทแล้วสั่งใหม่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2212848"/>
            <a:ext cx="960120" cy="960120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94360" y="221284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03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286000"/>
            <a:ext cx="9646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แกะโจทย์ให้กลายเป็นสเปก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920240" y="2907792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FB0B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ขั้นตอนที่สำคัญที่สุดของวันนี้ และเป็นขั้นที่คนข้ามบ่อยที่สุด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โจทย์ตั้งต้น : Funding Hub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89611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ข้อความที่ผู้ใช้เขียนมาให้เรา — สั้น กระชับ แต่ยังสั่ง AI ตรง ๆ ไม่ได้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5340096" cy="786384"/>
          </a:xfrm>
          <a:prstGeom prst="roundRect">
            <a:avLst>
              <a:gd name="adj" fmla="val 10465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850392" y="1536192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 หน้าเท่านั้น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50392" y="1865376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Dashboard · รายการทุน · เพิ่ม/แก้ไข · Admin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27064" y="1463040"/>
            <a:ext cx="5340096" cy="786384"/>
          </a:xfrm>
          <a:prstGeom prst="roundRect">
            <a:avLst>
              <a:gd name="adj" fmla="val 10465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6483096" y="1536192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KPI 4 ช่อง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483096" y="1865376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เปิดรับ · ใกล้หมดเขต · ปิดรับแล้ว · ทั้งหมด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2395728"/>
            <a:ext cx="5340096" cy="786384"/>
          </a:xfrm>
          <a:prstGeom prst="roundRect">
            <a:avLst>
              <a:gd name="adj" fmla="val 10465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850392" y="2468880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ค้นหาและกรอง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50392" y="2798064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ค้นชื่อทุน และกรองตามสถานะ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27064" y="2395728"/>
            <a:ext cx="5340096" cy="786384"/>
          </a:xfrm>
          <a:prstGeom prst="roundRect">
            <a:avLst>
              <a:gd name="adj" fmla="val 10465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6483096" y="2468880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ฟอร์ม 7 ช่อง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6483096" y="2798064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ชื่อทุน แหล่งทุน Theme Deadline URL หมายเหตุ สถานะ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3328416"/>
            <a:ext cx="5340096" cy="786384"/>
          </a:xfrm>
          <a:prstGeom prst="roundRect">
            <a:avLst>
              <a:gd name="adj" fmla="val 10465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850392" y="340156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ฐานข้อมูล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50392" y="3730752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 Supabase ชื่อโปรเจกต์ fundinghub พร้อม CRUD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27064" y="3328416"/>
            <a:ext cx="5340096" cy="786384"/>
          </a:xfrm>
          <a:prstGeom prst="roundRect">
            <a:avLst>
              <a:gd name="adj" fmla="val 10465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6483096" y="340156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ข้อมูลตัวอย่าง 3 รายการ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483096" y="3730752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TREE Fund · Belmont Forum CRA · ASEA-UNINET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94360" y="4370832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868680" y="44805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ประโยคที่มีค่าที่สุดในโจทย์ทั้งหมด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68680" y="479145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“ไม่ต้องสร้าง AI, LINE, Proposal, Project Tracking หรือระบบซับซ้อนอื่น” — สิ่งที่ทำให้ AI สร้างงานเกินจริงมากที่สุด คือการไม่บอกว่าอะไรที่ไม่ต้องทำ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2212848"/>
            <a:ext cx="960120" cy="960120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94360" y="221284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04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286000"/>
            <a:ext cx="9646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ออกแบบ UI ก่อนสั่ง 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920240" y="2907792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FB0B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กำหนดสไตล์ สี และฟอนต์ด้วยตัวเอง เพื่อไม่ให้งานของทุกคนหน้าตาเหมือนกัน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ทำไมต้องกำหนด Design System ก่อน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03520" cy="2286000"/>
          </a:xfrm>
          <a:prstGeom prst="roundRect">
            <a:avLst>
              <a:gd name="adj" fmla="val 3600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000"/>
          </a:p>
        </p:txBody>
      </p:sp>
      <p:sp>
        <p:nvSpPr>
          <p:cNvPr id="5" name="Text 3"/>
          <p:cNvSpPr/>
          <p:nvPr/>
        </p:nvSpPr>
        <p:spPr>
          <a:xfrm>
            <a:off x="868680" y="157276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262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ถ้าไม่กำหนด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AI เลือกสีน้ำเงินและฟอนต์สากลให้ทุกครั้ง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งานของผู้เข้าอบรมทุกคนหน้าตาเหมือนกันหมด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สั่งแก้หน้าหนึ่ง สีเพี้ยนไปอีกหน้าหนึ่ง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ภาษาไทยแสดงผลเพี้ยนเพราะฟอนต์ไม่รองรับ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303520" cy="2286000"/>
          </a:xfrm>
          <a:prstGeom prst="roundRect">
            <a:avLst>
              <a:gd name="adj" fmla="val 3600"/>
            </a:avLst>
          </a:prstGeom>
          <a:solidFill>
            <a:srgbClr val="CCFBF1"/>
          </a:solidFill>
          <a:ln w="9525">
            <a:solidFill>
              <a:srgbClr val="CCFBF1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000"/>
          </a:p>
        </p:txBody>
      </p:sp>
      <p:sp>
        <p:nvSpPr>
          <p:cNvPr id="8" name="Text 6"/>
          <p:cNvSpPr/>
          <p:nvPr/>
        </p:nvSpPr>
        <p:spPr>
          <a:xfrm>
            <a:off x="6537960" y="157276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ถ้ากำหนดไว้ใน §4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37960" y="1993392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ทุกหน้าใช้สีและฟอนต์ชุดเดียวกันโดยอัตโนมัติ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เปลี่ยนสีทั้งระบบด้วยการแก้ไฟล์สเปกที่เดียว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งานออกมาเป็นเอกลักษณ์ของเราเอง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ภาษาไทยอ่านง่าย เพราะเลือกฟอนต์ที่รองรับ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393192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สามสิ่งที่ต้องเลือกใน LAB 3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94360" y="4343400"/>
            <a:ext cx="3566160" cy="1097280"/>
          </a:xfrm>
          <a:prstGeom prst="roundRect">
            <a:avLst>
              <a:gd name="adj" fmla="val 7500"/>
            </a:avLst>
          </a:prstGeom>
          <a:solidFill>
            <a:srgbClr val="E8F6F7"/>
          </a:solidFill>
          <a:ln w="9525">
            <a:solidFill>
              <a:srgbClr val="E8F6F7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000"/>
          </a:p>
        </p:txBody>
      </p:sp>
      <p:sp>
        <p:nvSpPr>
          <p:cNvPr id="12" name="Shape 10"/>
          <p:cNvSpPr/>
          <p:nvPr/>
        </p:nvSpPr>
        <p:spPr>
          <a:xfrm>
            <a:off x="850392" y="4617720"/>
            <a:ext cx="384048" cy="384048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 sz="2000"/>
          </a:p>
        </p:txBody>
      </p:sp>
      <p:sp>
        <p:nvSpPr>
          <p:cNvPr id="13" name="Text 11"/>
          <p:cNvSpPr/>
          <p:nvPr/>
        </p:nvSpPr>
        <p:spPr>
          <a:xfrm>
            <a:off x="850392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80744" y="45262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สไตล์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80744" y="48646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uistyleguide.com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4343400"/>
            <a:ext cx="3566160" cy="1097280"/>
          </a:xfrm>
          <a:prstGeom prst="roundRect">
            <a:avLst>
              <a:gd name="adj" fmla="val 7500"/>
            </a:avLst>
          </a:prstGeom>
          <a:solidFill>
            <a:srgbClr val="E8F6F7"/>
          </a:solidFill>
          <a:ln w="9525">
            <a:solidFill>
              <a:srgbClr val="E8F6F7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000"/>
          </a:p>
        </p:txBody>
      </p:sp>
      <p:sp>
        <p:nvSpPr>
          <p:cNvPr id="17" name="Shape 15"/>
          <p:cNvSpPr/>
          <p:nvPr/>
        </p:nvSpPr>
        <p:spPr>
          <a:xfrm>
            <a:off x="4553712" y="4617720"/>
            <a:ext cx="384048" cy="384048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 sz="2000"/>
          </a:p>
        </p:txBody>
      </p:sp>
      <p:sp>
        <p:nvSpPr>
          <p:cNvPr id="18" name="Text 16"/>
          <p:cNvSpPr/>
          <p:nvPr/>
        </p:nvSpPr>
        <p:spPr>
          <a:xfrm>
            <a:off x="4553712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84064" y="45262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จานสี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84064" y="48646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colorhunt.co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01000" y="4343400"/>
            <a:ext cx="3566160" cy="1097280"/>
          </a:xfrm>
          <a:prstGeom prst="roundRect">
            <a:avLst>
              <a:gd name="adj" fmla="val 7500"/>
            </a:avLst>
          </a:prstGeom>
          <a:solidFill>
            <a:srgbClr val="E8F6F7"/>
          </a:solidFill>
          <a:ln w="9525">
            <a:solidFill>
              <a:srgbClr val="E8F6F7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000"/>
          </a:p>
        </p:txBody>
      </p:sp>
      <p:sp>
        <p:nvSpPr>
          <p:cNvPr id="22" name="Shape 20"/>
          <p:cNvSpPr/>
          <p:nvPr/>
        </p:nvSpPr>
        <p:spPr>
          <a:xfrm>
            <a:off x="8257032" y="4617720"/>
            <a:ext cx="384048" cy="384048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 sz="2000"/>
          </a:p>
        </p:txBody>
      </p:sp>
      <p:sp>
        <p:nvSpPr>
          <p:cNvPr id="23" name="Text 21"/>
          <p:cNvSpPr/>
          <p:nvPr/>
        </p:nvSpPr>
        <p:spPr>
          <a:xfrm>
            <a:off x="8257032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87384" y="45262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ฟอนต์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787384" y="48646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fonts.google.com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เลือกสไตล์การออกแบบ : uistyleguide.com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89611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เว็บรวมสไตล์ UI กว่า 67 แบบ พร้อมตัวอย่างที่กดเล่นได้จริงและคำแนะนำการใช้ CSS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768096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400"/>
          </a:p>
        </p:txBody>
      </p:sp>
      <p:sp>
        <p:nvSpPr>
          <p:cNvPr id="6" name="Text 4"/>
          <p:cNvSpPr/>
          <p:nvPr/>
        </p:nvSpPr>
        <p:spPr>
          <a:xfrm>
            <a:off x="868680" y="148132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Minimalism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108960" y="148132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อ่านข้อมูลง่าย เหมาะกับงานวิชาการและราชการ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178040" y="162763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TH" sz="2400"/>
          </a:p>
        </p:txBody>
      </p:sp>
      <p:sp>
        <p:nvSpPr>
          <p:cNvPr id="9" name="Text 7"/>
          <p:cNvSpPr/>
          <p:nvPr/>
        </p:nvSpPr>
        <p:spPr>
          <a:xfrm>
            <a:off x="7178040" y="162763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แนะนำ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212848"/>
            <a:ext cx="768096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400"/>
          </a:p>
        </p:txBody>
      </p:sp>
      <p:sp>
        <p:nvSpPr>
          <p:cNvPr id="11" name="Text 9"/>
          <p:cNvSpPr/>
          <p:nvPr/>
        </p:nvSpPr>
        <p:spPr>
          <a:xfrm>
            <a:off x="868680" y="22128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Flat Design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08960" y="221284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เรียบ ทำเร็ว รองรับหลายขนาดจอได้ดี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178040" y="235915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8F6F7"/>
          </a:solidFill>
          <a:ln w="12700">
            <a:solidFill>
              <a:srgbClr val="E8F6F7"/>
            </a:solidFill>
            <a:prstDash val="solid"/>
          </a:ln>
        </p:spPr>
        <p:txBody>
          <a:bodyPr/>
          <a:lstStyle/>
          <a:p>
            <a:endParaRPr lang="en-TH" sz="2400"/>
          </a:p>
        </p:txBody>
      </p:sp>
      <p:sp>
        <p:nvSpPr>
          <p:cNvPr id="14" name="Text 12"/>
          <p:cNvSpPr/>
          <p:nvPr/>
        </p:nvSpPr>
        <p:spPr>
          <a:xfrm>
            <a:off x="7178040" y="235915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DB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ใช้ได้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2944368"/>
            <a:ext cx="768096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400"/>
          </a:p>
        </p:txBody>
      </p:sp>
      <p:sp>
        <p:nvSpPr>
          <p:cNvPr id="16" name="Text 14"/>
          <p:cNvSpPr/>
          <p:nvPr/>
        </p:nvSpPr>
        <p:spPr>
          <a:xfrm>
            <a:off x="868680" y="29443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Soft UI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108960" y="294436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นุ่มนวลสบายตา แต่ต้องระวังความคมชัดของตัวอักษร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7178040" y="309067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TH" sz="2400"/>
          </a:p>
        </p:txBody>
      </p:sp>
      <p:sp>
        <p:nvSpPr>
          <p:cNvPr id="19" name="Text 17"/>
          <p:cNvSpPr/>
          <p:nvPr/>
        </p:nvSpPr>
        <p:spPr>
          <a:xfrm>
            <a:off x="7178040" y="309067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4530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ระวัง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3675888"/>
            <a:ext cx="768096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400"/>
          </a:p>
        </p:txBody>
      </p:sp>
      <p:sp>
        <p:nvSpPr>
          <p:cNvPr id="21" name="Text 19"/>
          <p:cNvSpPr/>
          <p:nvPr/>
        </p:nvSpPr>
        <p:spPr>
          <a:xfrm>
            <a:off x="868680" y="367588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Glassmorphism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108960" y="367588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สวยแต่ทำให้อ่านตัวเลข KPI ยาก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7178040" y="382219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TH" sz="2400"/>
          </a:p>
        </p:txBody>
      </p:sp>
      <p:sp>
        <p:nvSpPr>
          <p:cNvPr id="24" name="Text 22"/>
          <p:cNvSpPr/>
          <p:nvPr/>
        </p:nvSpPr>
        <p:spPr>
          <a:xfrm>
            <a:off x="7178040" y="382219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ไม่แนะนำ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03920" y="1481328"/>
            <a:ext cx="3063240" cy="2980944"/>
          </a:xfrm>
          <a:prstGeom prst="roundRect">
            <a:avLst>
              <a:gd name="adj" fmla="val 2761"/>
            </a:avLst>
          </a:prstGeom>
          <a:solidFill>
            <a:srgbClr val="E8F6F7"/>
          </a:solidFill>
          <a:ln w="9525">
            <a:solidFill>
              <a:srgbClr val="E8F6F7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400"/>
          </a:p>
        </p:txBody>
      </p:sp>
      <p:sp>
        <p:nvSpPr>
          <p:cNvPr id="26" name="Text 24"/>
          <p:cNvSpPr/>
          <p:nvPr/>
        </p:nvSpPr>
        <p:spPr>
          <a:xfrm>
            <a:off x="8732520" y="162763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DB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วิธีจดสไตล์ลงสเปก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732520" y="19568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เขียนหลักการที่ “มองเห็นได้จริง” 3–5 ข้อ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8732520" y="2340864"/>
            <a:ext cx="2560320" cy="777240"/>
          </a:xfrm>
          <a:prstGeom prst="roundRect">
            <a:avLst>
              <a:gd name="adj" fmla="val 8235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TH" sz="2400"/>
          </a:p>
        </p:txBody>
      </p:sp>
      <p:sp>
        <p:nvSpPr>
          <p:cNvPr id="29" name="Text 27"/>
          <p:cNvSpPr/>
          <p:nvPr/>
        </p:nvSpPr>
        <p:spPr>
          <a:xfrm>
            <a:off x="8915400" y="239572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C262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อย่าเขียนว่า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C262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“ทำให้ดูโมเดิร์น”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8732520" y="3218688"/>
            <a:ext cx="2560320" cy="1097280"/>
          </a:xfrm>
          <a:prstGeom prst="roundRect">
            <a:avLst>
              <a:gd name="adj" fmla="val 5833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TH" sz="2400"/>
          </a:p>
        </p:txBody>
      </p:sp>
      <p:sp>
        <p:nvSpPr>
          <p:cNvPr id="31" name="Text 29"/>
          <p:cNvSpPr/>
          <p:nvPr/>
        </p:nvSpPr>
        <p:spPr>
          <a:xfrm>
            <a:off x="8915400" y="32918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ให้เขียนว่า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“การ์ดพื้นขาว มุมมน 12px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เงาอ่อน ไม่มีเส้นขอบหนา”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4360" y="6263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เลือกเพียงหนึ่งสไตล์ แล้วยึดให้ตลอดทั้งระบบ — การผสมหลายสไตล์คือสาเหตุอันดับหนึ่งที่ทำให้งานดูไม่เป็นมืออาชีพ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27496A-2BA5-5A3D-72E1-B2411E2D0DE3}"/>
              </a:ext>
            </a:extLst>
          </p:cNvPr>
          <p:cNvSpPr txBox="1"/>
          <p:nvPr/>
        </p:nvSpPr>
        <p:spPr>
          <a:xfrm>
            <a:off x="416490" y="5626697"/>
            <a:ext cx="6093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sz="1400"/>
              <a:t>https://ixdf.org/literature/article/top-10-ui-trends-every-designer-should-know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05E196-E949-DE44-FE48-457784EBC698}"/>
              </a:ext>
            </a:extLst>
          </p:cNvPr>
          <p:cNvSpPr txBox="1"/>
          <p:nvPr/>
        </p:nvSpPr>
        <p:spPr>
          <a:xfrm>
            <a:off x="7280753" y="5626697"/>
            <a:ext cx="6093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sz="1400"/>
              <a:t>https://www.uistyleguide.com/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2080FF-2229-41D4-95D0-E027681C9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48" y="637766"/>
            <a:ext cx="3206663" cy="47849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DBBC1F-7B69-DDD2-31F2-83BF9F61A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530" y="1252602"/>
            <a:ext cx="5845827" cy="366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974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เลือกสี : colorhunt.co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89611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เลือกชุดสี 4 สีที่ผ่านการจับคู่มาแล้ว แทนการเดาสีเอง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จานสีที่เวิร์กช็อปนี้ใช้เป็นค่าเริ่มต้น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" y="1755648"/>
            <a:ext cx="1298448" cy="1051560"/>
          </a:xfrm>
          <a:prstGeom prst="roundRect">
            <a:avLst>
              <a:gd name="adj" fmla="val 7826"/>
            </a:avLst>
          </a:prstGeom>
          <a:solidFill>
            <a:srgbClr val="222831"/>
          </a:solidFill>
          <a:ln w="9525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94360" y="1755648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#222831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39112" y="1755648"/>
            <a:ext cx="1298448" cy="1051560"/>
          </a:xfrm>
          <a:prstGeom prst="roundRect">
            <a:avLst>
              <a:gd name="adj" fmla="val 7826"/>
            </a:avLst>
          </a:prstGeom>
          <a:solidFill>
            <a:srgbClr val="393E46"/>
          </a:solidFill>
          <a:ln w="9525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2039112" y="1755648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#393E46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83864" y="1755648"/>
            <a:ext cx="1298448" cy="1051560"/>
          </a:xfrm>
          <a:prstGeom prst="roundRect">
            <a:avLst>
              <a:gd name="adj" fmla="val 7826"/>
            </a:avLst>
          </a:prstGeom>
          <a:solidFill>
            <a:srgbClr val="00ADB5"/>
          </a:solidFill>
          <a:ln w="9525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3483864" y="1755648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#00ADB5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28616" y="1755648"/>
            <a:ext cx="1298448" cy="1051560"/>
          </a:xfrm>
          <a:prstGeom prst="roundRect">
            <a:avLst>
              <a:gd name="adj" fmla="val 7826"/>
            </a:avLst>
          </a:prstGeom>
          <a:solidFill>
            <a:srgbClr val="EEEEEE"/>
          </a:solidFill>
          <a:ln w="9525">
            <a:solidFill>
              <a:srgbClr val="E1E4E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4928616" y="1755648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#EEEEEE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299923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จับคู่สีเข้ากับหน้าที่ ด้วยหลัก 60 – 30 – 10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4360" y="3401568"/>
            <a:ext cx="5669280" cy="475488"/>
          </a:xfrm>
          <a:prstGeom prst="roundRect">
            <a:avLst>
              <a:gd name="adj" fmla="val 17308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813816" y="34015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สีอ่อนที่สุด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2606040" y="340156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พื้นหลังหน้าเว็บ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32120" y="340156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968496"/>
            <a:ext cx="5669280" cy="475488"/>
          </a:xfrm>
          <a:prstGeom prst="roundRect">
            <a:avLst>
              <a:gd name="adj" fmla="val 17308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813816" y="39684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สีเข้มที่สุด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2606040" y="396849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ตัวอักษรและแถบเมนู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32120" y="396849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4535424"/>
            <a:ext cx="5669280" cy="475488"/>
          </a:xfrm>
          <a:prstGeom prst="roundRect">
            <a:avLst>
              <a:gd name="adj" fmla="val 17308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813816" y="453542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สีที่สดที่สุด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2606040" y="453542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ปุ่มหลักและจุดเน้นเท่านั้น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532120" y="453542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A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1371600"/>
            <a:ext cx="4983480" cy="1691640"/>
          </a:xfrm>
          <a:prstGeom prst="roundRect">
            <a:avLst>
              <a:gd name="adj" fmla="val 4865"/>
            </a:avLst>
          </a:prstGeom>
          <a:solidFill>
            <a:srgbClr val="E8F6F7"/>
          </a:solidFill>
          <a:ln w="9525">
            <a:solidFill>
              <a:srgbClr val="E8F6F7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6812280" y="149961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DB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ตรวจความคมชัดเสมอ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12280" y="184708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สีตัวอักษรกับสีพื้นหลังต้องมีอัตราส่วนความคมชัดอย่างน้อย 4.5 : 1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ตรวจได้ที่ webaim.org/resources/contrastchecker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583680" y="3200400"/>
            <a:ext cx="4983480" cy="213969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6812280" y="332841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สีสถานะ — ไม่ต้องเปลี่ยน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858000" y="3712464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6858000" y="371246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เปิดรับ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58000" y="4169664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6858000" y="416966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530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ใกล้หมดเขต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858000" y="4626864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6858000" y="462686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546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ปิดรับแล้ว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549640" y="3712464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เขียว – เหลือง – เทา เป็นสีสื่อความหมายที่คนทั่วโลกเข้าใจตรงกัน การเปลี่ยนจะทำให้ผู้ใช้สับสน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B78BE8-CFA4-D873-DA78-DE403BBA6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113" y="445974"/>
            <a:ext cx="7209773" cy="55574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EB1F6F-D3EE-BAC3-1304-DEA56D3D870A}"/>
              </a:ext>
            </a:extLst>
          </p:cNvPr>
          <p:cNvSpPr txBox="1"/>
          <p:nvPr/>
        </p:nvSpPr>
        <p:spPr>
          <a:xfrm>
            <a:off x="2583493" y="6073242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/>
              <a:t>https://colorhunt.co/</a:t>
            </a:r>
          </a:p>
        </p:txBody>
      </p:sp>
    </p:spTree>
    <p:extLst>
      <p:ext uri="{BB962C8B-B14F-4D97-AF65-F5344CB8AC3E}">
        <p14:creationId xmlns:p14="http://schemas.microsoft.com/office/powerpoint/2010/main" val="1853283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เลือกฟอนต์ : Google Fonts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89611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สำคัญมาก — ต้องกรอง Language = Thai เท่านั้น มิฉะนั้นสระและวรรณยุกต์จะแสดงผลเพี้ยน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7498080" cy="512064"/>
          </a:xfrm>
          <a:prstGeom prst="roundRect">
            <a:avLst>
              <a:gd name="adj" fmla="val 16071"/>
            </a:avLst>
          </a:prstGeom>
          <a:solidFill>
            <a:srgbClr val="E8F6F7"/>
          </a:solidFill>
          <a:ln w="9525">
            <a:solidFill>
              <a:srgbClr val="E8F6F7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400"/>
          </a:p>
        </p:txBody>
      </p:sp>
      <p:sp>
        <p:nvSpPr>
          <p:cNvPr id="6" name="Text 4"/>
          <p:cNvSpPr/>
          <p:nvPr/>
        </p:nvSpPr>
        <p:spPr>
          <a:xfrm>
            <a:off x="850392" y="148132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DB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Sarabun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0" y="148132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ทางการ อ่านง่าย เป็นกลาง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72200" y="14813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เอกสารวิชาการและราชการ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94360" y="2084832"/>
            <a:ext cx="7498080" cy="512064"/>
          </a:xfrm>
          <a:prstGeom prst="roundRect">
            <a:avLst>
              <a:gd name="adj" fmla="val 16071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400"/>
          </a:p>
        </p:txBody>
      </p:sp>
      <p:sp>
        <p:nvSpPr>
          <p:cNvPr id="10" name="Text 8"/>
          <p:cNvSpPr/>
          <p:nvPr/>
        </p:nvSpPr>
        <p:spPr>
          <a:xfrm>
            <a:off x="850392" y="208483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IBM Plex Sans Thai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0" y="208483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สมัยใหม่ ตัวเลขคมชัด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72200" y="208483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ระบบข้อมูลและแดชบอร์ด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94360" y="2688336"/>
            <a:ext cx="7498080" cy="512064"/>
          </a:xfrm>
          <a:prstGeom prst="roundRect">
            <a:avLst>
              <a:gd name="adj" fmla="val 16071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400"/>
          </a:p>
        </p:txBody>
      </p:sp>
      <p:sp>
        <p:nvSpPr>
          <p:cNvPr id="14" name="Text 12"/>
          <p:cNvSpPr/>
          <p:nvPr/>
        </p:nvSpPr>
        <p:spPr>
          <a:xfrm>
            <a:off x="850392" y="268833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Noto Sans Thai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00400" y="268833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กลาง ๆ ปลอดภัย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72200" y="268833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ใช้ได้กับทุกงาน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94360" y="3291840"/>
            <a:ext cx="7498080" cy="512064"/>
          </a:xfrm>
          <a:prstGeom prst="roundRect">
            <a:avLst>
              <a:gd name="adj" fmla="val 16071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400"/>
          </a:p>
        </p:txBody>
      </p:sp>
      <p:sp>
        <p:nvSpPr>
          <p:cNvPr id="18" name="Text 16"/>
          <p:cNvSpPr/>
          <p:nvPr/>
        </p:nvSpPr>
        <p:spPr>
          <a:xfrm>
            <a:off x="850392" y="32918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Prompt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00400" y="329184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โมเดิร์น เรขาคณิต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72200" y="329184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เว็บองค์กรและงาน ปชส.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94360" y="3895344"/>
            <a:ext cx="7498080" cy="512064"/>
          </a:xfrm>
          <a:prstGeom prst="roundRect">
            <a:avLst>
              <a:gd name="adj" fmla="val 16071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400"/>
          </a:p>
        </p:txBody>
      </p:sp>
      <p:sp>
        <p:nvSpPr>
          <p:cNvPr id="22" name="Text 20"/>
          <p:cNvSpPr/>
          <p:nvPr/>
        </p:nvSpPr>
        <p:spPr>
          <a:xfrm>
            <a:off x="850392" y="389534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Kanit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00400" y="389534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หนักแน่น เด่นชัด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72200" y="389534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หัวข้อใหญ่ ไม่เหมาะเนื้อหายาว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8321040" y="1481328"/>
            <a:ext cx="3246120" cy="2999232"/>
          </a:xfrm>
          <a:prstGeom prst="roundRect">
            <a:avLst>
              <a:gd name="adj" fmla="val 2744"/>
            </a:avLst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400"/>
          </a:p>
        </p:txBody>
      </p:sp>
      <p:sp>
        <p:nvSpPr>
          <p:cNvPr id="26" name="Text 24"/>
          <p:cNvSpPr/>
          <p:nvPr/>
        </p:nvSpPr>
        <p:spPr>
          <a:xfrm>
            <a:off x="8549640" y="162763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กฎการใช้ฟอนต์ไทย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8549640" y="2011680"/>
            <a:ext cx="310896" cy="310896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 sz="2400"/>
          </a:p>
        </p:txBody>
      </p:sp>
      <p:sp>
        <p:nvSpPr>
          <p:cNvPr id="28" name="Text 26"/>
          <p:cNvSpPr/>
          <p:nvPr/>
        </p:nvSpPr>
        <p:spPr>
          <a:xfrm>
            <a:off x="854964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970264" y="197510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โหลดแค่ 2–3 น้ำหนัก (400 / 600 / 700) โหลดหมดทำให้เว็บช้า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8549640" y="2834640"/>
            <a:ext cx="310896" cy="310896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 sz="2400"/>
          </a:p>
        </p:txBody>
      </p:sp>
      <p:sp>
        <p:nvSpPr>
          <p:cNvPr id="31" name="Text 29"/>
          <p:cNvSpPr/>
          <p:nvPr/>
        </p:nvSpPr>
        <p:spPr>
          <a:xfrm>
            <a:off x="854964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970264" y="279806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ตั้ง line-height อย่างน้อย 1.6 เพราะภาษาไทยมีสระบนและล่าง ถ้าบรรทัดชิดจะชนกัน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8549640" y="3657600"/>
            <a:ext cx="310896" cy="310896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 sz="2400"/>
          </a:p>
        </p:txBody>
      </p:sp>
      <p:sp>
        <p:nvSpPr>
          <p:cNvPr id="34" name="Text 32"/>
          <p:cNvSpPr/>
          <p:nvPr/>
        </p:nvSpPr>
        <p:spPr>
          <a:xfrm>
            <a:off x="854964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970264" y="362102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ห้ามใช้ text-transform uppercase เพราะภาษาไทยไม่มีตัวพิมพ์ใหญ่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94360" y="6263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ค้นได้ที่ fonts.google.com/?subset=thai  ·  สเปกของเราตั้งค่าเริ่มต้นไว้ที่ Sarabun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3F3709-EC61-39AB-69FD-B6876A285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01457"/>
            <a:ext cx="7772400" cy="51647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7F63ED-EEDD-2394-5122-D80F4E2ADF0A}"/>
              </a:ext>
            </a:extLst>
          </p:cNvPr>
          <p:cNvSpPr txBox="1"/>
          <p:nvPr/>
        </p:nvSpPr>
        <p:spPr>
          <a:xfrm>
            <a:off x="2520863" y="6208645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/>
              <a:t>https://fonts.google.com/?query=thai</a:t>
            </a:r>
          </a:p>
        </p:txBody>
      </p:sp>
    </p:spTree>
    <p:extLst>
      <p:ext uri="{BB962C8B-B14F-4D97-AF65-F5344CB8AC3E}">
        <p14:creationId xmlns:p14="http://schemas.microsoft.com/office/powerpoint/2010/main" val="31167141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2212848"/>
            <a:ext cx="960120" cy="960120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94360" y="221284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05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286000"/>
            <a:ext cx="9646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ฐานข้อมูลและการสร้างแอป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920240" y="2907792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FB0B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จากสเปก สู่ระบบที่ใช้งานได้จริง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สร้างฐานข้อมูลด้วย Supabase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89611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สามขั้นตอน ใช้เวลารวมไม่เกิน 15 นาที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6858000" cy="786384"/>
          </a:xfrm>
          <a:prstGeom prst="roundRect">
            <a:avLst>
              <a:gd name="adj" fmla="val 10465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832104" y="1618488"/>
            <a:ext cx="384048" cy="384048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832104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44168" y="149047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สร้างโปรเจกต์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44168" y="181965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ตั้งชื่อ fundinghub เลือก region Singapore และตั้งรหัสผ่านฐานข้อมูลเอง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4360" y="2350008"/>
            <a:ext cx="6858000" cy="786384"/>
          </a:xfrm>
          <a:prstGeom prst="roundRect">
            <a:avLst>
              <a:gd name="adj" fmla="val 10465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832104" y="2551176"/>
            <a:ext cx="384048" cy="384048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832104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44168" y="242316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รัน SQL สร้างตาราง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44168" y="275234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คัดลอกคำสั่งจาก จาก AI </a:t>
            </a:r>
            <a:r>
              <a:rPr lang="th-TH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ที่ให้มา </a:t>
            </a: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ครอบคลุมตาราง ดัชนี trigger และ RLS policy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4360" y="3282696"/>
            <a:ext cx="6858000" cy="786384"/>
          </a:xfrm>
          <a:prstGeom prst="roundRect">
            <a:avLst>
              <a:gd name="adj" fmla="val 10465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832104" y="3483864"/>
            <a:ext cx="384048" cy="384048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832104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44168" y="335584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ใส่ข้อมูลตัวอย่างและคัดลอกกุญแจ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44168" y="368503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รัน INSERT จาก AI </a:t>
            </a:r>
            <a:r>
              <a:rPr lang="th-TH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ที่ให้มา </a:t>
            </a: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แล้วคัดลอก Project URL กับ anon key มาไว้ใน .env.local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94360" y="4261104"/>
            <a:ext cx="6858000" cy="1143000"/>
          </a:xfrm>
          <a:prstGeom prst="roundRect">
            <a:avLst>
              <a:gd name="adj" fmla="val 7200"/>
            </a:avLst>
          </a:prstGeom>
          <a:solidFill>
            <a:srgbClr val="E8F6F7"/>
          </a:solidFill>
          <a:ln w="9525">
            <a:solidFill>
              <a:srgbClr val="E8F6F7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868680" y="438912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DB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RLS — Row Level Security คืออะไร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4718304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กติกาในฐานข้อมูลที่กำหนดว่า “ใครทำอะไรกับแถวไหนได้บ้าง” เวิร์กช็อปนี้เปิดสิทธิ์ให้ทุกคนเพื่อความง่าย แต่ระบบใช้งานจริงต้องผูกกับผู้ใช้ที่ล็อกอิน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7680960" y="1417320"/>
            <a:ext cx="3886200" cy="3986784"/>
          </a:xfrm>
          <a:prstGeom prst="roundRect">
            <a:avLst>
              <a:gd name="adj" fmla="val 235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7909560" y="160020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C262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กฎเหล็กเรื่องความลับ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909560" y="20116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ใช้ได้เฉพาะ anon key เท่านั้น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service_role key ห้ามปรากฏในฝั่งหน้าเว็บเด็ดขาด เพราะข้าม RLS ได้ทั้งหมด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รหัสผ่านฐานข้อมูลห้ามเขียนลงไฟล์ใด ๆ ในโปรเจกต์ และห้ามส่งให้ AI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ใส่ .env.local ไว้ใน .gitignore เสมอ ก่อน push ให้รัน git status ตรวจซ้ำ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7909560" y="4480560"/>
            <a:ext cx="33832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8092440" y="4535424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262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สังเกตว่าโจทย์ต้นฉบับมีบรรทัด password: xxx — นี่คือตัวอย่างของสิ่งที่ไม่ควรเขียนไว้ในเอกสารที่แชร์กัน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F555BF37-A986-2AF9-A98F-97D659CA9AEB}"/>
              </a:ext>
            </a:extLst>
          </p:cNvPr>
          <p:cNvSpPr/>
          <p:nvPr/>
        </p:nvSpPr>
        <p:spPr>
          <a:xfrm>
            <a:off x="0" y="3108960"/>
            <a:ext cx="121919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324A"/>
                </a:solidFill>
              </a:rPr>
              <a:t>Requirement → Spec → UI/Data Model → Implementation → Test → Deploy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683300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ข้อจำกัดของ AI และความรับผิดชอบของเรา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89611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A94A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สิ่งที่ต้องจำให้ขึ้นใจเมื่อกลับไปทำงานจริง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5340096" cy="1572768"/>
          </a:xfrm>
          <a:prstGeom prst="roundRect">
            <a:avLst>
              <a:gd name="adj" fmla="val 5233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000"/>
          </a:p>
        </p:txBody>
      </p:sp>
      <p:sp>
        <p:nvSpPr>
          <p:cNvPr id="6" name="Shape 4"/>
          <p:cNvSpPr/>
          <p:nvPr/>
        </p:nvSpPr>
        <p:spPr>
          <a:xfrm>
            <a:off x="850392" y="1737360"/>
            <a:ext cx="402336" cy="402336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 sz="2000"/>
          </a:p>
        </p:txBody>
      </p:sp>
      <p:sp>
        <p:nvSpPr>
          <p:cNvPr id="7" name="Text 5"/>
          <p:cNvSpPr/>
          <p:nvPr/>
        </p:nvSpPr>
        <p:spPr>
          <a:xfrm>
            <a:off x="85039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80744" y="17007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AI ไม่รู้ว่าอะไรถูก ถ้าเราไม่บอก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80744" y="2139696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มันทำตามสิ่งที่เขียนไว้ ไม่ใช่สิ่งที่เราคิดในใจ ความคลุมเครือทุกจุดจะกลายเป็นการเดา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227064" y="1481328"/>
            <a:ext cx="5340096" cy="1572768"/>
          </a:xfrm>
          <a:prstGeom prst="roundRect">
            <a:avLst>
              <a:gd name="adj" fmla="val 5233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000"/>
          </a:p>
        </p:txBody>
      </p:sp>
      <p:sp>
        <p:nvSpPr>
          <p:cNvPr id="11" name="Shape 9"/>
          <p:cNvSpPr/>
          <p:nvPr/>
        </p:nvSpPr>
        <p:spPr>
          <a:xfrm>
            <a:off x="6483096" y="1737360"/>
            <a:ext cx="402336" cy="402336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 sz="2000"/>
          </a:p>
        </p:txBody>
      </p:sp>
      <p:sp>
        <p:nvSpPr>
          <p:cNvPr id="12" name="Text 10"/>
          <p:cNvSpPr/>
          <p:nvPr/>
        </p:nvSpPr>
        <p:spPr>
          <a:xfrm>
            <a:off x="6483096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13448" y="17007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โค้ดที่ได้ยังเป็นความรับผิดชอบของเรา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013448" y="2139696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ต้องอ่าน ต้องทดสอบ ต้องเข้าใจก่อนนำไปใช้จริง โดยเฉพาะระบบที่มีข้อมูลของคนอื่น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4360" y="3264408"/>
            <a:ext cx="5340096" cy="1572768"/>
          </a:xfrm>
          <a:prstGeom prst="roundRect">
            <a:avLst>
              <a:gd name="adj" fmla="val 5233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000"/>
          </a:p>
        </p:txBody>
      </p:sp>
      <p:sp>
        <p:nvSpPr>
          <p:cNvPr id="16" name="Shape 14"/>
          <p:cNvSpPr/>
          <p:nvPr/>
        </p:nvSpPr>
        <p:spPr>
          <a:xfrm>
            <a:off x="850392" y="3520440"/>
            <a:ext cx="402336" cy="402336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 sz="2000"/>
          </a:p>
        </p:txBody>
      </p:sp>
      <p:sp>
        <p:nvSpPr>
          <p:cNvPr id="17" name="Text 15"/>
          <p:cNvSpPr/>
          <p:nvPr/>
        </p:nvSpPr>
        <p:spPr>
          <a:xfrm>
            <a:off x="850392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80744" y="348386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ความลับห้ามอยู่ในโค้ด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80744" y="3922776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กุญแจ รหัสผ่าน และข้อมูลส่วนบุคคล ต้องอยู่นอกโปรเจกต์เสมอ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227064" y="3264408"/>
            <a:ext cx="5340096" cy="1572768"/>
          </a:xfrm>
          <a:prstGeom prst="roundRect">
            <a:avLst>
              <a:gd name="adj" fmla="val 5233"/>
            </a:avLst>
          </a:prstGeom>
          <a:solidFill>
            <a:srgbClr val="F5F7F8"/>
          </a:solidFill>
          <a:ln w="9525">
            <a:solidFill>
              <a:srgbClr val="F5F7F8"/>
            </a:solidFill>
            <a:prstDash val="solid"/>
          </a:ln>
          <a:effectLst>
            <a:outerShdw blurRad="101600" dist="12700" dir="5400000" algn="bl" rotWithShape="0">
              <a:srgbClr val="222831">
                <a:alpha val="10000"/>
              </a:srgbClr>
            </a:outerShdw>
          </a:effectLst>
        </p:spPr>
        <p:txBody>
          <a:bodyPr/>
          <a:lstStyle/>
          <a:p>
            <a:endParaRPr lang="en-TH" sz="2000"/>
          </a:p>
        </p:txBody>
      </p:sp>
      <p:sp>
        <p:nvSpPr>
          <p:cNvPr id="21" name="Shape 19"/>
          <p:cNvSpPr/>
          <p:nvPr/>
        </p:nvSpPr>
        <p:spPr>
          <a:xfrm>
            <a:off x="6483096" y="3520440"/>
            <a:ext cx="402336" cy="402336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 sz="2000"/>
          </a:p>
        </p:txBody>
      </p:sp>
      <p:sp>
        <p:nvSpPr>
          <p:cNvPr id="22" name="Text 20"/>
          <p:cNvSpPr/>
          <p:nvPr/>
        </p:nvSpPr>
        <p:spPr>
          <a:xfrm>
            <a:off x="6483096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13448" y="348386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83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ระบบจริงต้องมีสิทธิ์ผู้ใช้จริง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13448" y="3922776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93E4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RLS แบบเปิดทุกสิทธิ์ใช้ได้เฉพาะการฝึกอบรม ระบบที่มีข้อมูลจริงต้องผูกกับผู้ใช้ที่ล็อกอินและคำนึงถึง PDPA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3AD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สรุปสิ่งที่ได้เรียนรู้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2E3742"/>
          </a:solidFill>
          <a:ln w="12700">
            <a:solidFill>
              <a:srgbClr val="2E374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32104" y="1655064"/>
            <a:ext cx="365760" cy="365760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832104" y="1655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44168" y="148132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เขียนสเปกก่อน แล้วค่อยสั่ง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623560" y="1481328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9FB0B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SPEC ไฟล์เดียว + prompt สั้นที่อ้างหมายเลขหัวข้อ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94360" y="2322576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2E3742"/>
          </a:solidFill>
          <a:ln w="12700">
            <a:solidFill>
              <a:srgbClr val="2E374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832104" y="2496312"/>
            <a:ext cx="365760" cy="365760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832104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44168" y="232257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ออกแบบก่อนสร้าง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623560" y="2322576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9FB0B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สไตล์จาก uistyleguide · สีจาก colorhunt · ฟอนต์จาก Google Fonts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94360" y="3163824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2E3742"/>
          </a:solidFill>
          <a:ln w="12700">
            <a:solidFill>
              <a:srgbClr val="2E374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832104" y="3337560"/>
            <a:ext cx="365760" cy="365760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832104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44168" y="316382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สร้างทีละชั้น ตรวจทีละชั้น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623560" y="3163824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9FB0B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ตรวจด้วยเกณฑ์ยอมรับที่วัดผลได้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94360" y="4005072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2E3742"/>
          </a:solidFill>
          <a:ln w="12700">
            <a:solidFill>
              <a:srgbClr val="2E374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832104" y="4178808"/>
            <a:ext cx="365760" cy="365760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832104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44168" y="400507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งานเสร็จเมื่อคนอื่นเปิดใช้ได้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5623560" y="4005072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9FB0B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ทดสอบ 3 ระดับ แล้วนำขึ้น GitHub Pages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9436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DB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ขอบคุณครับ  ·  ช่วงถาม-ตอบ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2667</Words>
  <Application>Microsoft Macintosh PowerPoint</Application>
  <PresentationFormat>Widescreen</PresentationFormat>
  <Paragraphs>429</Paragraphs>
  <Slides>30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Courier New</vt:lpstr>
      <vt:lpstr>Tahoma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การพัฒนา Web Application ด้วย Google Antigravity</dc:title>
  <dc:subject>PptxGenJS Presentation</dc:subject>
  <dc:creator>Workshop: Funding Hub x Google Antigravity</dc:creator>
  <cp:lastModifiedBy>SAKDA HOMHUAN</cp:lastModifiedBy>
  <cp:revision>26</cp:revision>
  <dcterms:created xsi:type="dcterms:W3CDTF">2026-08-18T22:19:13Z</dcterms:created>
  <dcterms:modified xsi:type="dcterms:W3CDTF">2026-08-19T06:15:23Z</dcterms:modified>
</cp:coreProperties>
</file>