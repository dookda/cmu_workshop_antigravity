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94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8" r:id="rId19"/>
    <p:sldId id="279" r:id="rId20"/>
    <p:sldId id="280" r:id="rId21"/>
    <p:sldId id="297" r:id="rId22"/>
    <p:sldId id="281" r:id="rId23"/>
    <p:sldId id="296" r:id="rId24"/>
    <p:sldId id="282" r:id="rId25"/>
    <p:sldId id="298" r:id="rId26"/>
    <p:sldId id="284" r:id="rId27"/>
    <p:sldId id="285" r:id="rId28"/>
    <p:sldId id="295" r:id="rId29"/>
    <p:sldId id="292" r:id="rId30"/>
    <p:sldId id="293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3341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แนะนำตัว 2 นาที. ย้ำว่าวันนี้ทุกคนจะได้ระบบจริงที่เปิดจากมือถือได้ก่อนกลับบ้าน. ประโยคสำคัญ: AI เก่งเรื่อง "ทำอย่างไร" แต่เราต้องเป็นคนตอบว่า "ทำอะไร และทำไม".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852160" cy="5852160"/>
          </a:xfrm>
          <a:prstGeom prst="ellipse">
            <a:avLst/>
          </a:prstGeom>
          <a:solidFill>
            <a:srgbClr val="1B3A57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3" name="Shape 1"/>
          <p:cNvSpPr/>
          <p:nvPr/>
        </p:nvSpPr>
        <p:spPr>
          <a:xfrm>
            <a:off x="10241280" y="3840480"/>
            <a:ext cx="3840480" cy="3840480"/>
          </a:xfrm>
          <a:prstGeom prst="ellipse">
            <a:avLst/>
          </a:prstGeom>
          <a:solidFill>
            <a:srgbClr val="17324B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103120" cy="292608"/>
          </a:xfrm>
          <a:prstGeom prst="roundRect">
            <a:avLst>
              <a:gd name="adj" fmla="val 40625"/>
            </a:avLst>
          </a:prstGeom>
          <a:solidFill>
            <a:srgbClr val="E8952F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8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WORKSHOP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17556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สร้างเว็บแอปด้วย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26771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Google Antigravity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66928" y="4663440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566928" y="4663440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ออกแบบด้วย Flowchart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98064" y="466344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2798064" y="4663440"/>
            <a:ext cx="1618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 เขียนโค้ด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4663440"/>
            <a:ext cx="2156155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4581144" y="4663440"/>
            <a:ext cx="21561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Browser Agent ตรวจงาน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01891" y="4663440"/>
            <a:ext cx="1528877" cy="402336"/>
          </a:xfrm>
          <a:prstGeom prst="roundRect">
            <a:avLst>
              <a:gd name="adj" fmla="val 50000"/>
            </a:avLst>
          </a:prstGeom>
          <a:solidFill>
            <a:srgbClr val="1F4463"/>
          </a:solidFill>
          <a:ln/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6901891" y="4663440"/>
            <a:ext cx="152887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CFE0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ใช้จริง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62356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h-TH" sz="1200" dirty="0">
                <a:solidFill>
                  <a:srgbClr val="8FA9B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ศักดิ์ดา หอมหวล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064240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F91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900" dirty="0"/>
          </a:p>
        </p:txBody>
      </p:sp>
      <p:pic>
        <p:nvPicPr>
          <p:cNvPr id="19" name="Picture 18" descr="Antigravity IDE Community - Guides, Tutorials &amp; Reviews (Unofficial)">
            <a:extLst>
              <a:ext uri="{FF2B5EF4-FFF2-40B4-BE49-F238E27FC236}">
                <a16:creationId xmlns:a16="http://schemas.microsoft.com/office/drawing/2014/main" id="{23648048-B75D-7042-BBC9-454592533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306" y="1591056"/>
            <a:ext cx="2942083" cy="27067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เป้าหมาย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เมื่อจบวันนี้ ผู้เข้าอบรมจะทำสิ่งเหล่านี้ได้ด้วยตนเอง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เข้าใจโครงสร้างเว็บแอปพลิเคชัน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แยกออกว่า Frontend / Backend / Database ทำหน้าที่ต่างกันอย่างไร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สั่งงาน AI Agent ด้วย Antigravity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214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Editor, Agent, Artifacts และ Browser Subagent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เขียนสเปกที่ AI ทำตามได้จริง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แปลงโจทย์เป็นเอกสารสเปกไฟล์เดียว พร้อมเกณฑ์ยอมรับที่วัดผลได้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054096"/>
            <a:ext cx="5340096" cy="1371600"/>
          </a:xfrm>
          <a:prstGeom prst="roundRect">
            <a:avLst>
              <a:gd name="adj" fmla="val 60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310128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สร้างเว็บที่ใช้งานได้จริงและนำขึ้นระบบ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694176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ครบ 4 หน้า เชื่อมฐานข้อมูลจริง และเปิดจาก URL สาธารณะ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พื้นฐาน Web Application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รู้ว่าเรากำลังสร้างอะไร ก่อนจะสั่งให้ AI สร้างให้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ต่างจาก เว็บแอปพลิเคชัน อย่างไร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เว็บไซต์ (Website)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ผู้ใช้อ่านอย่างเดียว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เนื้อหาคงที่ แก้ต้องแก้ไฟล์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ไม่จำเป็นต้องมีฐานข้อมูล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หน้าประชาสัมพันธ์คณะ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137160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เว็บแอปพลิเคชัน (Web Application)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05740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ผู้ใช้ป้อน แก้ไข และลบข้อมูลได้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เนื้อหาเปลี่ยนตามข้อมูลในระบบ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ต้องมีฐานข้อมูลเสมอ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: Funding Hub ที่เราจะสร้าง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4360" y="480060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F5F7F8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48006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Funding Hub เป็นเว็บแอปพลิเคชัน เพราะมีการ เพิ่ม / อ่าน / แก้ไข / ลบ ข้อมูล — เรียกรวมว่า CRUD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สถาปัตยกรรม 3 ชั้นของเว็บแอปพลิเคชัน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ทุกเว็บแอปในโลกนี้ประกอบด้วยสามชั้นนี้เสมอ ไม่ว่าจะใช้เทคโนโลยีอะไร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Frontend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32104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สิ่งที่ผู้ใช้เห็นและกด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32104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ทำงานในเบราว์เซอร์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32104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32104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+ Vite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50208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98848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736592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Backend / API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736592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รับคำขอ ตรวจสิทธิ์ ส่งข้อมูล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36592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736592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4736592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Supabase API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54696" y="2377440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→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403336" y="1481328"/>
            <a:ext cx="3337560" cy="2331720"/>
          </a:xfrm>
          <a:prstGeom prst="roundRect">
            <a:avLst>
              <a:gd name="adj" fmla="val 352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41080" y="1682496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Database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641080" y="212140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เก็บข้อมูลอย่างถาวร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641080" y="261518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ทำงานบนเซิร์ฟเวอร์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641080" y="3017520"/>
            <a:ext cx="2862072" cy="457200"/>
          </a:xfrm>
          <a:prstGeom prst="roundRect">
            <a:avLst>
              <a:gd name="adj" fmla="val 16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41080" y="30175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300" dirty="0"/>
          </a:p>
        </p:txBody>
      </p:sp>
      <p:pic>
        <p:nvPicPr>
          <p:cNvPr id="28" name="Picture 27" descr="Client-server architecture, a short guide - negg Blog">
            <a:extLst>
              <a:ext uri="{FF2B5EF4-FFF2-40B4-BE49-F238E27FC236}">
                <a16:creationId xmlns:a16="http://schemas.microsoft.com/office/drawing/2014/main" id="{228717F9-2696-FEA7-E99E-7476693A1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93" b="15750"/>
          <a:stretch>
            <a:fillRect/>
          </a:stretch>
        </p:blipFill>
        <p:spPr>
          <a:xfrm>
            <a:off x="3455135" y="3986784"/>
            <a:ext cx="5727700" cy="245251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3FBF2653-14FE-4D73-A45E-D0BB1C6EE652}"/>
              </a:ext>
            </a:extLst>
          </p:cNvPr>
          <p:cNvSpPr txBox="1"/>
          <p:nvPr/>
        </p:nvSpPr>
        <p:spPr>
          <a:xfrm>
            <a:off x="3694176" y="6344150"/>
            <a:ext cx="60976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050"/>
              <a:t>https://negg.blog/en/client-server-architecture-a-short-guide/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ภาษาและเครื่องมือฝั่ง Frontend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795528" y="1508760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795528" y="150876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250" b="1" dirty="0"/>
          </a:p>
        </p:txBody>
      </p:sp>
      <p:sp>
        <p:nvSpPr>
          <p:cNvPr id="7" name="Text 5"/>
          <p:cNvSpPr/>
          <p:nvPr/>
        </p:nvSpPr>
        <p:spPr>
          <a:xfrm>
            <a:off x="2377440" y="1371600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โครงสร้างของหน้า — เปรียบเหมือนโครงกระดูก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040880" y="137160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 ตาราง ฟอร์ม อยู่ตรงไหน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21284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795528" y="2350008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 b="1"/>
          </a:p>
        </p:txBody>
      </p:sp>
      <p:sp>
        <p:nvSpPr>
          <p:cNvPr id="11" name="Text 9"/>
          <p:cNvSpPr/>
          <p:nvPr/>
        </p:nvSpPr>
        <p:spPr>
          <a:xfrm>
            <a:off x="795528" y="2350008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377440" y="221284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หน้าตาและการจัดวาง — เปรียบเหมือนเสื้อผ้า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040880" y="2212848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 ฟอนต์ ระยะห่าง การตอบสนองต่อขนาดจอ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5409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795528" y="3191256"/>
            <a:ext cx="1417320" cy="438912"/>
          </a:xfrm>
          <a:prstGeom prst="roundRect">
            <a:avLst>
              <a:gd name="adj" fmla="val 16667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795528" y="31912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50" b="1" dirty="0"/>
          </a:p>
        </p:txBody>
      </p:sp>
      <p:sp>
        <p:nvSpPr>
          <p:cNvPr id="17" name="Text 15"/>
          <p:cNvSpPr/>
          <p:nvPr/>
        </p:nvSpPr>
        <p:spPr>
          <a:xfrm>
            <a:off x="2377440" y="305409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พฤติกรรม — เปรียบเหมือนกล้ามเนื้อ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40880" y="3054096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กดปุ่มแล้วเกิดอะไร ดึงข้อมูลจากฐานข้อมูลอย่างไร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41648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 React กับ Vite คืออะไร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68680" y="4572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React  คือไลบรารีที่ช่วยแบ่งหน้าเว็บออกเป็นชิ้นส่วนเล็ก ๆ (Component) เช่น ปุ่ม การ์ดทุน แล้วนำกลับมาใช้ซ้ำได้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 คือเครื่องมือรวมและรันโค้ด ทำให้แก้ไฟล์แล้วเห็นผลบนเบราว์เซอร์ทันทีโดยไม่ต้องกดรีเฟรช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CRUD และพื้นฐานฐานข้อมูล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คำสี่คำที่อธิบายได้ทุกอย่างที่ระบบข้อมูลทำ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694944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5544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การกระทำ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651760" y="155448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HTTP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86200" y="15544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คำสั่ง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0" y="155448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ในระบบของเรา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5528" y="1975104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Create — สร้าง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651760" y="19751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886200" y="197510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03520" y="197510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เพิ่มทุนวิจัยใหม่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795528" y="2633472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6334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Read — อ่าน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65176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886200" y="263347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303520" y="2633472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แสดงรายการทุน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795528" y="3291840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12700">
            <a:solidFill>
              <a:srgbClr val="F5F7F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291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Update — แก้ไข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2651760" y="32918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886200" y="3291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03520" y="3291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แก้ข้อมูลทุนเดิม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795528" y="3950208"/>
            <a:ext cx="65471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686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Delete — ลบ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651760" y="395020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886200" y="39502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303520" y="39502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ลบทุนออกจากระบบ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7772400" y="1371600"/>
            <a:ext cx="3794760" cy="3566160"/>
          </a:xfrm>
          <a:prstGeom prst="roundRect">
            <a:avLst>
              <a:gd name="adj" fmla="val 2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001000" y="15727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ตารางในฐานข้อมูล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8001000" y="201168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ตาราง (Table) — เก็บข้อมูลชนิดเดียวกัน เช่น ตาราง grants เก็บทุนวิจัย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คอลัมน์ (Column) — ฟิลด์ข้อมูล เช่น ชื่อทุน แหล่งทุน กำหนดปิดรับ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แถว (Row) — ทุน 1 รายการ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Primary Key — รหัสประจำแถวที่ไม่ซ้ำกัน ใช้ระบุว่าจะแก้หรือลบแถวไหน</a:t>
            </a:r>
            <a:endParaRPr lang="en-US" sz="15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ชนิดข้อมูล — text, date, uuid บอกว่าคอลัมน์นั้นเก็บอะไรได้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ทุกหน้าจอในระบบเรา เป็นเพียงหน้าตาที่สวยงามของคำสั่งสี่คำนี้เท่านั้น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และชุดเทคโนโลยีของเวิร์กช็อป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5760720" cy="3977640"/>
          </a:xfrm>
          <a:prstGeom prst="roundRect">
            <a:avLst>
              <a:gd name="adj" fmla="val 2069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 คืออะไร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บริการฐานข้อมูลสำเร็จรูปบนคลาวด์ (Backend as a Service)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สร้างตารางเสร็จ ได้ API ใช้ทันที ไม่ต้องเขียนเซิร์ฟเวอร์เอง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86968" y="2798064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86968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07592" y="274320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PostgreSQL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7432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ฐานข้อมูลมาตรฐานอุตสาหกรรม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86968" y="3401568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8696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07592" y="33467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API อัตโนมัติ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66160" y="33467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สร้างให้ทันทีจากโครงสร้างตาราง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005072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39502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66160" y="395020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กำหนดสิทธิ์ว่าใครทำอะไรได้บ้าง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86968" y="4608576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86968" y="4608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07592" y="455371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Storage / Auth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566160" y="45537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มีให้ใช้ แต่ไม่ใช้ในเวิร์กช็อปนี้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647688" y="1371600"/>
            <a:ext cx="4919472" cy="3977640"/>
          </a:xfrm>
          <a:prstGeom prst="roundRect">
            <a:avLst>
              <a:gd name="adj" fmla="val 206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922008" y="15727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ชุดเทคโนโลยีที่เราจะใช้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922008" y="2103120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710488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Vite + React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208008" y="2103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สร้างหน้าเว็บ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922008" y="2724912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7104888" y="272491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08008" y="2724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จัดสไตล์ตาม Design System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22008" y="3346704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2" name="Text 30"/>
          <p:cNvSpPr/>
          <p:nvPr/>
        </p:nvSpPr>
        <p:spPr>
          <a:xfrm>
            <a:off x="7104888" y="33467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Supabase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208008" y="3346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 API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922008" y="3968496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7104888" y="396849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GitHub + Pages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9208008" y="396849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เก็บโค้ดและนำขึ้นระบบฟรี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922008" y="4590288"/>
            <a:ext cx="4370832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BEE7EA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8" name="Text 36"/>
          <p:cNvSpPr/>
          <p:nvPr/>
        </p:nvSpPr>
        <p:spPr>
          <a:xfrm>
            <a:off x="7104888" y="459028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Antigravity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208008" y="45902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Agent ที่เขียนโค้ดให้เรา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เตรียมเครื่องและเปิดโปรเจกต์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10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794760"/>
          </a:xfrm>
          <a:prstGeom prst="roundRect">
            <a:avLst>
              <a:gd name="adj" fmla="val 2169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ตรวจว่ามี Node.js, Git และ Antigravity IDE แล้ว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2199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21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798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สร้างโฟลเดอร์ fundinghub แล้วเปิดใน Antigravity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7208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7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43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สร้างไฟล์เปล่าชื่อ SPEC_FundingHub.md ที่รากโปรเจกต์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9242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92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841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เปิดไฟล์ SPEC_BLOCKS.md ที่แจกให้ ไว้อีกหน้าต่างหนึ่ง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68680" y="397764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6868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07592" y="39136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หาให้เจอ 4 ส่วน : Editor / Agent / Artifacts / Browser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1024128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5" name="Text 23"/>
          <p:cNvSpPr/>
          <p:nvPr/>
        </p:nvSpPr>
        <p:spPr>
          <a:xfrm>
            <a:off x="6729984" y="1115568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-v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--version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2788920"/>
            <a:ext cx="4983480" cy="2029968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812280" y="292608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เกณฑ์ผ่าน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12280" y="3310128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ทุกคำสั่งขึ้นเลขเวอร์ชัน ไม่ขึ้น command not found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เปิดโฟลเดอร์ fundinghub ใน Antigravity ได้</a:t>
            </a:r>
            <a:endParaRPr lang="en-US" sz="15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มีไฟล์เปล่า SPEC_FundingHub.md รออยู่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การติดตั้งควรทำมาล่วงหน้าก่อนวันอบรม เวลาในห้องมีเพียง 10 นาทีสำหรับตรวจความพร้อม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รู้จัก Google Antigravity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เครื่องมือที่เราจะใช้สั่งงานตลอดทั้งวัน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Google Antigravity คืออะไร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371599"/>
            <a:ext cx="5392554" cy="2555507"/>
          </a:xfrm>
          <a:prstGeom prst="roundRect">
            <a:avLst>
              <a:gd name="adj" fmla="val 461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83910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สภาพแวดล้อมการพัฒนาแบบ agent-first ของ Google เปิดตัวเดือนพฤศจิกายน 2568 พัฒนาต่อจาก VS Code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แนวคิดหลักคือเรามอบหมายงานระดับ “สิ่งที่อยากได้” ให้ AI Agent แทนการพิมพ์โค้ดทุกบรรทัดเอง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ปี 2569 มี Antigravity 2.0 เป็นแอปแยกสำหรับสั่งงาน Agent หลายตัวพร้อมกัน พร้อม CLI และ SDK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" y="4715417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68680" y="4898297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เวิร์กช็อปนี้ใช้ Antigravity IDE ไม่ใช่ Antigravity 2.0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300633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เพราะผู้เริ่มต้นควรเห็นทั้งไฟล์โค้ด หน้าต่างคำสั่ง และเบราว์เซอร์ทดสอบอยู่ในหน้าจอเดียวกัน จะได้เข้าใจว่า Agent กำลังทำอะไรกับโปรเจกต์ของเรา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ดาวน์โหลด : antigravity.google/download  ·  เอกสาร : antigravity.google/docs  ·  ใช้งานได้ฟรีในช่วง preview</a:t>
            </a:r>
            <a:endParaRPr lang="en-US" sz="1300" dirty="0"/>
          </a:p>
        </p:txBody>
      </p:sp>
      <p:pic>
        <p:nvPicPr>
          <p:cNvPr id="10" name="Picture 9" descr="Google Antigravity Review: Is it a $20 AI Coding Paperweight?">
            <a:extLst>
              <a:ext uri="{FF2B5EF4-FFF2-40B4-BE49-F238E27FC236}">
                <a16:creationId xmlns:a16="http://schemas.microsoft.com/office/drawing/2014/main" id="{BCF92CEF-2D70-0848-2686-43A101ECB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830" y="1371599"/>
            <a:ext cx="5231330" cy="31605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องค์ประกอบสำคัญ 4 ส่วนที่ต้องรู้จัก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เปิดโปรแกรมแล้วให้หาสี่ส่วนนี้ให้เจอก่อน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Editor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80744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หน้าต่างแก้ไขไฟล์โค้ดตามปกติ มีการเติมโค้ดอัตโนมัติด้วยปุ่ม Tab เราใช้ดูว่า Agent เขียนอะไรลงไป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50876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6479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64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2821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Agent Manager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013448" y="216712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ช่องสนทนาสำหรับสั่งงาน และแผงติดตามว่า Agent กำลังทำงานไหนอยู่ สั่งหลายงานพร้อมกันได้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Artifacts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380744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ผลงานระหว่างทางที่ Agent สร้าง เช่น แผนงาน รายการสิ่งที่จะทำ ผลทดสอบ เราสามารถคอมเมนต์แก้ไขได้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91840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47872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51129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013448" y="3950208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เบราว์เซอร์ที่ Agent เปิดและควบคุมเอง เพื่อกดปุ่ม กรอกฟอร์ม และถ่ายภาพหน้าจอมายืนยันว่าใช้งานได้จริง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Browser Subagent คือสิ่งที่ทำให้ Antigravity ต่างจากเครื่องมืออื่น — มันทดสอบงานของตัวเองได้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 กับ Spec-driven Development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สองวิธีสั่งงาน AI ที่ให้ผลลัพธ์ต่างกันมาก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Vibe Coding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พิมพ์บอกสั้น ๆ ตามความรู้สึก แล้วดูว่า AI ให้อะไรมา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ได้ผลเร็วมากในช่วงแรก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สั่งคำเดิมสองครั้ง ได้ผลไม่เหมือนกัน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เติมฟีเจอร์ที่เราไม่ได้ขอ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แก้จุดหนึ่ง พังอีกจุดหนึ่ง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ไม่มีเกณฑ์บอกว่างานเสร็จหรือยัง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303520" cy="3246120"/>
          </a:xfrm>
          <a:prstGeom prst="roundRect">
            <a:avLst>
              <a:gd name="adj" fmla="val 253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6537960" y="1627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Spec-driven Development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เขียนข้อกำหนดให้ครบก่อน แล้วสั่งงานโดยอ้างหมายเลขหัวข้อ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37960" y="251460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ผลลัพธ์คงเส้นคงวา ทำซ้ำได้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ไม่สร้างเกินขอบเขตที่เขียนไว้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แก้สเปกที่เดียว งานตามทั้งระบบ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มีเกณฑ์ยอมรับไว้ตรวจว่าผ่านหรือไม่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สั้นลงเหลือ 3–5 บรรทัด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892040"/>
            <a:ext cx="10972800" cy="658368"/>
          </a:xfrm>
          <a:prstGeom prst="roundRect">
            <a:avLst>
              <a:gd name="adj" fmla="val 13889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6F5F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วันนี้เราใช้ Spec-driven : เขียน FundingHub.md เพียงไฟล์เดียว แล้ว prompt ทุกอันชี้ไปที่หมายเลขหัวข้อในไฟล์นั้น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โครงสร้างของ Prompt ที่ใช้งานได้จริง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 ที่ดีไม่ใช่ prompt ที่ยาว แต่คือ prompt ที่ระบุครบและตรวจสอบได้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13816" y="1627632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13816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52728" y="14630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งานที่ต้องทำ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36392" y="14630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บอกให้ชัดว่าทำชั้นไหน ขั้นไหน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249424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13816" y="241401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13816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52728" y="22494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บริบทที่ต้องอ่าน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136392" y="224942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ระบุชื่อไฟล์และหมายเลขหัวข้อ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035808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13816" y="3200400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13816" y="3200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52728" y="303580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136392" y="303580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อะไรห้ามแตะ อะไรห้ามเพิ่ม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3822192"/>
            <a:ext cx="5212080" cy="658368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813816" y="3986784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13816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52728" y="38221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วิธียืนยันผล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136392" y="38221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ให้ทดสอบและถ่ายภาพหน้าจอมาให้ดู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72200" y="141732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ตัวอย่าง prompt จริงที่จะใช้ใน LAB C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72200" y="1810512"/>
            <a:ext cx="539496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6318504" y="1901952"/>
            <a:ext cx="5102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ทำชั้น L3 ตาม SPEC_FundingHub.md §11.3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สร้างหน้า /grants ให้ครบตาม §7.2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ใช้เฉพาะ token สีและตัวอักษรใน §4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ทดสอบด้วย Browser แล้วถ่าย screenshot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840480"/>
            <a:ext cx="5394960" cy="1280160"/>
          </a:xfrm>
          <a:prstGeom prst="roundRect">
            <a:avLst>
              <a:gd name="adj" fmla="val 6429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6400800" y="3977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สี่บรรทัดนี้แทนคำอธิบายกว่า 300 บรรทัด เพราะรายละเอียดทั้งหมดอยู่ในไฟล์สเปกแล้ว ไม่ต้องพิมพ์ซ้ำและไม่มีโอกาสพิมพ์ตกหล่น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310896"/>
            <a:ext cx="1481328" cy="475488"/>
          </a:xfrm>
          <a:prstGeom prst="roundRect">
            <a:avLst>
              <a:gd name="adj" fmla="val 50000"/>
            </a:avLst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310896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LAB 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28600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วางบล็อกแรกของสเปก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738360" y="310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5 นาที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" y="1024128"/>
            <a:ext cx="576072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850392" y="118872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สิ่งที่ต้องทำ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68680" y="163677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68680" y="1636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07592" y="1572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 SPEC_BLOCKS.md หาบล็อกที่ 1 (§0 กติกา + §1 ขอบเขต)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68680" y="221970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68680" y="221970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07592" y="215569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คัดลอกทั้งบล็อก วางลงใน SPEC_FundingHub.md แล้วบันทึก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68680" y="280263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8026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07592" y="27386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วาง prompt ด้านขวาในช่อง Agent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3385566"/>
            <a:ext cx="329184" cy="329184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868680" y="338556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07592" y="332155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อ่านคำตอบร่วมกัน — Agent ต้องรู้ขอบเขตแล้ว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83680" y="1024128"/>
            <a:ext cx="4983480" cy="1874520"/>
          </a:xfrm>
          <a:prstGeom prst="roundRect">
            <a:avLst>
              <a:gd name="adj" fmla="val 3415"/>
            </a:avLst>
          </a:prstGeom>
          <a:solidFill>
            <a:srgbClr val="222831"/>
          </a:solidFill>
          <a:ln w="12700">
            <a:solidFill>
              <a:srgbClr val="22283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729984" y="1115568"/>
            <a:ext cx="469087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อ่านไฟล์ SPEC_FundingHub.md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สรุปเป็นภาษาไทยว่า ระบบนี้มีกี่หน้า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อะไรบ้าง และมีอะไรบ้างที่ห้ามสร้าง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ยังไม่ต้องเขียนโค้ด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83680" y="3063240"/>
            <a:ext cx="4983480" cy="1755648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6812280" y="320040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คำตอบที่ถูกต้อง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12280" y="3566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 : Dashboard / ทุนวิจัย / เพิ่มทุน / Admin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ห้ามสร้าง AI / LINE / Proposal / Project Tracking / ระบบล็อกอิน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เอกสารแล็บ : LAB A  ·  ถ้า Agent ตอบผิดหรือเดา แปลว่ายังไม่ได้อ่านไฟล์จริง ให้ลากไฟล์เข้าไปในช่องแชทแล้วสั่งใหม่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แกะโจทย์ให้กลายเป็นสเปก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ขั้นตอนที่สำคัญที่สุดของวันนี้ และเป็นขั้นที่คนข้ามบ่อยที่สุด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โจทย์ตั้งต้น : Funding Hub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ข้อความที่ผู้ใช้เขียนมาให้เรา — สั้น กระชับ แต่ยังสั่ง AI ตรง ๆ ไม่ได้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 หน้าเท่านั้น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50392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Dashboard · รายการทุน · เพิ่ม/แก้ไข · Admin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064" y="1463040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6483096" y="153619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KPI 4 ช่อง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6483096" y="186537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 · ใกล้หมดเขต · ปิดรับแล้ว · ทั้งหมด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50392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ค้นหาและกรอง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850392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ค้นชื่อทุน และกรองตามสถานะ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27064" y="2395728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5" name="Text 13"/>
          <p:cNvSpPr/>
          <p:nvPr/>
        </p:nvSpPr>
        <p:spPr>
          <a:xfrm>
            <a:off x="6483096" y="246888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ฟอร์ม 7 ช่อง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483096" y="2798064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ชื่อทุน แหล่งทุน Theme Deadline URL หมายเหตุ สถานะ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50392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 Supabase ชื่อโปรเจกต์ fundinghub พร้อม CRUD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27064" y="3328416"/>
            <a:ext cx="5340096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6483096" y="3401568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ข้อมูลตัวอย่าง 3 รายการ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6483096" y="3730752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TREE Fund · Belmont Forum CRA · ASEA-UNINET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4370832"/>
            <a:ext cx="10972800" cy="100584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ประโยคที่มีค่าที่สุดในโจทย์ทั้งหมด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68680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“ไม่ต้องสร้าง AI, LINE, Proposal, Project Tracking หรือระบบซับซ้อนอื่น” — สิ่งที่ทำให้ AI สร้างงานเกินจริงมากที่สุด คือการไม่บอกว่าอะไรที่ไม่ต้องทำ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23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 UI ก่อนสั่ง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กำหนดสไตล์ สี และฟอนต์ด้วยตัวเอง เพื่อไม่ให้งานของทุกคนหน้าตาเหมือนกัน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ทำไมต้องกำหนด Design System ก่อน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5" name="Text 3"/>
          <p:cNvSpPr/>
          <p:nvPr/>
        </p:nvSpPr>
        <p:spPr>
          <a:xfrm>
            <a:off x="86868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ถ้าไม่กำหนด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เลือกสีน้ำเงินและฟอนต์สากลให้ทุกครั้ง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งานของผู้เข้าอบรมทุกคนหน้าตาเหมือนกันหมด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สั่งแก้หน้าหนึ่ง สีเพี้ยนไปอีกหน้าหนึ่ง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ภาษาไทยแสดงผลเพี้ยนเพราะฟอนต์ไม่รองรับ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CCFBF1"/>
          </a:solidFill>
          <a:ln w="9525">
            <a:solidFill>
              <a:srgbClr val="CCFBF1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8" name="Text 6"/>
          <p:cNvSpPr/>
          <p:nvPr/>
        </p:nvSpPr>
        <p:spPr>
          <a:xfrm>
            <a:off x="6537960" y="15727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ถ้ากำหนดไว้ใน §4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1993392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ทุกหน้าใช้สีและฟอนต์ชุดเดียวกันโดยอัตโนมัติ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เปลี่ยนสีทั้งระบบด้วยการแก้ไฟล์สเปกที่เดียว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งานออกมาเป็นเอกลักษณ์ของเราเอง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ภาษาไทยอ่านง่าย เพราะเลือกฟอนต์ที่รองรับ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3931920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สามสิ่งที่ต้องเลือกใน LAB 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9436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2" name="Shape 10"/>
          <p:cNvSpPr/>
          <p:nvPr/>
        </p:nvSpPr>
        <p:spPr>
          <a:xfrm>
            <a:off x="85039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85039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8074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8074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uistyleguide.com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7" name="Shape 15"/>
          <p:cNvSpPr/>
          <p:nvPr/>
        </p:nvSpPr>
        <p:spPr>
          <a:xfrm>
            <a:off x="455371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455371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8406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08406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colorhunt.co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01000" y="4343400"/>
            <a:ext cx="3566160" cy="1097280"/>
          </a:xfrm>
          <a:prstGeom prst="roundRect">
            <a:avLst>
              <a:gd name="adj" fmla="val 75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Shape 20"/>
          <p:cNvSpPr/>
          <p:nvPr/>
        </p:nvSpPr>
        <p:spPr>
          <a:xfrm>
            <a:off x="8257032" y="4617720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3" name="Text 21"/>
          <p:cNvSpPr/>
          <p:nvPr/>
        </p:nvSpPr>
        <p:spPr>
          <a:xfrm>
            <a:off x="8257032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787384" y="45262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ฟอนต์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787384" y="486460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fonts.google.com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เลือกสไตล์การออกแบบ : uistyleguide.com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เว็บรวมสไตล์ UI กว่า 67 แบบ พร้อมตัวอย่างที่กดเล่นได้จริงและคำแนะนำการใช้ CSS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68680" y="148132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Minimalism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08960" y="148132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อ่านข้อมูลง่าย เหมาะกับงานวิชาการและราชการ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178040" y="162763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7178040" y="162763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แนะนำ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221284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6868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Flat Design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08960" y="221284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เรียบ ทำเร็ว รองรับหลายขนาดจอได้ดี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35915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F6F7"/>
          </a:solidFill>
          <a:ln w="12700">
            <a:solidFill>
              <a:srgbClr val="E8F6F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7178040" y="235915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94360" y="294436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68680" y="294436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Soft UI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08960" y="294436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นุ่มนวลสบายตา แต่ต้องระวังความคมชัดของตัวอักษร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178040" y="309067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9" name="Text 17"/>
          <p:cNvSpPr/>
          <p:nvPr/>
        </p:nvSpPr>
        <p:spPr>
          <a:xfrm>
            <a:off x="7178040" y="309067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ระวัง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4360" y="3675888"/>
            <a:ext cx="768096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Glassmorphism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108960" y="367588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สวยแต่ทำให้อ่านตัวเลข KPI ยาก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78040" y="38221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178040" y="382219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ไม่แนะนำ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503920" y="1481328"/>
            <a:ext cx="3063240" cy="2980944"/>
          </a:xfrm>
          <a:prstGeom prst="roundRect">
            <a:avLst>
              <a:gd name="adj" fmla="val 276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73252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วิธีจดสไตล์ลงสเปก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732520" y="195681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เขียนหลักการที่ “มองเห็นได้จริง” 3–5 ข้อ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732520" y="2340864"/>
            <a:ext cx="2560320" cy="777240"/>
          </a:xfrm>
          <a:prstGeom prst="roundRect">
            <a:avLst>
              <a:gd name="adj" fmla="val 8235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9" name="Text 27"/>
          <p:cNvSpPr/>
          <p:nvPr/>
        </p:nvSpPr>
        <p:spPr>
          <a:xfrm>
            <a:off x="8915400" y="239572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อย่าเขียนว่า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“ทำให้ดูโมเดิร์น”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732520" y="3218688"/>
            <a:ext cx="2560320" cy="1097280"/>
          </a:xfrm>
          <a:prstGeom prst="roundRect">
            <a:avLst>
              <a:gd name="adj" fmla="val 58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91540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ให้เขียนว่า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“การ์ดพื้นขาว มุมมน 12px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เงาอ่อน ไม่มีเส้นขอบหนา”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เลือกเพียงหนึ่งสไตล์ แล้วยึดให้ตลอดทั้งระบบ — การผสมหลายสไตล์คือสาเหตุอันดับหนึ่งที่ทำให้งานดูไม่เป็นมืออาชีพ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27496A-2BA5-5A3D-72E1-B2411E2D0DE3}"/>
              </a:ext>
            </a:extLst>
          </p:cNvPr>
          <p:cNvSpPr txBox="1"/>
          <p:nvPr/>
        </p:nvSpPr>
        <p:spPr>
          <a:xfrm>
            <a:off x="416490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https://ixdf.org/literature/article/top-10-ui-trends-every-designer-should-know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5E196-E949-DE44-FE48-457784EBC698}"/>
              </a:ext>
            </a:extLst>
          </p:cNvPr>
          <p:cNvSpPr txBox="1"/>
          <p:nvPr/>
        </p:nvSpPr>
        <p:spPr>
          <a:xfrm>
            <a:off x="7280753" y="5626697"/>
            <a:ext cx="6093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/>
              <a:t>https://www.uistyleguide.com/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080FF-2229-41D4-95D0-E027681C9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348" y="637766"/>
            <a:ext cx="3206663" cy="478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DBBC1F-7B69-DDD2-31F2-83BF9F61A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530" y="1252602"/>
            <a:ext cx="5845827" cy="36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74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เลือกสี : colorhunt.co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เลือกชุดสี 4 สีที่ผ่านการจับคู่มาแล้ว แทนการเดาสีเอง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จานสีที่เวิร์กช็อปนี้ใช้เป็นค่าเริ่มต้น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222831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#222831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39112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393E46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9" name="Text 7"/>
          <p:cNvSpPr/>
          <p:nvPr/>
        </p:nvSpPr>
        <p:spPr>
          <a:xfrm>
            <a:off x="2039112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#393E46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83864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00ADB5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3483864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#00ADB5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28616" y="1755648"/>
            <a:ext cx="1298448" cy="1051560"/>
          </a:xfrm>
          <a:prstGeom prst="roundRect">
            <a:avLst>
              <a:gd name="adj" fmla="val 7826"/>
            </a:avLst>
          </a:prstGeom>
          <a:solidFill>
            <a:srgbClr val="EEEEEE"/>
          </a:solidFill>
          <a:ln w="9525">
            <a:solidFill>
              <a:srgbClr val="E1E4E8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3" name="Text 11"/>
          <p:cNvSpPr/>
          <p:nvPr/>
        </p:nvSpPr>
        <p:spPr>
          <a:xfrm>
            <a:off x="4928616" y="1755648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228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#EEEEEE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43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จับคู่สีเข้ากับหน้าที่ ด้วยหลัก 60 – 30 – 10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94360" y="3401568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13816" y="340156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สีอ่อนที่สุด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606040" y="3401568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พื้นหลังหน้าเว็บ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968496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0" name="Text 18"/>
          <p:cNvSpPr/>
          <p:nvPr/>
        </p:nvSpPr>
        <p:spPr>
          <a:xfrm>
            <a:off x="813816" y="39684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สีเข้มที่สุด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606040" y="3968496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ตัวอักษรและแถบเมนู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532120" y="396849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535424"/>
            <a:ext cx="5669280" cy="475488"/>
          </a:xfrm>
          <a:prstGeom prst="roundRect">
            <a:avLst>
              <a:gd name="adj" fmla="val 17308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813816" y="453542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สีที่สดที่สุด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2606040" y="4535424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ปุ่มหลักและจุดเน้นเท่านั้น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32120" y="45354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D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1371600"/>
            <a:ext cx="4983480" cy="1691640"/>
          </a:xfrm>
          <a:prstGeom prst="roundRect">
            <a:avLst>
              <a:gd name="adj" fmla="val 4865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6812280" y="14996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ตรวจความคมชัดเสมอ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12280" y="184708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สีตัวอักษรกับสีพื้นหลังต้องมีอัตราส่วนความคมชัดอย่างน้อย 4.5 : 1</a:t>
            </a:r>
            <a:endParaRPr lang="en-US" sz="1550" dirty="0"/>
          </a:p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ตรวจได้ที่ webaim.org/resources/contrastchecker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200400"/>
            <a:ext cx="4983480" cy="213969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6812280" y="332841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สีสถานะ — ไม่ต้องเปลี่ยน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58000" y="37124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3" name="Text 31"/>
          <p:cNvSpPr/>
          <p:nvPr/>
        </p:nvSpPr>
        <p:spPr>
          <a:xfrm>
            <a:off x="6858000" y="37124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เปิดรับ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41696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5" name="Text 33"/>
          <p:cNvSpPr/>
          <p:nvPr/>
        </p:nvSpPr>
        <p:spPr>
          <a:xfrm>
            <a:off x="6858000" y="41696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ใกล้หมดเขต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858000" y="4626864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7" name="Text 35"/>
          <p:cNvSpPr/>
          <p:nvPr/>
        </p:nvSpPr>
        <p:spPr>
          <a:xfrm>
            <a:off x="6858000" y="462686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75467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ปิดรับแล้ว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49640" y="3712464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เขียว – เหลือง – เทา เป็นสีสื่อความหมายที่คนทั่วโลกเข้าใจตรงกัน การเปลี่ยนจะทำให้ผู้ใช้สับสน</a:t>
            </a:r>
            <a:endParaRPr lang="en-US" sz="14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B78BE8-CFA4-D873-DA78-DE403BBA6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113" y="445974"/>
            <a:ext cx="7209773" cy="55574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EB1F6F-D3EE-BAC3-1304-DEA56D3D870A}"/>
              </a:ext>
            </a:extLst>
          </p:cNvPr>
          <p:cNvSpPr txBox="1"/>
          <p:nvPr/>
        </p:nvSpPr>
        <p:spPr>
          <a:xfrm>
            <a:off x="2583493" y="6073242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https://colorhunt.co/</a:t>
            </a:r>
          </a:p>
        </p:txBody>
      </p:sp>
    </p:spTree>
    <p:extLst>
      <p:ext uri="{BB962C8B-B14F-4D97-AF65-F5344CB8AC3E}">
        <p14:creationId xmlns:p14="http://schemas.microsoft.com/office/powerpoint/2010/main" val="18532831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เลือกฟอนต์ : Google Fonts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สำคัญมาก — ต้องกรอง Language = Thai เท่านั้น มิฉะนั้นสระและวรรณยุกต์จะแสดงผลเพี้ยน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50392" y="148132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Sarabun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48132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ทางการ อ่านง่าย เป็นกลาง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172200" y="1481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เอกสารวิชาการและราชการ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94360" y="2084832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0" name="Text 8"/>
          <p:cNvSpPr/>
          <p:nvPr/>
        </p:nvSpPr>
        <p:spPr>
          <a:xfrm>
            <a:off x="850392" y="20848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IBM Plex Sans Thai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84832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สมัยใหม่ ตัวเลขคมชัด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172200" y="2084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ระบบข้อมูลและแดชบอร์ด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2688336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4" name="Text 12"/>
          <p:cNvSpPr/>
          <p:nvPr/>
        </p:nvSpPr>
        <p:spPr>
          <a:xfrm>
            <a:off x="850392" y="26883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Noto Sans Thai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กลาง ๆ ปลอดภัย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72200" y="2688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ใช้ได้กับทุกงาน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94360" y="3291840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8" name="Text 16"/>
          <p:cNvSpPr/>
          <p:nvPr/>
        </p:nvSpPr>
        <p:spPr>
          <a:xfrm>
            <a:off x="850392" y="32918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Prompt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29184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โมเดิร์น เรขาคณิต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172200" y="3291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เว็บองค์กรและงาน ปชส.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94360" y="3895344"/>
            <a:ext cx="7498080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850392" y="3895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Kanit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200400" y="38953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หนักแน่น เด่นชัด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172200" y="3895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หัวข้อใหญ่ ไม่เหมาะเนื้อหายาว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8321040" y="1481328"/>
            <a:ext cx="3246120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 w="9525">
            <a:solidFill>
              <a:srgbClr val="E1E4E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6" name="Text 24"/>
          <p:cNvSpPr/>
          <p:nvPr/>
        </p:nvSpPr>
        <p:spPr>
          <a:xfrm>
            <a:off x="85496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กฎการใช้ฟอนต์ไทย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549640" y="201168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8" name="Text 26"/>
          <p:cNvSpPr/>
          <p:nvPr/>
        </p:nvSpPr>
        <p:spPr>
          <a:xfrm>
            <a:off x="85496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970264" y="197510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โหลดแค่ 2–3 น้ำหนัก (400 / 600 / 700) โหลดหมดทำให้เว็บช้า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549640" y="283464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1" name="Text 29"/>
          <p:cNvSpPr/>
          <p:nvPr/>
        </p:nvSpPr>
        <p:spPr>
          <a:xfrm>
            <a:off x="854964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70264" y="279806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 line-height อย่างน้อย 1.6 เพราะภาษาไทยมีสระบนและล่าง ถ้าบรรทัดชิดจะชนกัน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549640" y="3657600"/>
            <a:ext cx="310896" cy="31089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34" name="Text 32"/>
          <p:cNvSpPr/>
          <p:nvPr/>
        </p:nvSpPr>
        <p:spPr>
          <a:xfrm>
            <a:off x="854964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970264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ห้ามใช้ text-transform uppercase เพราะภาษาไทยไม่มีตัวพิมพ์ใหญ่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62636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ค้นได้ที่ fonts.google.com/?subset=thai  ·  สเปกของเราตั้งค่าเริ่มต้นไว้ที่ Sarabun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3F3709-EC61-39AB-69FD-B6876A285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01457"/>
            <a:ext cx="7772400" cy="516472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7F63ED-EEDD-2394-5122-D80F4E2ADF0A}"/>
              </a:ext>
            </a:extLst>
          </p:cNvPr>
          <p:cNvSpPr txBox="1"/>
          <p:nvPr/>
        </p:nvSpPr>
        <p:spPr>
          <a:xfrm>
            <a:off x="2520863" y="620864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/>
              <a:t>https://fonts.google.com/?query=thai</a:t>
            </a:r>
          </a:p>
        </p:txBody>
      </p:sp>
    </p:spTree>
    <p:extLst>
      <p:ext uri="{BB962C8B-B14F-4D97-AF65-F5344CB8AC3E}">
        <p14:creationId xmlns:p14="http://schemas.microsoft.com/office/powerpoint/2010/main" val="3116714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29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94360" y="2212848"/>
            <a:ext cx="960120" cy="96012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4" name="Text 2"/>
          <p:cNvSpPr/>
          <p:nvPr/>
        </p:nvSpPr>
        <p:spPr>
          <a:xfrm>
            <a:off x="594360" y="221284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920240" y="2286000"/>
            <a:ext cx="9646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ฐานข้อมูลและการสร้างแอป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920240" y="2907792"/>
            <a:ext cx="9646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จากสเปก สู่ระบบที่ใช้งานได้จริง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สร้างฐานข้อมูลด้วย Supabase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สามขั้นตอน ใช้เวลารวมไม่เกิน 15 นาที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32104" y="1618488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3210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149047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สร้างโปรเจกต์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44168" y="18196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ตั้งชื่อ fundinghub เลือก region Singapore และตั้งรหัสผ่านฐานข้อมูลเอง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" y="2350008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832104" y="2551176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832104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44168" y="24231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SQL สร้างตาราง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4168" y="27523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คัดลอกคำสั่งจาก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ครอบคลุมตาราง ดัชนี trigger และ RLS policy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94360" y="3282696"/>
            <a:ext cx="6858000" cy="786384"/>
          </a:xfrm>
          <a:prstGeom prst="roundRect">
            <a:avLst>
              <a:gd name="adj" fmla="val 10465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32104" y="3483864"/>
            <a:ext cx="384048" cy="384048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32104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4168" y="33558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ใส่ข้อมูลตัวอย่างและคัดลอกกุญแจ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44168" y="368503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รัน INSERT จาก AI </a:t>
            </a:r>
            <a:r>
              <a:rPr lang="th-TH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ที่ให้มา </a:t>
            </a: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แล้วคัดลอก Project URL กับ anon key มาไว้ใน .env.local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4360" y="4261104"/>
            <a:ext cx="6858000" cy="1143000"/>
          </a:xfrm>
          <a:prstGeom prst="roundRect">
            <a:avLst>
              <a:gd name="adj" fmla="val 7200"/>
            </a:avLst>
          </a:prstGeom>
          <a:solidFill>
            <a:srgbClr val="E8F6F7"/>
          </a:solidFill>
          <a:ln w="9525">
            <a:solidFill>
              <a:srgbClr val="E8F6F7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68680" y="43891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— Row Level Security คืออะไร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" y="4718304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กติกาในฐานข้อมูลที่กำหนดว่า “ใครทำอะไรกับแถวไหนได้บ้าง” เวิร์กช็อปนี้เปิดสิทธิ์ให้ทุกคนเพื่อความง่าย แต่ระบบใช้งานจริงต้องผูกกับผู้ใช้ที่ล็อกอิน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7680960" y="1417320"/>
            <a:ext cx="3886200" cy="3986784"/>
          </a:xfrm>
          <a:prstGeom prst="roundRect">
            <a:avLst>
              <a:gd name="adj" fmla="val 235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4" name="Text 22"/>
          <p:cNvSpPr/>
          <p:nvPr/>
        </p:nvSpPr>
        <p:spPr>
          <a:xfrm>
            <a:off x="7909560" y="160020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กฎเหล็กเรื่องความลับ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909560" y="20116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ใช้ได้เฉพาะ anon key เท่านั้น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service_role key ห้ามปรากฏในฝั่งหน้าเว็บเด็ดขาด เพราะข้าม RLS ได้ทั้งหมด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รหัสผ่านฐานข้อมูลห้ามเขียนลงไฟล์ใด ๆ ในโปรเจกต์ และห้ามส่งให้ AI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ใส่ .env.local ไว้ใน .gitignore เสมอ ก่อน push ให้รัน git status ตรวจซ้ำ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7909560" y="448056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7" name="Text 25"/>
          <p:cNvSpPr/>
          <p:nvPr/>
        </p:nvSpPr>
        <p:spPr>
          <a:xfrm>
            <a:off x="8092440" y="45354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262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สังเกตว่าโจทย์ต้นฉบับมีบรรทัด password: xxx — นี่คือตัวอย่างของสิ่งที่ไม่ควรเขียนไว้ในเอกสารที่แชร์กัน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>
            <a:extLst>
              <a:ext uri="{FF2B5EF4-FFF2-40B4-BE49-F238E27FC236}">
                <a16:creationId xmlns:a16="http://schemas.microsoft.com/office/drawing/2014/main" id="{F555BF37-A986-2AF9-A98F-97D659CA9AEB}"/>
              </a:ext>
            </a:extLst>
          </p:cNvPr>
          <p:cNvSpPr/>
          <p:nvPr/>
        </p:nvSpPr>
        <p:spPr>
          <a:xfrm>
            <a:off x="0" y="3108960"/>
            <a:ext cx="121919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324A"/>
                </a:solidFill>
              </a:rPr>
              <a:t>Requirement → Spec → UI/Data Model → Implementation → Test → Deploy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683300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9184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ข้อจำกัดของ AI และความรับผิดชอบของเรา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8A94A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สิ่งที่ต้องจำให้ขึ้นใจเมื่อกลับไปทำงานจริง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6" name="Shape 4"/>
          <p:cNvSpPr/>
          <p:nvPr/>
        </p:nvSpPr>
        <p:spPr>
          <a:xfrm>
            <a:off x="850392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7" name="Text 5"/>
          <p:cNvSpPr/>
          <p:nvPr/>
        </p:nvSpPr>
        <p:spPr>
          <a:xfrm>
            <a:off x="85039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0744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AI ไม่รู้ว่าอะไรถูก ถ้าเราไม่บอก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0744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มันทำตามสิ่งที่เขียนไว้ ไม่ใช่สิ่งที่เราคิดในใจ ความคลุมเครือทุกจุดจะกลายเป็นการเดา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27064" y="148132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1" name="Shape 9"/>
          <p:cNvSpPr/>
          <p:nvPr/>
        </p:nvSpPr>
        <p:spPr>
          <a:xfrm>
            <a:off x="6483096" y="173736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2" name="Text 10"/>
          <p:cNvSpPr/>
          <p:nvPr/>
        </p:nvSpPr>
        <p:spPr>
          <a:xfrm>
            <a:off x="648309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13448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โค้ดที่ได้ยังเป็นความรับผิดชอบของเรา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13448" y="213969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ต้องอ่าน ต้องทดสอบ ต้องเข้าใจก่อนนำไปใช้จริง โดยเฉพาะระบบที่มีข้อมูลของคนอื่น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94360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16" name="Shape 14"/>
          <p:cNvSpPr/>
          <p:nvPr/>
        </p:nvSpPr>
        <p:spPr>
          <a:xfrm>
            <a:off x="850392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80744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ความลับห้ามอยู่ในโค้ด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80744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กุญแจ รหัสผ่าน และข้อมูลส่วนบุคคล ต้องอยู่นอกโปรเจกต์เสมอ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227064" y="3264408"/>
            <a:ext cx="5340096" cy="1572768"/>
          </a:xfrm>
          <a:prstGeom prst="roundRect">
            <a:avLst>
              <a:gd name="adj" fmla="val 5233"/>
            </a:avLst>
          </a:prstGeom>
          <a:solidFill>
            <a:srgbClr val="F5F7F8"/>
          </a:solidFill>
          <a:ln w="9525">
            <a:solidFill>
              <a:srgbClr val="F5F7F8"/>
            </a:solidFill>
            <a:prstDash val="solid"/>
          </a:ln>
          <a:effectLst>
            <a:outerShdw blurRad="101600" dist="12700" dir="5400000" algn="bl" rotWithShape="0">
              <a:srgbClr val="222831">
                <a:alpha val="10000"/>
              </a:srgbClr>
            </a:outerShdw>
          </a:effectLst>
        </p:spPr>
        <p:txBody>
          <a:bodyPr/>
          <a:lstStyle/>
          <a:p>
            <a:endParaRPr lang="en-TH"/>
          </a:p>
        </p:txBody>
      </p:sp>
      <p:sp>
        <p:nvSpPr>
          <p:cNvPr id="21" name="Shape 19"/>
          <p:cNvSpPr/>
          <p:nvPr/>
        </p:nvSpPr>
        <p:spPr>
          <a:xfrm>
            <a:off x="6483096" y="3520440"/>
            <a:ext cx="402336" cy="402336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2" name="Text 20"/>
          <p:cNvSpPr/>
          <p:nvPr/>
        </p:nvSpPr>
        <p:spPr>
          <a:xfrm>
            <a:off x="6483096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13448" y="348386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831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ระบบจริงต้องมีสิทธิ์ผู้ใช้จริง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13448" y="3922776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393E46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RLS แบบเปิดทุกสิทธิ์ใช้ได้เฉพาะการฝึกอบรม ระบบที่มีข้อมูลจริงต้องผูกกับผู้ใช้ที่ล็อกอินและคำนึงถึง PDPA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28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18520" y="6263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AA3AD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8580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สรุปสิ่งที่ได้เรียนรู้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81328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5" name="Shape 3"/>
          <p:cNvSpPr/>
          <p:nvPr/>
        </p:nvSpPr>
        <p:spPr>
          <a:xfrm>
            <a:off x="832104" y="1655064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6" name="Text 4"/>
          <p:cNvSpPr/>
          <p:nvPr/>
        </p:nvSpPr>
        <p:spPr>
          <a:xfrm>
            <a:off x="832104" y="1655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148132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เขียนสเปกก่อน แล้วค่อยสั่ง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5623560" y="1481328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SPEC ไฟล์เดียว + prompt สั้นที่อ้างหมายเลขหัวข้อ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94360" y="2322576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0" name="Shape 8"/>
          <p:cNvSpPr/>
          <p:nvPr/>
        </p:nvSpPr>
        <p:spPr>
          <a:xfrm>
            <a:off x="832104" y="2496312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1" name="Text 9"/>
          <p:cNvSpPr/>
          <p:nvPr/>
        </p:nvSpPr>
        <p:spPr>
          <a:xfrm>
            <a:off x="832104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23225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ออกแบบก่อนสร้าง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5623560" y="2322576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สไตล์จาก uistyleguide · สีจาก colorhunt · ฟอนต์จาก Google Fonts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94360" y="3163824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5" name="Shape 13"/>
          <p:cNvSpPr/>
          <p:nvPr/>
        </p:nvSpPr>
        <p:spPr>
          <a:xfrm>
            <a:off x="832104" y="3337560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16" name="Text 14"/>
          <p:cNvSpPr/>
          <p:nvPr/>
        </p:nvSpPr>
        <p:spPr>
          <a:xfrm>
            <a:off x="832104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44168" y="316382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สร้างทีละชั้น ตรวจทีละชั้น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5623560" y="3163824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ตรวจด้วยเกณฑ์ยอมรับที่วัดผลได้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4005072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2E3742"/>
          </a:solidFill>
          <a:ln w="12700">
            <a:solidFill>
              <a:srgbClr val="2E3742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0" name="Shape 18"/>
          <p:cNvSpPr/>
          <p:nvPr/>
        </p:nvSpPr>
        <p:spPr>
          <a:xfrm>
            <a:off x="832104" y="4178808"/>
            <a:ext cx="365760" cy="365760"/>
          </a:xfrm>
          <a:prstGeom prst="ellipse">
            <a:avLst/>
          </a:prstGeom>
          <a:solidFill>
            <a:srgbClr val="00ADB5"/>
          </a:solidFill>
          <a:ln w="12700">
            <a:solidFill>
              <a:srgbClr val="00ADB5"/>
            </a:solidFill>
            <a:prstDash val="solid"/>
          </a:ln>
        </p:spPr>
        <p:txBody>
          <a:bodyPr/>
          <a:lstStyle/>
          <a:p>
            <a:endParaRPr lang="en-TH"/>
          </a:p>
        </p:txBody>
      </p:sp>
      <p:sp>
        <p:nvSpPr>
          <p:cNvPr id="21" name="Text 19"/>
          <p:cNvSpPr/>
          <p:nvPr/>
        </p:nvSpPr>
        <p:spPr>
          <a:xfrm>
            <a:off x="832104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4168" y="400507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งานเสร็จเมื่อคนอื่นเปิดใช้ได้</a:t>
            </a:r>
            <a:endParaRPr lang="en-US" sz="1750" dirty="0"/>
          </a:p>
        </p:txBody>
      </p:sp>
      <p:sp>
        <p:nvSpPr>
          <p:cNvPr id="23" name="Text 21"/>
          <p:cNvSpPr/>
          <p:nvPr/>
        </p:nvSpPr>
        <p:spPr>
          <a:xfrm>
            <a:off x="5623560" y="4005072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9FB0B3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ทดสอบ 3 ระดับ แล้วนำขึ้น GitHub Pages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9436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DB5"/>
                </a:solidFill>
                <a:latin typeface="TH Sarabun New" pitchFamily="34" charset="0"/>
                <a:ea typeface="TH Sarabun New" pitchFamily="34" charset="-122"/>
                <a:cs typeface="TH Sarabun New" pitchFamily="34" charset="-120"/>
              </a:rPr>
              <a:t>ขอบคุณครับ  ·  ช่วงถาม-ตอบ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2802</Words>
  <Application>Microsoft Macintosh PowerPoint</Application>
  <PresentationFormat>Widescreen</PresentationFormat>
  <Paragraphs>450</Paragraphs>
  <Slides>30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Courier New</vt:lpstr>
      <vt:lpstr>Tahoma</vt:lpstr>
      <vt:lpstr>TH Sarabun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การพัฒนา Web Application ด้วย Google Antigravity</dc:title>
  <dc:subject>PptxGenJS Presentation</dc:subject>
  <dc:creator>Workshop: Funding Hub x Google Antigravity</dc:creator>
  <cp:lastModifiedBy>SAKDA HOMHUAN</cp:lastModifiedBy>
  <cp:revision>18</cp:revision>
  <dcterms:created xsi:type="dcterms:W3CDTF">2026-08-18T22:19:13Z</dcterms:created>
  <dcterms:modified xsi:type="dcterms:W3CDTF">2026-08-19T05:51:07Z</dcterms:modified>
</cp:coreProperties>
</file>