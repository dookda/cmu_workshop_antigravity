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rts/chart2.xml" ContentType="application/vnd.openxmlformats-officedocument.drawingml.chart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7"/>
    <p:restoredTop sz="94615"/>
  </p:normalViewPr>
  <p:slideViewPr>
    <p:cSldViewPr snapToGrid="0" snapToObjects="1">
      <p:cViewPr varScale="1">
        <p:scale>
          <a:sx n="170" d="100"/>
          <a:sy n="170" d="100"/>
        </p:scale>
        <p:origin x="20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438"/>
                </a:solidFill>
                <a:latin typeface="Tahoma"/>
              </a:defRPr>
            </a:pPr>
            <a:r>
              <a:rPr lang="th-TH" sz="1200" b="0" i="0" u="none" strike="noStrike">
                <a:solidFill>
                  <a:srgbClr val="0F2438"/>
                </a:solidFill>
                <a:latin typeface="Noto Sans Thai" panose="020B0502040504020204" pitchFamily="34" charset="-34"/>
              </a:rPr>
              <a:t>ต้นทุนการแก้ข้อผิดพลาด 1 จุด (เท่า)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ต้นทุนการแก้ไขโดยเปรียบเทียบ</c:v>
                </c:pt>
              </c:strCache>
            </c:strRef>
          </c:tx>
          <c:spPr>
            <a:solidFill>
              <a:srgbClr val="E8952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212E"/>
                    </a:solidFill>
                    <a:latin typeface="Tahoma"/>
                  </a:defRPr>
                </a:pPr>
                <a:endParaRPr lang="en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ขั้นเก็บความต้องการ</c:v>
                </c:pt>
                <c:pt idx="1">
                  <c:v>ขั้นออกแบบ</c:v>
                </c:pt>
                <c:pt idx="2">
                  <c:v>ขั้นเขียนโค้ด</c:v>
                </c:pt>
                <c:pt idx="3">
                  <c:v>ขั้นทดสอบ</c:v>
                </c:pt>
                <c:pt idx="4">
                  <c:v>หลังใช้งานจริง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25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2F-8C42-824E-998D3DDF8A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F91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438"/>
                </a:solidFill>
                <a:latin typeface="Tahoma"/>
              </a:defRPr>
            </a:pPr>
            <a:r>
              <a:rPr lang="th-TH" sz="1200" b="0" i="0" u="none" strike="noStrike">
                <a:solidFill>
                  <a:srgbClr val="0F2438"/>
                </a:solidFill>
                <a:latin typeface="Noto Sans Thai" panose="020B0502040504020204" pitchFamily="34" charset="-34"/>
              </a:rPr>
              <a:t>ตัวอย่าง: ใบแจ้งแยกตามประเภทงาน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จำนวนใบแจ้ง</c:v>
                </c:pt>
              </c:strCache>
            </c:strRef>
          </c:tx>
          <c:spPr>
            <a:solidFill>
              <a:srgbClr val="10726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12E"/>
                    </a:solidFill>
                    <a:latin typeface="Tahoma"/>
                  </a:defRPr>
                </a:pPr>
                <a:endParaRPr lang="en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ไฟฟ้า</c:v>
                </c:pt>
                <c:pt idx="1">
                  <c:v>ประปา</c:v>
                </c:pt>
                <c:pt idx="2">
                  <c:v>แอร์</c:v>
                </c:pt>
                <c:pt idx="3">
                  <c:v>โครงสร้าง</c:v>
                </c:pt>
                <c:pt idx="4">
                  <c:v>เครือข่าย</c:v>
                </c:pt>
                <c:pt idx="5">
                  <c:v>ครุภัณฑ์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31</c:v>
                </c:pt>
                <c:pt idx="2">
                  <c:v>27</c:v>
                </c:pt>
                <c:pt idx="3">
                  <c:v>14</c:v>
                </c:pt>
                <c:pt idx="4">
                  <c:v>11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6B-FB48-AAB0-0FDF3CAAD7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F91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382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 2 นาที. ย้ำว่าวันนี้ทุกคนจะได้ระบบจริงที่เปิดจากมือถือได้ก่อนกลับบ้าน. ประโยคสำคัญ: AI เก่งเรื่อง "ทำอย่างไร" แต่เราต้องเป็นคนตอบว่า "ทำอะไร และทำไม".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อ่านผ่าน ๆ ไม่ต้องลงรายละเอียด. เน้นว่าอันที่ 2 (Flowchart) คือหัวใจของวัน ไม่ใช่การพิมพ์ prompt เก่ง 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ชี้ให้เห็นว่าครึ่งเช้าแทบไม่มีโค้ดเลย นั่นตั้งใจ. ครึ่งบ่ายจะเร็วมากเพราะเอกสารพร้อม.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เขียนประโยคนี้ติดผนังห้อง. ตลอดวันถ้าใครติดปัญหา ให้ย้อนถามว่า spec เขียนไว้ว่าอย่างไร.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ถามห้อง: ใครเคยใช้ Copilot / ChatGPT ช่วยเขียนโค้ดบ้าง? แล้วเคยเจอไหมที่มันเขียนถูกทุกบรรทัดแต่ผิดโจทย์ทั้งหมด? นั่นคือปัญหาที่เราจะแก้กันวันนี้.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เชื่อมโยงกับ PDCA ที่ผู้เรียนสายบริหารคุ้นเคย. ย้ำ: Verify คือสิ่งที่ทำให้ Antigravity ต่างจาก chatbot ทั่วไป.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ย้ำว่าเราใช้แค่ 2 ตัวแรก. ถ้าใครลง IDE ไม่ทันก็ยังเรียนได้.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 จะพูดถึงอีกครั้งตอนท้ายวันในหัวข้อต่อยอด.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ชวนผู้เรียนเล่าปัญหาของหน่วยงานตัวเอง 2-3 คน เพื่อให้เห็นว่าโครงเดียวกันใช้กับงานอื่นได้.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บอกล่วงหน้าว่า stack นี้เลือกเพราะฟรีและ deploy ง่ายในหนึ่งวัน ไม่ใช่เพราะดีที่สุดเสมอไป.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ให้ผู้ช่วยเดินดูรอบห้อง 5 นาทีนี้. คนที่ยังไม่พร้อมให้จับคู่กับเพื่อนไปก่อน.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ทำพร้อมกันทั้งห้อง. รอให้ทุกคนเห็นหน้าจอ chat ก่อนไปต่อ.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ยกตัวอย่างข่าว agent ที่ลบฐานข้อมูล production. ไม่ต้องขู่มาก แต่ให้เห็นว่าการตั้งค่ามีผลจริง.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ให้ทุกคนเปิดหน้า GitHub ของตัวเองโชว์เพื่อนข้าง ๆ. ใครติด ให้ใช้วิธีที่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ถามห้อง: เคยทำระบบที่พัฒนาเสร็จแล้วผู้ใช้บอกว่าไม่ใช่แบบนี้ไหม? นั่นคือแท่งขวาสุด.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ชี้ว่าขั้น 1 ในงานจริงต้องไปคุยกับแม่บ้าน ช่าง และธุรการจริง ไม่ใช่นั่งเดาในห้องประชุม.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แจกกระดาษ A3 ให้แต่ละกลุ่มเติมตารางนี้ด้วยงานของหน่วยงานตัวเอง ถ้าเวลาเหลือ.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ย้ำคำว่า Testable — ถ้าเขียนแล้ววัดไม่ได้ว่าเสร็จหรือยัง แปลว่ายังเขียนไม่ดีพอ.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ถามห้อง: ถ้าเหลือเวลา 1 ชั่วโมง จะตัดข้อไหนก่อน? คำตอบที่ถูกคือ US-06 ไม่ใช่ US-04.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วาดสดบนไวท์บอร์ด 1 ผังเล็ก ๆ ให้ดูก่อน เช่น ขั้นตอนยืมกุญแจห้อง.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บอกว่าอีก 4 สไลด์ถัดไปคือผังจริงทั้ง 4 ระดับของ SOC CMU.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เดินตามลูกศรทีละขั้นให้ห้องฟัง แล้วถามว่าขาดอะไรไปบ้าง เช่น กรณีเรื่องซ้ำ.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เปรียบเทียบกับเครื่องซักผ้า หรือสถานะพัสดุไปรษณีย์ ซึ่งทุกคนคุ้นเคย.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ให้ห้องช่วยหาว่ามี transition ไหนที่ยังขาด เช่น ASSIGNED กลับไป NEW เมื่อช่างลาออก.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ประโยคที่ต้องพูด: "ทุกกากบาทในตารางนี้ คือหนึ่งบรรทัดใน Security Rules".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ชี้ว่าแถวล่างสุดคือ Could (US-07) ซึ่งอาจไม่ได้ทำวันนี้.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ให้เวลาผู้เรียน 8 นาทีตอบคำถามที่ AI ถามกลับ แล้วอัปเดตผังของตัวเอง.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ถ้าห้องเป็นสายที่ไม่เคยเรียนฐานข้อมูล ใช้เวลาตรงนี้มากหน่อย ค่อย ๆ ไล่จากคำนามในผัง.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 N+1 query เป็นจุดที่ผู้เรียนสายพัฒนาจะพยักหน้า. สายไม่โค้ดให้เน้นแค่ "อ่านให้จบในครั้งเดียว".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ให้ผู้เรียนเทียบผลของ AI กับสไลด์นี้ ไม่ต้องเหมือนเป๊ะ แต่ต้องมีองค์ประกอบครบ.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ปิดครึ่งเช้าด้วยประโยคนี้. ให้ทุกคน commit ก่อนไปพักเที่ยง.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เดินดูให้ครบทุกคนก่อนไปต่อ ขั้นนี้พลาดกันบ่อยที่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เชื่อมกลับไปสไลด์ swimlane. บอกว่าเดี๋ยว S7 จะเขียน rules จริง.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สไลด์นี้สำคัญมาก. หยุดสาธิตจริงบนจอ ให้ทุกคนเปิด Auxiliary Pane พร้อมกัน.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ระหว่างรอ Agent ทำงาน ให้ผู้เรียนเปิด Implementation Plan อ่านและ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ให้ผู้เรียนลองถ่ายรูปในห้องอบรมและอัปโหลดจริงจากมือถือ.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กลุ่มสายภูมิศาสตร์: ขยายประเด็น vector vs raster และระบบพิกัด WGS84 ได้อีก 5 นาที.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เน้นวิธีตรวจแบบผู้ใช้ ไม่ใช่แบบโปรแกรมเมอร์ เพราะผู้เรียนส่วนใหญ่อ่านโค้ดไม่ออก.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ถามห้อง: อยากได้แจ้งเตือนทางไหนในหน่วยงานจริง? ส่วนใหญ่จะตอบ LINE — อธิบายว่าต้องมี Cloud Function เป็นตัวกลาง.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เตือนเรื่องกราฟวงกลม 12 ชิ้นที่อ่านไม่ออก. Dashboard ที่ดีต้องตอบได้ใน 5 วินาที.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ให้ผู้เรียนเพิ่มข้อมูลทดสอบ 10-15 ใบก่อน ไม่งั้น dashboard จะว่างเปล่าและดูไม่ออกว่าทำงานไหม.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สาธิตหน้าห้องก่อน 1 รอบ ให้ทุกคนดูวิดีโอ/สกรีนช็อตที่ agent สร้าง. นี่คือช่วงที่คนตื่นเต้นที่สุดของวัน.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เผื่อเวลาสำหรับคนที่ deploy ไม่ผ่าน. ปัญหาที่พบบ่อยคือเลือก public directory ผิดเป็น public แทน dist.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อย่ารีบ. ให้ผู้เรียนพูดมากกว่าวิทยากรในช่วงนี้.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พูดตรง ๆ ว่าอย่าเพิ่งเอาไปใช้กับข้อมูลจริงของหน่วยงานในสัปดาห์หน้า.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ถ่ายรูปสไลด์นี้เก็บไว้ได้เลย. เป็นสไลด์ที่ผู้เรียนขอไฟล์มากที่สุด.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แจกไฟล์ PDF ของสไลด์นี้ให้ผู้เรียนก่อนเลิก.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ปิดด้วยการชวนผู้เรียนบอกว่าจะเอาไปทำระบบอะไรต่อ.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54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3840480" cy="384048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66928" y="17556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7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</a:t>
            </a:r>
            <a:r>
              <a:rPr lang="en-US" sz="27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สร้างเว็บแอปด้วย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226771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Google Antigravity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66928" y="1357884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การอบรมเชิงปฏิบัติการ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495604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5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ศักดิ์ดา หอมหวล</a:t>
            </a:r>
            <a:endParaRPr lang="en-US" sz="15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1EDA60-E8E0-1190-DD1F-7F2ABA58ED43}"/>
              </a:ext>
            </a:extLst>
          </p:cNvPr>
          <p:cNvGrpSpPr/>
          <p:nvPr/>
        </p:nvGrpSpPr>
        <p:grpSpPr>
          <a:xfrm>
            <a:off x="566928" y="3333400"/>
            <a:ext cx="7863840" cy="402336"/>
            <a:chOff x="566928" y="4663440"/>
            <a:chExt cx="7863840" cy="402336"/>
          </a:xfrm>
        </p:grpSpPr>
        <p:sp>
          <p:nvSpPr>
            <p:cNvPr id="10" name="Shape 8"/>
            <p:cNvSpPr/>
            <p:nvPr/>
          </p:nvSpPr>
          <p:spPr>
            <a:xfrm>
              <a:off x="566928" y="4663440"/>
              <a:ext cx="2066544" cy="402336"/>
            </a:xfrm>
            <a:prstGeom prst="roundRect">
              <a:avLst>
                <a:gd name="adj" fmla="val 50000"/>
              </a:avLst>
            </a:prstGeom>
            <a:solidFill>
              <a:srgbClr val="1F4463"/>
            </a:solidFill>
            <a:ln/>
          </p:spPr>
          <p:txBody>
            <a:bodyPr/>
            <a:lstStyle/>
            <a:p>
              <a:endParaRPr lang="en-TH"/>
            </a:p>
          </p:txBody>
        </p:sp>
        <p:sp>
          <p:nvSpPr>
            <p:cNvPr id="11" name="Text 9"/>
            <p:cNvSpPr/>
            <p:nvPr/>
          </p:nvSpPr>
          <p:spPr>
            <a:xfrm>
              <a:off x="566928" y="4663440"/>
              <a:ext cx="206654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CFE0EC"/>
                  </a:solidFill>
                  <a:latin typeface="Noto Sans Thai" panose="020B0502040504020204" pitchFamily="34" charset="-34"/>
                  <a:ea typeface="Tahoma" pitchFamily="34" charset="-122"/>
                  <a:cs typeface="Noto Sans Thai" panose="020B0502040504020204" pitchFamily="34" charset="-34"/>
                </a:rPr>
                <a:t>#ออกแบบด้วย Flowchart</a:t>
              </a:r>
              <a:endParaRPr lang="en-US" sz="11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798064" y="4663440"/>
              <a:ext cx="1618488" cy="402336"/>
            </a:xfrm>
            <a:prstGeom prst="roundRect">
              <a:avLst>
                <a:gd name="adj" fmla="val 50000"/>
              </a:avLst>
            </a:prstGeom>
            <a:solidFill>
              <a:srgbClr val="1F4463"/>
            </a:solidFill>
            <a:ln/>
          </p:spPr>
          <p:txBody>
            <a:bodyPr/>
            <a:lstStyle/>
            <a:p>
              <a:endParaRPr lang="en-TH"/>
            </a:p>
          </p:txBody>
        </p:sp>
        <p:sp>
          <p:nvSpPr>
            <p:cNvPr id="13" name="Text 11"/>
            <p:cNvSpPr/>
            <p:nvPr/>
          </p:nvSpPr>
          <p:spPr>
            <a:xfrm>
              <a:off x="2798064" y="4663440"/>
              <a:ext cx="1618488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CFE0EC"/>
                  </a:solidFill>
                  <a:latin typeface="Noto Sans Thai" panose="020B0502040504020204" pitchFamily="34" charset="-34"/>
                  <a:ea typeface="Tahoma" pitchFamily="34" charset="-122"/>
                  <a:cs typeface="Noto Sans Thai" panose="020B0502040504020204" pitchFamily="34" charset="-34"/>
                </a:rPr>
                <a:t>#Agent เขียนโค้ด</a:t>
              </a:r>
              <a:endParaRPr lang="en-US" sz="11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81144" y="4663440"/>
              <a:ext cx="2156155" cy="402336"/>
            </a:xfrm>
            <a:prstGeom prst="roundRect">
              <a:avLst>
                <a:gd name="adj" fmla="val 50000"/>
              </a:avLst>
            </a:prstGeom>
            <a:solidFill>
              <a:srgbClr val="1F4463"/>
            </a:solidFill>
            <a:ln/>
          </p:spPr>
          <p:txBody>
            <a:bodyPr/>
            <a:lstStyle/>
            <a:p>
              <a:endParaRPr lang="en-TH"/>
            </a:p>
          </p:txBody>
        </p:sp>
        <p:sp>
          <p:nvSpPr>
            <p:cNvPr id="15" name="Text 13"/>
            <p:cNvSpPr/>
            <p:nvPr/>
          </p:nvSpPr>
          <p:spPr>
            <a:xfrm>
              <a:off x="4581144" y="4663440"/>
              <a:ext cx="2156155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CFE0EC"/>
                  </a:solidFill>
                  <a:latin typeface="Noto Sans Thai" panose="020B0502040504020204" pitchFamily="34" charset="-34"/>
                  <a:ea typeface="Tahoma" pitchFamily="34" charset="-122"/>
                  <a:cs typeface="Noto Sans Thai" panose="020B0502040504020204" pitchFamily="34" charset="-34"/>
                </a:rPr>
                <a:t>#Browser Agent ตรวจงาน</a:t>
              </a:r>
              <a:endParaRPr lang="en-US" sz="11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901891" y="4663440"/>
              <a:ext cx="1528877" cy="402336"/>
            </a:xfrm>
            <a:prstGeom prst="roundRect">
              <a:avLst>
                <a:gd name="adj" fmla="val 50000"/>
              </a:avLst>
            </a:prstGeom>
            <a:solidFill>
              <a:srgbClr val="1F4463"/>
            </a:solidFill>
            <a:ln/>
          </p:spPr>
          <p:txBody>
            <a:bodyPr/>
            <a:lstStyle/>
            <a:p>
              <a:endParaRPr lang="en-TH"/>
            </a:p>
          </p:txBody>
        </p:sp>
        <p:sp>
          <p:nvSpPr>
            <p:cNvPr id="17" name="Text 15"/>
            <p:cNvSpPr/>
            <p:nvPr/>
          </p:nvSpPr>
          <p:spPr>
            <a:xfrm>
              <a:off x="6901891" y="4663440"/>
              <a:ext cx="1528877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CFE0EC"/>
                  </a:solidFill>
                  <a:latin typeface="Noto Sans Thai" panose="020B0502040504020204" pitchFamily="34" charset="-34"/>
                  <a:ea typeface="Tahoma" pitchFamily="34" charset="-122"/>
                  <a:cs typeface="Noto Sans Thai" panose="020B0502040504020204" pitchFamily="34" charset="-34"/>
                </a:rPr>
                <a:t>#Deploy ใช้จริง</a:t>
              </a:r>
              <a:endParaRPr lang="en-US" sz="115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566928" y="562356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9B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19 </a:t>
            </a:r>
            <a:r>
              <a:rPr lang="th-TH" sz="1200" dirty="0">
                <a:solidFill>
                  <a:srgbClr val="8FA9B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ส.ค. </a:t>
            </a:r>
            <a:r>
              <a:rPr lang="en-US" sz="1200" dirty="0">
                <a:solidFill>
                  <a:srgbClr val="8FA9B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2569</a:t>
            </a:r>
            <a:r>
              <a:rPr lang="th-TH" sz="1200" dirty="0">
                <a:solidFill>
                  <a:srgbClr val="8FA9B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</a:t>
            </a:r>
            <a:r>
              <a:rPr lang="en-US" sz="1200" dirty="0">
                <a:solidFill>
                  <a:srgbClr val="8FA9B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| 13.00 – 16.30 น.  |   </a:t>
            </a:r>
            <a:r>
              <a:rPr lang="th-TH" sz="1200" dirty="0">
                <a:solidFill>
                  <a:srgbClr val="8FA9B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คณะสังคมศาสตร์ 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ผลลัพธ์การเรียนรู้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จบวันนี้ ผู้เรียนทำอะไรได้บ้าง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22960" y="171907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26" y="1880738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6459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ติดตั้งและตั้งค่า Antigravity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27632" y="19933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เชื่อม GitHub และกำหนดสิทธิ์ให้ Agent อย่างปลอดภัย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54496" y="1389888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7"/>
          <p:cNvSpPr/>
          <p:nvPr/>
        </p:nvSpPr>
        <p:spPr>
          <a:xfrm>
            <a:off x="6510528" y="171907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194" y="1880738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459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แปลงปัญหาจริงเป็น Flowchart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15200" y="19933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Requirements → User Story → ผังงาน 4 ระดับ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2871216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1"/>
          <p:cNvSpPr/>
          <p:nvPr/>
        </p:nvSpPr>
        <p:spPr>
          <a:xfrm>
            <a:off x="822960" y="32004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626" y="3362066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1272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ออกแบบฐานข้อมูลด้วย AI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27632" y="34747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พร้อมตรวจทานความถูกต้องได้ด้วยตนเอง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54496" y="2871216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5"/>
          <p:cNvSpPr/>
          <p:nvPr/>
        </p:nvSpPr>
        <p:spPr>
          <a:xfrm>
            <a:off x="6510528" y="32004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194" y="3362066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1272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สั่งงาน Agent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0" y="34747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Login · รูปภาพ · แผนที่ · Dashboard · แจ้งเตือน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66928" y="4352544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19"/>
          <p:cNvSpPr/>
          <p:nvPr/>
        </p:nvSpPr>
        <p:spPr>
          <a:xfrm>
            <a:off x="822960" y="468172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626" y="4843394"/>
            <a:ext cx="298460" cy="298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7632" y="46085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อ่านและวิจารณ์ Artifacts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627632" y="49560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ควบคุมแผนงานก่อน Agent ลงมือเขียนโค้ด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54496" y="4352544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3"/>
          <p:cNvSpPr/>
          <p:nvPr/>
        </p:nvSpPr>
        <p:spPr>
          <a:xfrm>
            <a:off x="6510528" y="468172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194" y="4843394"/>
            <a:ext cx="298460" cy="298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0" y="46085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ทดสอบด้วย Browser Agent + Deploy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315200" y="49560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ได้ URL ใช้งานจริงบน Firebase Hosting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· Google Antigravity Workshop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ตารางเวลา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แผนการ</a:t>
            </a:r>
            <a:r>
              <a:rPr lang="th-TH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อบรม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31520" y="1472184"/>
            <a:ext cx="475488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31520" y="1472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0762" y="1371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Agentic Development + โจทย์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906524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731520" y="2007108"/>
            <a:ext cx="475488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731520" y="200710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0762" y="190652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ติดตั้ง Antigravity + GitHub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441448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31520" y="2542032"/>
            <a:ext cx="47548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731520" y="2542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0762" y="24414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คิดก่อนโค้ด: Requirements → Flowchart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2976372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731520" y="3076956"/>
            <a:ext cx="475488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731520" y="307695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0762" y="29763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AI ออกแบบฐานข้อมูล + SPEC.md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3511296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731520" y="3611880"/>
            <a:ext cx="475488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0762" y="35112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Scaffold + ระบบ Login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404622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731520" y="4146804"/>
            <a:ext cx="475488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731520" y="41468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70762" y="40462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ฟอร์ม + รูปภาพ + แผนที่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" y="4581144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731520" y="4681728"/>
            <a:ext cx="475488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731520" y="46817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70762" y="45811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Dashboard + แจ้งเตือน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66928" y="5116068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Shape 38"/>
          <p:cNvSpPr/>
          <p:nvPr/>
        </p:nvSpPr>
        <p:spPr>
          <a:xfrm>
            <a:off x="731520" y="5216652"/>
            <a:ext cx="475488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731520" y="521665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370762" y="51160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Browser Agent + Deploy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66928" y="5650992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Shape 43"/>
          <p:cNvSpPr/>
          <p:nvPr/>
        </p:nvSpPr>
        <p:spPr>
          <a:xfrm>
            <a:off x="731520" y="5751576"/>
            <a:ext cx="475488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6" name="Text 44"/>
          <p:cNvSpPr/>
          <p:nvPr/>
        </p:nvSpPr>
        <p:spPr>
          <a:xfrm>
            <a:off x="731520" y="575157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370762" y="5650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นำเสนอ + ถอดบทเรียน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686800" y="1371600"/>
            <a:ext cx="2926080" cy="2286000"/>
          </a:xfrm>
          <a:prstGeom prst="roundRect">
            <a:avLst>
              <a:gd name="adj" fmla="val 4000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Shape 48"/>
          <p:cNvSpPr/>
          <p:nvPr/>
        </p:nvSpPr>
        <p:spPr>
          <a:xfrm>
            <a:off x="8915400" y="15727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046" y="1715414"/>
            <a:ext cx="263347" cy="263347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8915400" y="22311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คือหัวใจ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8915400" y="2560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ถ้าเวลาไม่พอ ให้ตัดฟีเจอร์ช่วงบ่าย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แต่ห้ามตัดช่วงออกแบบ Flowchart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เพราะคุณภาพของ output จาก AI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ขึ้นกับคุณภาพของ input เสมอ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8686800" y="3803904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5" name="Text 52"/>
          <p:cNvSpPr/>
          <p:nvPr/>
        </p:nvSpPr>
        <p:spPr>
          <a:xfrm>
            <a:off x="8915400" y="3968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พักเบรก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8915400" y="43159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10.15 – 10.30   พักเบรก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12.00 – 13.00   พักกลางวัน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14.40 – 14.55   พักเบรก</a:t>
            </a:r>
            <a:endParaRPr lang="en-US" sz="1250" dirty="0"/>
          </a:p>
        </p:txBody>
      </p:sp>
      <p:sp>
        <p:nvSpPr>
          <p:cNvPr id="58" name="Text 54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กติกาของวันนี้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ห้ามสั่ง Agent ว่า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3A1F1C"/>
          </a:solidFill>
          <a:ln w="12700">
            <a:solidFill>
              <a:srgbClr val="3A1F1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932688" y="210312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A79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“ช่วยสร้างระบบ</a:t>
            </a:r>
            <a:r>
              <a:rPr lang="th-TH" sz="2600" dirty="0">
                <a:solidFill>
                  <a:srgbClr val="F0A79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</a:t>
            </a:r>
            <a:r>
              <a:rPr lang="en-US" sz="2600" dirty="0">
                <a:solidFill>
                  <a:srgbClr val="F0A79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xxx ให้หน่อย”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ต้องมี Flowchart และ Spec ก่อนเสมอ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66928" y="3803904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33A34"/>
          </a:solidFill>
          <a:ln w="12700">
            <a:solidFill>
              <a:srgbClr val="133A3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932688" y="3803904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6D6C4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“อ่าน @SPEC.md แล้วสร้างหน้า xxx ตาม US-01 โดยยังไม่ต้องแตะส่วนอื่น”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66928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AI เก่งเรื่อง “ทำอย่างไร”  —  เราต้องเป็นคนตอบว่า “ทำอะไร และทำไม”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S0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จาก “ตัวช่วยพิมพ์โค้ด” สู่ “เพื่อนร่วมงานที่ทำงานเองได้”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179405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27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ยุคที่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45920" y="1865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Autocomplete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239572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เติมโค้ดทีละบรรทัด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คนคิด คนพิมพ์ คนตรวจ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AI ช่วยแค่ความเร็วนิ้ว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37160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4663440" y="16276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861" y="179405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1627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ยุคที่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468112" y="1865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Chat Assistant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63440" y="239572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ถาม-ตอบในกล่องข้าง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คนยังต้องคัดลอกไปวางเอง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AI ไม่เห็นทั้งโปรเจกต์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11312" y="137160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3"/>
          <p:cNvSpPr/>
          <p:nvPr/>
        </p:nvSpPr>
        <p:spPr>
          <a:xfrm>
            <a:off x="8485632" y="16276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053" y="1794053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90304" y="1627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ยุคที่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290304" y="1865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Agent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85632" y="239572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วางแผน → ลงมือ → ตรวจสอบเอง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แก้หลายไฟล์ รันคำสั่ง เปิดเบราว์เซอร์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คนเปลี่ยนบทบาทเป็น “ผู้กำกับ”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66928" y="4069080"/>
            <a:ext cx="11064240" cy="1572768"/>
          </a:xfrm>
          <a:prstGeom prst="roundRect">
            <a:avLst>
              <a:gd name="adj" fmla="val 5814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0"/>
          <p:cNvSpPr/>
          <p:nvPr/>
        </p:nvSpPr>
        <p:spPr>
          <a:xfrm>
            <a:off x="786384" y="4224528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Autonomy Spectrum — ยิ่ง AI ทำเองได้มาก คนยิ่งต้องเก่งเรื่อง “การกำหนดโจทย์” และ “การตรวจรับ”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86384" y="4636008"/>
            <a:ext cx="10625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เมื่อ AI เขียนโค้ดได้ 500 บรรทัดใน 2 นาที ทักษะที่ขาดแคลนจึงไม่ใช่การเขียนโค้ด แต่เป็น 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(1) การนิยามปัญหาให้ชัด (2) การออกแบบกระบวนการ (3) การตรวจสอบว่าสิ่งที่ได้ตรงกับที่ต้องการจริงหรือไม่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endParaRPr lang="en-US" sz="1250" dirty="0">
              <a:solidFill>
                <a:srgbClr val="16212E"/>
              </a:solidFill>
              <a:latin typeface="Noto Sans Thai" panose="020B0502040504020204" pitchFamily="34" charset="-34"/>
              <a:ea typeface="Tahoma" pitchFamily="34" charset="-122"/>
              <a:cs typeface="Noto Sans Thai" panose="020B0502040504020204" pitchFamily="34" charset="-34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“การคิดบนกระดาษ” ก่อนแตะคีย์บอร์ด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S0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วงจรการทำงานของ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ทุกครั้งที่คุณสั่งงาน Antigravity มันจะวนอยู่ใน 4 ขั้นนี้ — และเราแทรกแซงได้ทุกขั้น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121408" cy="2148840"/>
          </a:xfrm>
          <a:prstGeom prst="roundRect">
            <a:avLst>
              <a:gd name="adj" fmla="val 425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1324216" y="19933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637" y="215981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7832" y="2743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Perceive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37832" y="301752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รับบริบท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3552" y="3310128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อ่าน prompt, ไฟล์ในโปรเจกต์,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SPEC.md, ผลลัพธ์รอบก่อน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5275" y="2852928"/>
            <a:ext cx="566928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9"/>
          <p:cNvSpPr/>
          <p:nvPr/>
        </p:nvSpPr>
        <p:spPr>
          <a:xfrm>
            <a:off x="3343374" y="1783080"/>
            <a:ext cx="2024152" cy="2148840"/>
          </a:xfrm>
          <a:prstGeom prst="roundRect">
            <a:avLst>
              <a:gd name="adj" fmla="val 425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0"/>
          <p:cNvSpPr/>
          <p:nvPr/>
        </p:nvSpPr>
        <p:spPr>
          <a:xfrm>
            <a:off x="4038318" y="19933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739" y="2159813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51934" y="2743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Plan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251934" y="301752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วางแผน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297654" y="3310128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สร้าง Implementation Plan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และ Task List → เรารีวิวได้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38595" y="2852928"/>
            <a:ext cx="566928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5"/>
          <p:cNvSpPr/>
          <p:nvPr/>
        </p:nvSpPr>
        <p:spPr>
          <a:xfrm>
            <a:off x="6022564" y="1783080"/>
            <a:ext cx="2131386" cy="2148840"/>
          </a:xfrm>
          <a:prstGeom prst="roundRect">
            <a:avLst>
              <a:gd name="adj" fmla="val 425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6"/>
          <p:cNvSpPr/>
          <p:nvPr/>
        </p:nvSpPr>
        <p:spPr>
          <a:xfrm>
            <a:off x="6773206" y="19933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9627" y="2159813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86822" y="2743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Act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986822" y="301752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ลงมือ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032542" y="3310128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แก้ไฟล์ รันคำสั่ง ติดตั้ง package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เปิดเบราว์เซอร์ ทดสอบ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215050" y="2852928"/>
            <a:ext cx="566928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1"/>
          <p:cNvSpPr/>
          <p:nvPr/>
        </p:nvSpPr>
        <p:spPr>
          <a:xfrm>
            <a:off x="8781978" y="1783080"/>
            <a:ext cx="2487168" cy="2148840"/>
          </a:xfrm>
          <a:prstGeom prst="roundRect">
            <a:avLst>
              <a:gd name="adj" fmla="val 4255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2"/>
          <p:cNvSpPr/>
          <p:nvPr/>
        </p:nvSpPr>
        <p:spPr>
          <a:xfrm>
            <a:off x="9705522" y="19933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1943" y="2159813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919138" y="2743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Verify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8919138" y="301752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ตรวจสอบ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964858" y="3310128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รัน build, จับ screenshot,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สร้าง Walkthrough เป็นหลักฐาน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10318170" y="4160520"/>
            <a:ext cx="0" cy="0"/>
          </a:xfrm>
          <a:prstGeom prst="line">
            <a:avLst/>
          </a:prstGeom>
          <a:noFill/>
          <a:ln w="19050">
            <a:solidFill>
              <a:srgbClr val="E8952F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27"/>
          <p:cNvSpPr/>
          <p:nvPr/>
        </p:nvSpPr>
        <p:spPr>
          <a:xfrm>
            <a:off x="3749040" y="4224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ถ้าผลตรวจไม่ผ่าน Agent จะวนกลับไปวางแผนใหม่เอง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66928" y="4681728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1"/>
          <p:cNvSpPr/>
          <p:nvPr/>
        </p:nvSpPr>
        <p:spPr>
          <a:xfrm>
            <a:off x="786384" y="484632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จุดที่มนุษย์ควรแทรกแซงมากที่สุดคือขั้น Plan ไม่ใช่ขั้น Act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86384" y="5248656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แก้แผน 1 บรรทัด ประหยัดเวลากว่าแก้โค้ด 300 บรรทัด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S0 · ทำความรู้จักเครื่องมือ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Google Antigravity คืออะไร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แพลตฟอร์มพัฒนาซอฟต์แวร์แบบ agent-first ของ Google · ใช้ได้ฟรีในช่วง public preview · Windows / macOS / Linux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724912" cy="2423160"/>
          </a:xfrm>
          <a:prstGeom prst="roundRect">
            <a:avLst>
              <a:gd name="adj" fmla="val 377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804672" y="20848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223223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Antigravity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แอปหลัก — ศูนย์บัญชาการ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สั่ง Agent หลายตัวขนานกัน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ตั้ง Scheduled Task ได้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" y="3968496"/>
            <a:ext cx="1837944" cy="237744"/>
          </a:xfrm>
          <a:prstGeom prst="roundRect">
            <a:avLst>
              <a:gd name="adj" fmla="val 50000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8"/>
          <p:cNvSpPr/>
          <p:nvPr/>
        </p:nvSpPr>
        <p:spPr>
          <a:xfrm>
            <a:off x="804672" y="3968496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ใช้เป็นหลักวันนี้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29000" y="1874520"/>
            <a:ext cx="2724912" cy="2423160"/>
          </a:xfrm>
          <a:prstGeom prst="roundRect">
            <a:avLst>
              <a:gd name="adj" fmla="val 377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0"/>
          <p:cNvSpPr/>
          <p:nvPr/>
        </p:nvSpPr>
        <p:spPr>
          <a:xfrm>
            <a:off x="3666744" y="20848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145" y="2232233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66744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Antigravity IDE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66744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IDE เต็มรูปแบบ (fork ของ VS Code)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มี Agent panel + เข้าใจทั้ง codebase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66744" y="3968496"/>
            <a:ext cx="1728216" cy="237744"/>
          </a:xfrm>
          <a:prstGeom prst="roundRect">
            <a:avLst>
              <a:gd name="adj" fmla="val 50000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4"/>
          <p:cNvSpPr/>
          <p:nvPr/>
        </p:nvSpPr>
        <p:spPr>
          <a:xfrm>
            <a:off x="3666744" y="3968496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ใช้ดู/แก้โค้ด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91072" y="1874520"/>
            <a:ext cx="2724912" cy="2423160"/>
          </a:xfrm>
          <a:prstGeom prst="roundRect">
            <a:avLst>
              <a:gd name="adj" fmla="val 3774"/>
            </a:avLst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6"/>
          <p:cNvSpPr/>
          <p:nvPr/>
        </p:nvSpPr>
        <p:spPr>
          <a:xfrm>
            <a:off x="6528816" y="20848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217" y="2232233"/>
            <a:ext cx="272125" cy="2721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28816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Antigravity CLI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28816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สั่ง Agent จาก terminal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เหมาะกับงาน automation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528816" y="3968496"/>
            <a:ext cx="1837944" cy="237744"/>
          </a:xfrm>
          <a:prstGeom prst="roundRect">
            <a:avLst>
              <a:gd name="adj" fmla="val 50000"/>
            </a:avLst>
          </a:prstGeom>
          <a:solidFill>
            <a:srgbClr val="C3CD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0"/>
          <p:cNvSpPr/>
          <p:nvPr/>
        </p:nvSpPr>
        <p:spPr>
          <a:xfrm>
            <a:off x="6528816" y="3968496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ไม่ครอบคลุมวันนี้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9153144" y="1874520"/>
            <a:ext cx="2724912" cy="2423160"/>
          </a:xfrm>
          <a:prstGeom prst="roundRect">
            <a:avLst>
              <a:gd name="adj" fmla="val 3774"/>
            </a:avLst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2"/>
          <p:cNvSpPr/>
          <p:nvPr/>
        </p:nvSpPr>
        <p:spPr>
          <a:xfrm>
            <a:off x="9390888" y="20848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8289" y="2232233"/>
            <a:ext cx="272125" cy="27212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90888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Antigravity SDK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390888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เขียน Python สร้าง agent เอง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และรัน evaluation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9390888" y="3968496"/>
            <a:ext cx="1837944" cy="237744"/>
          </a:xfrm>
          <a:prstGeom prst="roundRect">
            <a:avLst>
              <a:gd name="adj" fmla="val 50000"/>
            </a:avLst>
          </a:prstGeom>
          <a:solidFill>
            <a:srgbClr val="C3CD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26"/>
          <p:cNvSpPr/>
          <p:nvPr/>
        </p:nvSpPr>
        <p:spPr>
          <a:xfrm>
            <a:off x="9390888" y="3968496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ไม่ครอบคลุมวันนี้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66928" y="45262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Shape 28"/>
          <p:cNvSpPr/>
          <p:nvPr/>
        </p:nvSpPr>
        <p:spPr>
          <a:xfrm>
            <a:off x="768096" y="470916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29"/>
          <p:cNvSpPr/>
          <p:nvPr/>
        </p:nvSpPr>
        <p:spPr>
          <a:xfrm>
            <a:off x="768096" y="47091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รู้ไว้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1591056" y="4690872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Model optionality — เลือกโมเดลได้ในกล่องแชท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786384" y="5093208"/>
            <a:ext cx="1062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4"/>
              </a:lnSpc>
              <a:buNone/>
            </a:pPr>
            <a:r>
              <a:rPr lang="en-US" sz="9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Antigravity ไม่ผูกกับโมเดลเดียว รองรับทั้ง Gemini 3 Pro / Flash, Claude และ GPT-OSS  ·  งานวางแผนกับงานที่ต้องคิดซับซ้อนควรใช้โมเดลตัวใหญ่  งานแก้เล็ก ๆ ใช้ตัวเร็วได้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S0 · ศัพท์สำคัญ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 คำที่ต้องเข้าใจก่อนเริ่ม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04672" y="149961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642262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3716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Project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584448" y="137160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ชุดโฟลเดอร์ + สิทธิ์ + เครื่องมือ ที่กำหนดขอบเขตให้ Agent  หนึ่ง project รวมหลายโฟลเดอร์ได้ เช่น frontend + backend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2276856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7"/>
          <p:cNvSpPr/>
          <p:nvPr/>
        </p:nvSpPr>
        <p:spPr>
          <a:xfrm>
            <a:off x="804672" y="24048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254751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6192" y="227685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Conversation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84448" y="2276856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สายสนทนาหนึ่งเรื่อง อยู่ภายใต้ project  ตั้งชื่อได้ แยกเรื่องกันเพื่อไม่ให้บริบทปนกัน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3182112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1"/>
          <p:cNvSpPr/>
          <p:nvPr/>
        </p:nvSpPr>
        <p:spPr>
          <a:xfrm>
            <a:off x="804672" y="33101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" y="345277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318211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Artifact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584448" y="318211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หลักฐานการทำงานของ Agent — Implementation Plan, Task List, Walkthrough, screenshot, code diff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66928" y="4087368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5"/>
          <p:cNvSpPr/>
          <p:nvPr/>
        </p:nvSpPr>
        <p:spPr>
          <a:xfrm>
            <a:off x="804672" y="421538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435803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36192" y="408736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Browser Agent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3584448" y="408736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Agent ย่อยที่เปิด Chrome จริง คลิกจริง กรอกฟอร์มจริง แล้วรายงานผลกลับพร้อมภาพ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66928" y="4992624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19"/>
          <p:cNvSpPr/>
          <p:nvPr/>
        </p:nvSpPr>
        <p:spPr>
          <a:xfrm>
            <a:off x="804672" y="5120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318" y="526328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36192" y="499262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Skill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584448" y="4992624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แพ็กเกจความรู้เฉพาะทางที่เราเขียนเอง (SKILL.md) จะถูกโหลดเข้าบริบทเฉพาะตอนที่เกี่ยวข้อง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66928" y="58887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Progressive disclosure — Skill จะไม่กินพื้นที่บริบทจนกว่าจะถูกเรียกใช้ ทำให้ Agent ไม่สับสนกับกฎเป็นร้อยข้อพร้อมกัน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691640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566928" y="5029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S0 · โจทย์ของเรา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ตัวอย่าง</a:t>
            </a:r>
            <a:r>
              <a:rPr lang="en-US" sz="28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: ปัญหาของงานอาคารสถานที่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ปัจจุบันหน่วยงานรับแจ้งซ่อมผ่าน LINE กลุ่มและใบแจ้งซ่อมกระดาษ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804672" y="2276856"/>
            <a:ext cx="512064" cy="512064"/>
          </a:xfrm>
          <a:prstGeom prst="ellipse">
            <a:avLst/>
          </a:prstGeom>
          <a:solidFill>
            <a:srgbClr val="24455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09" y="2409993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276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ค้นเรื่องเก่าไม่เจอ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25877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ข้อความไหลหายในกลุ่มไลน์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205740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9"/>
          <p:cNvSpPr/>
          <p:nvPr/>
        </p:nvSpPr>
        <p:spPr>
          <a:xfrm>
            <a:off x="4535424" y="2276856"/>
            <a:ext cx="512064" cy="512064"/>
          </a:xfrm>
          <a:prstGeom prst="ellipse">
            <a:avLst/>
          </a:prstGeom>
          <a:solidFill>
            <a:srgbClr val="24455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561" y="2409993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2276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ไม่รู้จุดที่ชำรุดชัดเจน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193792" y="25877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“ห้องน้ำชั้น 3” — ตึกไหน ฝั่งไหน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28432" y="205740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3"/>
          <p:cNvSpPr/>
          <p:nvPr/>
        </p:nvSpPr>
        <p:spPr>
          <a:xfrm>
            <a:off x="8266176" y="2276856"/>
            <a:ext cx="512064" cy="512064"/>
          </a:xfrm>
          <a:prstGeom prst="ellipse">
            <a:avLst/>
          </a:prstGeom>
          <a:solidFill>
            <a:srgbClr val="24455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313" y="2409993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24544" y="2276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ไม่รู้ว่าเรื่องไหนค้าง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924544" y="25877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ไม่มีสถานะ ไม่มีกำหนดเสร็จ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66928" y="352044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17"/>
          <p:cNvSpPr/>
          <p:nvPr/>
        </p:nvSpPr>
        <p:spPr>
          <a:xfrm>
            <a:off x="804672" y="3739896"/>
            <a:ext cx="512064" cy="512064"/>
          </a:xfrm>
          <a:prstGeom prst="ellipse">
            <a:avLst/>
          </a:prstGeom>
          <a:solidFill>
            <a:srgbClr val="24455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809" y="3873033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3739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ไม่มีหลักฐานภาพ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463040" y="4050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ก่อน–หลังซ่อม ไม่มีบันทึก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97680" y="352044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1"/>
          <p:cNvSpPr/>
          <p:nvPr/>
        </p:nvSpPr>
        <p:spPr>
          <a:xfrm>
            <a:off x="4535424" y="3739896"/>
            <a:ext cx="512064" cy="512064"/>
          </a:xfrm>
          <a:prstGeom prst="ellipse">
            <a:avLst/>
          </a:prstGeom>
          <a:solidFill>
            <a:srgbClr val="24455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8561" y="3873033"/>
            <a:ext cx="245791" cy="24579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93792" y="3739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ผู้แจ้งไม่รู้ความคืบหน้า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193792" y="4050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ต้องเดินมาถามเอง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028432" y="352044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Shape 25"/>
          <p:cNvSpPr/>
          <p:nvPr/>
        </p:nvSpPr>
        <p:spPr>
          <a:xfrm>
            <a:off x="8266176" y="3739896"/>
            <a:ext cx="512064" cy="512064"/>
          </a:xfrm>
          <a:prstGeom prst="ellipse">
            <a:avLst/>
          </a:prstGeom>
          <a:solidFill>
            <a:srgbClr val="24455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9313" y="3873033"/>
            <a:ext cx="245791" cy="24579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24544" y="3739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สรุปสถิติสิ้นปีไม่ได้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924544" y="4050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วางแผนงบประมาณจากความรู้สึก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66928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สังเกตว่า “ปัญหา” ทั้ง 6 ข้อนี้ ยังไม่ใช่ “ความต้องการของระบบ” — การแปลงจากข้อหนึ่งไปอีกข้อหนึ่ง คืองานของ Session ถัดไป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S0 · เป้าหมาย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สิ่งที่เราจะสร้างวันนี้ : SOC CMU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94960" cy="1389888"/>
          </a:xfrm>
          <a:prstGeom prst="roundRect">
            <a:avLst>
              <a:gd name="adj" fmla="val 657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41248" y="175564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14" y="1917314"/>
            <a:ext cx="298460" cy="2984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1554480"/>
            <a:ext cx="310896" cy="310896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53949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64208" y="16459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แจ้งซ่อมจากมือถือ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64208" y="2011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ถ่ายรูป 1–3 ภาพ เลือกอาคาร-ชั้น-ห้อง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และปักหมุดตำแหน่งบนแผนที่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54496" y="1371600"/>
            <a:ext cx="5394960" cy="1389888"/>
          </a:xfrm>
          <a:prstGeom prst="roundRect">
            <a:avLst>
              <a:gd name="adj" fmla="val 657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9"/>
          <p:cNvSpPr/>
          <p:nvPr/>
        </p:nvSpPr>
        <p:spPr>
          <a:xfrm>
            <a:off x="6528816" y="175564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482" y="1917314"/>
            <a:ext cx="298460" cy="2984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1082528" y="1554480"/>
            <a:ext cx="310896" cy="310896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1"/>
          <p:cNvSpPr/>
          <p:nvPr/>
        </p:nvSpPr>
        <p:spPr>
          <a:xfrm>
            <a:off x="1108252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51776" y="16459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รับเรื่อง–มอบหมาย–ซ่อม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351776" y="2011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ธุรการมอบหมายช่าง ช่างอัปเดตสถานะ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พร้อมรูปหลังซ่อม ทุกขั้นมีประวัติ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66928" y="2944368"/>
            <a:ext cx="5394960" cy="1389888"/>
          </a:xfrm>
          <a:prstGeom prst="roundRect">
            <a:avLst>
              <a:gd name="adj" fmla="val 657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5"/>
          <p:cNvSpPr/>
          <p:nvPr/>
        </p:nvSpPr>
        <p:spPr>
          <a:xfrm>
            <a:off x="841248" y="3328416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914" y="3490082"/>
            <a:ext cx="298460" cy="29846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394960" y="3127248"/>
            <a:ext cx="310896" cy="310896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17"/>
          <p:cNvSpPr/>
          <p:nvPr/>
        </p:nvSpPr>
        <p:spPr>
          <a:xfrm>
            <a:off x="539496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664208" y="32186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ติดตามและแจ้งเตือน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664208" y="35844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ผู้แจ้งเห็นสถานะแบบ real-time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และได้รับแจ้งเตือนทุกครั้งที่เปลี่ยน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54496" y="2944368"/>
            <a:ext cx="5394960" cy="1389888"/>
          </a:xfrm>
          <a:prstGeom prst="roundRect">
            <a:avLst>
              <a:gd name="adj" fmla="val 657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1"/>
          <p:cNvSpPr/>
          <p:nvPr/>
        </p:nvSpPr>
        <p:spPr>
          <a:xfrm>
            <a:off x="6528816" y="3328416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482" y="3490082"/>
            <a:ext cx="298460" cy="29846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1082528" y="3127248"/>
            <a:ext cx="310896" cy="310896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3"/>
          <p:cNvSpPr/>
          <p:nvPr/>
        </p:nvSpPr>
        <p:spPr>
          <a:xfrm>
            <a:off x="11082528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351776" y="32186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Dashboard ผู้บริหาร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351776" y="35844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จำนวน/ประเภท/เวลาเฉลี่ย/เกิน SLA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พร้อมแผนที่จุดชำรุดทั้งหมด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66928" y="46177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27"/>
          <p:cNvSpPr/>
          <p:nvPr/>
        </p:nvSpPr>
        <p:spPr>
          <a:xfrm>
            <a:off x="886968" y="4754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Vite + React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886968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Frontend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3630168" y="4754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Firebase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3630168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Auth · Firestore · Storage · Hosting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373368" y="4754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Leaflet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6373368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แผนที่ปักหมุด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9116568" y="4754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Recharts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9116568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กราฟ Dashboard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SESSION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ติดตั้ง ตั้งค่า และเชื่อม GitHub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2552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เตรียมสนามให้พร้อมก่อนปล่อย Agent ลงทำงาน — และเข้าใจว่าเรากำลังให้สิทธิ์อะไรกับมันบ้าง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764438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764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ติดตั้ง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77670" y="4114800"/>
            <a:ext cx="1247242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1477670" y="4114800"/>
            <a:ext cx="12472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สร้าง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71216" y="4114800"/>
            <a:ext cx="1649578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2871216" y="4114800"/>
            <a:ext cx="1649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ตั้งค่าความปลอดภัย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7098" y="4114800"/>
            <a:ext cx="1247242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667098" y="4114800"/>
            <a:ext cx="12472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เชื่อม GitHub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331720"/>
            <a:ext cx="1371600" cy="1371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S1 · ก่อนเริ่ม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เช็กความพร้อมของเครื่อง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ถ้าข้อใดยังไม่ผ่าน ยกมือเรียกผู้ช่วยวิทยากรได้เลย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94960" cy="1115568"/>
          </a:xfrm>
          <a:prstGeom prst="roundRect">
            <a:avLst>
              <a:gd name="adj" fmla="val 819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804672" y="18470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98973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17904" y="1773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โน้ตบุ๊ก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517904" y="2084832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Windows / macOS / Linux · RAM ≥ 8 GB (แนะนำ 16) · พื้นที่ว่าง ≥ 10 GB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54496" y="1572768"/>
            <a:ext cx="5394960" cy="1115568"/>
          </a:xfrm>
          <a:prstGeom prst="roundRect">
            <a:avLst>
              <a:gd name="adj" fmla="val 819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6492240" y="18470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198973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1773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Google Chrome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205472" y="2084832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ต้องตั้งเป็นเบราว์เซอร์เริ่มต้น — จำเป็นสำหรับ Browser Agent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928" y="2816352"/>
            <a:ext cx="5394960" cy="1115568"/>
          </a:xfrm>
          <a:prstGeom prst="roundRect">
            <a:avLst>
              <a:gd name="adj" fmla="val 819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2"/>
          <p:cNvSpPr/>
          <p:nvPr/>
        </p:nvSpPr>
        <p:spPr>
          <a:xfrm>
            <a:off x="804672" y="30906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" y="3233318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17904" y="3017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บัญชี Google ส่วนตัว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517904" y="3328416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บัญชีองค์กรบางแห่งถูกล็อกไม่ให้ล็อกอิน Antigravity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54496" y="2816352"/>
            <a:ext cx="5394960" cy="1115568"/>
          </a:xfrm>
          <a:prstGeom prst="roundRect">
            <a:avLst>
              <a:gd name="adj" fmla="val 819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6"/>
          <p:cNvSpPr/>
          <p:nvPr/>
        </p:nvSpPr>
        <p:spPr>
          <a:xfrm>
            <a:off x="6492240" y="30906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4886" y="3233318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05472" y="3017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Node.js LTS + Git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205472" y="3328416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Node เวอร์ชัน 20 ขึ้นไป · ตรวจด้วย node -v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66928" y="4059936"/>
            <a:ext cx="5394960" cy="1115568"/>
          </a:xfrm>
          <a:prstGeom prst="roundRect">
            <a:avLst>
              <a:gd name="adj" fmla="val 819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0"/>
          <p:cNvSpPr/>
          <p:nvPr/>
        </p:nvSpPr>
        <p:spPr>
          <a:xfrm>
            <a:off x="804672" y="433425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318" y="4476902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17904" y="42611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บัญชี GitHub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517904" y="4572000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สมัครฟรี และยืนยันอีเมลเรียบร้อยแล้ว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54496" y="4059936"/>
            <a:ext cx="5394960" cy="1115568"/>
          </a:xfrm>
          <a:prstGeom prst="roundRect">
            <a:avLst>
              <a:gd name="adj" fmla="val 819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4"/>
          <p:cNvSpPr/>
          <p:nvPr/>
        </p:nvSpPr>
        <p:spPr>
          <a:xfrm>
            <a:off x="6492240" y="433425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4886" y="4476902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05472" y="42611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อินเทอร์เน็ตเสถียร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7205472" y="4572000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Agent ทำงานผ่านคลาวด์ตลอดเวลา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66928" y="53949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hape 28"/>
          <p:cNvSpPr/>
          <p:nvPr/>
        </p:nvSpPr>
        <p:spPr>
          <a:xfrm>
            <a:off x="768096" y="5577840"/>
            <a:ext cx="640080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29"/>
          <p:cNvSpPr/>
          <p:nvPr/>
        </p:nvSpPr>
        <p:spPr>
          <a:xfrm>
            <a:off x="768096" y="5577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บ่อยมาก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1517904" y="5559552"/>
            <a:ext cx="9893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ล็อกอินไม่ผ่าน = ใช้บัญชี Google ขององค์กรที่ถูกจำกัดสิทธิ์  →  เปลี่ยนไปใช้ Gmail ส่วนตัว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S1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ติดตั้งและสร้าง Project แรก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04672" y="1691640"/>
            <a:ext cx="420624" cy="420624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ดาวน์โหลด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286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เข้า antigravity.google/download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เลือกตามระบบปฏิบัติการ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ติดตั้งทั้ง Antigravity และ Antigravity IDE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55264" y="2523744"/>
            <a:ext cx="256032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511296" y="1481328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749040" y="1691640"/>
            <a:ext cx="420624" cy="420624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7490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ล็อกอิน + ตั้งค่าแรก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49040" y="2286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ล็อกอินด้วยบัญชี Google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ยอมรับ Security &amp; Data Use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เลือกธีม · เลือก plugin (ข้ามได้)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2523744"/>
            <a:ext cx="256032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6455664" y="1481328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693408" y="1691640"/>
            <a:ext cx="420624" cy="420624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69340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42048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สร้างโฟลเดอร์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93408" y="2286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~/antigravity-projects/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facility-care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0" y="2523744"/>
            <a:ext cx="256032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9400032" y="1481328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9637776" y="1691640"/>
            <a:ext cx="420624" cy="420624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9637776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86416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สร้าง Project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37776" y="2286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Select Project → New Project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→ Add Folder → เลือกโฟลเดอร์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→ ตั้งชื่อ facility-care → Create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3803904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768096" y="3986784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768096" y="398678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ทฤษฎี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91056" y="3968496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Project ไม่ใช่แค่ “โฟลเดอร์” — แต่คือ “ขอบเขตอำนาจ” ของ Agent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384" y="4370832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Project = ชุดโฟลเดอร์ + สิทธิ์ + MCP tools ที่ Agent เข้าถึงได้  หนึ่ง project จึงรวม repo frontend และ backend ไว้ด้วยกันได้ เพื่อให้ Agent เห็นบริบทครบ</a:t>
            </a:r>
            <a:endParaRPr lang="en-US" sz="1050" dirty="0"/>
          </a:p>
          <a:p>
            <a:pPr marL="0" indent="0">
              <a:lnSpc>
                <a:spcPts val="1596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แต่ละ project มี setting แยกจากกัน — งานที่มีข้อมูลส่วนบุคคลควรตั้งค่าเข้มกว่างานทดลอง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53218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โฟลเดอร์ไม่จำเป็นต้องว่าง — จะเปิดโปรเจกต์เดิมที่มีโค้ดอยู่แล้วก็ได้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566928" y="4080148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Shape 26">
            <a:extLst>
              <a:ext uri="{FF2B5EF4-FFF2-40B4-BE49-F238E27FC236}">
                <a16:creationId xmlns:a16="http://schemas.microsoft.com/office/drawing/2014/main" id="{E713DA0B-6CB7-BF9E-7ADB-C13CD1CB398E}"/>
              </a:ext>
            </a:extLst>
          </p:cNvPr>
          <p:cNvSpPr/>
          <p:nvPr/>
        </p:nvSpPr>
        <p:spPr>
          <a:xfrm>
            <a:off x="700719" y="4263028"/>
            <a:ext cx="2918380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S1 · ทฤษฎี +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ตั้งค่าให้ Agent — อย่ากด Next ผ่าน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2377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ค่าที่ตั้ง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ความหมาย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แนะนำในห้องอบรม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Security Preset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Agent ต้องขออนุญาตก่อนรันคำสั่ง terminal หรือแก้ไฟล์หรือไม่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ให้รีวิวก่อน ในช่วงเช้า แล้วค่อยผ่อนช่วงบ่าย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Agent Behaviour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ลงมือตามแผนทันที หรือรอเรารีวิว Implementation Plan ก่อน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รอรีวิว — หัวใจของวันนี้คือการอ่านแผน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Local Permissions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path และ URL ที่อนุญาตหรือบล็อกไม่ให้ Agent เข้าถึง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ปล่อยค่าเริ่มต้น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MCP Tools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เลือกว่า MCP server ตัวไหนใช้ได้ในโปรเจกต์นี้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เปิดเฉพาะตัวที่ใช้จริง</a:t>
                      </a:r>
                      <a:endParaRPr lang="en-US" sz="12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86384" y="4244740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หลัก Least Privilege (สิทธิ์เท่าที่จำเป็น)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86384" y="4647076"/>
            <a:ext cx="4956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8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ให้สิทธิ์น้อยที่สุดเท่าที่งานจะเดินได้ แล้วค่อยเพิ่มเมื่อจำเป็น</a:t>
            </a:r>
            <a:endParaRPr lang="en-US" sz="1150" dirty="0"/>
          </a:p>
          <a:p>
            <a:pPr marL="0" indent="0">
              <a:lnSpc>
                <a:spcPts val="1748"/>
              </a:lnSpc>
              <a:buNone/>
            </a:pPr>
            <a:endParaRPr lang="en-US" sz="1150" dirty="0"/>
          </a:p>
          <a:p>
            <a:pPr marL="0" indent="0">
              <a:lnSpc>
                <a:spcPts val="1748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Agent ที่รันคำสั่งได้เองโดยไม่ถาม = สะดวกมาก แต่ก็ลบไฟล์ผิดได้เองเช่นกัน  ความสะดวกกับความปลอดภัยแลกกันเสมอ — เราต้องเลือกอย่างรู้ตัว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54496" y="4080148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6455664" y="4263028"/>
            <a:ext cx="2245574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0"/>
          <p:cNvSpPr/>
          <p:nvPr/>
        </p:nvSpPr>
        <p:spPr>
          <a:xfrm>
            <a:off x="6483096" y="4244740"/>
            <a:ext cx="24193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Human-in-the-loop คืออะไร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73952" y="4647076"/>
            <a:ext cx="4956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การออกแบบระบบอัตโนมัติให้มี “จุดหยุดให้คนตัดสินใจ” คั่นไว้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ใน Antigravity จุดนั้นคือปุ่ม Proceed บน Implementation Plan  ยิ่งงานมีผลกระทบสูง จุดหยุดยิ่งต้องมีมาก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S1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เชื่อมต่อ GitHub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035040" cy="2423160"/>
          </a:xfrm>
          <a:prstGeom prst="roundRect">
            <a:avLst>
              <a:gd name="adj" fmla="val 3774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15361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วิธีที่ 1 — ให้ Agent ทำให้ (แนะนำ)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55595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สร้าง Git repository ในโฟลเดอร์นี้ ตั้งค่า .gitignore สำหรับโปรเจกต์ Node/Vite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(ต้องมี node_modules, .env, .firebase, dist)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สร้าง README.md อธิบายว่าโปรเจกต์นี้คือระบบแจ้งซ่อมอาคารสถานที่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แล้ว commit แรกด้วยข้อความ "chore: initial project setup"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จากนั้นบอกขั้นตอนที่ฉันต้องทำเองเพื่อ push ขึ้น GitHub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03136" y="1371600"/>
            <a:ext cx="4828032" cy="1298448"/>
          </a:xfrm>
          <a:prstGeom prst="roundRect">
            <a:avLst>
              <a:gd name="adj" fmla="val 5634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6986016" y="1536192"/>
            <a:ext cx="685800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986016" y="15361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วิธีที่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22592" y="190195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24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auth login</a:t>
            </a:r>
            <a:endParaRPr lang="en-US" sz="1000" dirty="0"/>
          </a:p>
          <a:p>
            <a:pPr marL="0" indent="0">
              <a:lnSpc>
                <a:spcPts val="1524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create facility-care \</a:t>
            </a:r>
            <a:endParaRPr lang="en-US" sz="1000" dirty="0"/>
          </a:p>
          <a:p>
            <a:pPr marL="0" indent="0">
              <a:lnSpc>
                <a:spcPts val="1524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--public --source=. --push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2798064"/>
            <a:ext cx="4828032" cy="996696"/>
          </a:xfrm>
          <a:prstGeom prst="roundRect">
            <a:avLst>
              <a:gd name="adj" fmla="val 917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7022592" y="2944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ต่อยอด : GitHub MCP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22592" y="32186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Settings → Customizations → Add MCP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แล้วสั่งได้เลยว่า “เปิด issue ใน repo นี้สำหรับงานที่ยังไม่เสร็จทั้งหมด”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041648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768095" y="4224528"/>
            <a:ext cx="4160039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895148" y="4206240"/>
            <a:ext cx="105257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ทำไม Version Control สำคัญกว่าเดิมมากในยุค Agent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86384" y="4608576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Agent แก้ไฟล์ทีละหลายสิบไฟล์ในเวลาไม่กี่นาที ถ้ามันเดินผิดทาง เราต้องมี “ปุ่มย้อนกลับ” ที่เชื่อถือได้  git คือปุ่มนั้น</a:t>
            </a:r>
            <a:endParaRPr lang="en-US" sz="1200" dirty="0"/>
          </a:p>
          <a:p>
            <a:pPr marL="0" indent="0">
              <a:lnSpc>
                <a:spcPts val="1824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วินัยที่ควรทำ: commit ทุกครั้งที่ระบบยังทำงานได้ดี  ไม่ใช่ commit ตอนจบวันครั้งเดียว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468112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E5F2EC"/>
          </a:solidFill>
          <a:ln w="12700">
            <a:solidFill>
              <a:srgbClr val="E5F2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768096" y="5641848"/>
            <a:ext cx="1143000" cy="256032"/>
          </a:xfrm>
          <a:prstGeom prst="roundRect">
            <a:avLst>
              <a:gd name="adj" fmla="val 4642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768096" y="56418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48256" y="5614416"/>
            <a:ext cx="9363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 1 — มี Project ใน Antigravity + repo บน GitHub ที่มี commit แรกเรียบร้อย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SESSION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คิดก่อนโค้ด : Requirements → Flowchart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2552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20 นาทีแรก ปิดหน้าจอ Agent ใช้กระดาษกับปากกาก่อน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เราจะเปลี่ยน “ความคิดรวบยอด” ให้กลายเป็นเอกสารที่ AI อ่านแล้วทำตามได้ตรง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523037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523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5W1H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6269" y="41148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1236269" y="4114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User Story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88413" y="4114800"/>
            <a:ext cx="1569110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2388413" y="4114800"/>
            <a:ext cx="1569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Flowchart 4 ระดับ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03827" y="4114800"/>
            <a:ext cx="1569110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103827" y="4114800"/>
            <a:ext cx="1569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ให้ AI ตรวจงานเรา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331720"/>
            <a:ext cx="1371600" cy="1371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ทำไมต้องออกแบบก่อน ทั้งที่ AI เขียนโค้ดเร็วมาก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371600"/>
          <a:ext cx="6492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4348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อ้างอิงแนวคิด Cost of Change (Boehm) — ตัวเลขเป็นการเปรียบเทียบเชิงสัมพัทธ์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287768" y="1371600"/>
            <a:ext cx="4343400" cy="2103120"/>
          </a:xfrm>
          <a:prstGeom prst="roundRect">
            <a:avLst>
              <a:gd name="adj" fmla="val 4348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/>
          <p:nvPr/>
        </p:nvSpPr>
        <p:spPr>
          <a:xfrm>
            <a:off x="7516368" y="1536192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AI ทำให้ “ขั้นเขียนโค้ด” ถูก 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07224" y="1938528"/>
            <a:ext cx="39044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ถ้าโจทย์ผิดตั้งแต่ต้น AI จะสร้างของผิดได้เร็วขึ้นเท่านั้นเอง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สิ่งที่แพงที่สุดยังคงเป็นการค้นพบตอนใช้งานจริงว่า “นี่ไม่ใช่สิ่งที่ต้องการ”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87768" y="3639312"/>
            <a:ext cx="4343400" cy="2011680"/>
          </a:xfrm>
          <a:prstGeom prst="roundRect">
            <a:avLst>
              <a:gd name="adj" fmla="val 4545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7516368" y="38404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Garbage In, Garbage Out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16368" y="4224528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คุณภาพของสิ่งที่ Agent สร้าง แปรผันตรงกับความชัดเจนของสิ่งที่เราป้อนเข้าไป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เวลา 50 นาทีใน Session นี้ จะประหยัดเวลาช่วงบ่ายได้มากกว่า 2 ชั่วโมง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กระบวนการเก็บความต้องการ 4 ขั้น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Requirements Engineering — วันนี้เราจะทำครบทั้ง 4 ขั้นภายใน 50 นาที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651760" cy="2788920"/>
          </a:xfrm>
          <a:prstGeom prst="roundRect">
            <a:avLst>
              <a:gd name="adj" fmla="val 34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2140793"/>
            <a:ext cx="272125" cy="2721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51760" y="1993392"/>
            <a:ext cx="329184" cy="329184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/>
          <p:nvPr/>
        </p:nvSpPr>
        <p:spPr>
          <a:xfrm>
            <a:off x="265176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Elicitation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เก็บความต้องการ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4672" y="327355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สัมภาษณ์ผู้ใช้จริง สังเกตหน้างาน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ดูเอกสาร/แบบฟอร์มเดิมที่ใช้อยู่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" y="4169664"/>
            <a:ext cx="779069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1"/>
          <p:cNvSpPr/>
          <p:nvPr/>
        </p:nvSpPr>
        <p:spPr>
          <a:xfrm>
            <a:off x="804672" y="4169664"/>
            <a:ext cx="7790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5W1H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55264" y="3154680"/>
            <a:ext cx="256032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3"/>
          <p:cNvSpPr/>
          <p:nvPr/>
        </p:nvSpPr>
        <p:spPr>
          <a:xfrm>
            <a:off x="3511296" y="1783080"/>
            <a:ext cx="2651760" cy="2788920"/>
          </a:xfrm>
          <a:prstGeom prst="roundRect">
            <a:avLst>
              <a:gd name="adj" fmla="val 34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4"/>
          <p:cNvSpPr/>
          <p:nvPr/>
        </p:nvSpPr>
        <p:spPr>
          <a:xfrm>
            <a:off x="3749040" y="1993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441" y="2140793"/>
            <a:ext cx="272125" cy="27212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96128" y="1993392"/>
            <a:ext cx="329184" cy="329184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6"/>
          <p:cNvSpPr/>
          <p:nvPr/>
        </p:nvSpPr>
        <p:spPr>
          <a:xfrm>
            <a:off x="559612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74904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Analysis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749040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วิเคราะห์และจัดลำดับ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3749040" y="327355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แยกความต้องการที่ขัดแย้งกัน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จัดลำดับความสำคัญ ตัดสิ่งที่ไม่จำเป็น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749040" y="4169664"/>
            <a:ext cx="940003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1"/>
          <p:cNvSpPr/>
          <p:nvPr/>
        </p:nvSpPr>
        <p:spPr>
          <a:xfrm>
            <a:off x="3749040" y="4169664"/>
            <a:ext cx="940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MoSCoW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199632" y="3154680"/>
            <a:ext cx="256032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3"/>
          <p:cNvSpPr/>
          <p:nvPr/>
        </p:nvSpPr>
        <p:spPr>
          <a:xfrm>
            <a:off x="6455664" y="1783080"/>
            <a:ext cx="2651760" cy="2788920"/>
          </a:xfrm>
          <a:prstGeom prst="roundRect">
            <a:avLst>
              <a:gd name="adj" fmla="val 34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4"/>
          <p:cNvSpPr/>
          <p:nvPr/>
        </p:nvSpPr>
        <p:spPr>
          <a:xfrm>
            <a:off x="6693408" y="1993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809" y="2140793"/>
            <a:ext cx="272125" cy="272125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8540496" y="1993392"/>
            <a:ext cx="329184" cy="329184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6"/>
          <p:cNvSpPr/>
          <p:nvPr/>
        </p:nvSpPr>
        <p:spPr>
          <a:xfrm>
            <a:off x="854049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693408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Specification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6693408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เขียนให้เป็นเอกสาร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693408" y="327355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แปลงเป็นภาษาที่ไม่กำกวม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วาดผังงาน กำหนดเกณฑ์ยอมรับ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693408" y="4169664"/>
            <a:ext cx="1986077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1"/>
          <p:cNvSpPr/>
          <p:nvPr/>
        </p:nvSpPr>
        <p:spPr>
          <a:xfrm>
            <a:off x="6693408" y="4169664"/>
            <a:ext cx="19860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Flowchart + SPEC.md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9144000" y="3154680"/>
            <a:ext cx="256032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8" name="Shape 33"/>
          <p:cNvSpPr/>
          <p:nvPr/>
        </p:nvSpPr>
        <p:spPr>
          <a:xfrm>
            <a:off x="9400032" y="1783080"/>
            <a:ext cx="2651760" cy="2788920"/>
          </a:xfrm>
          <a:prstGeom prst="roundRect">
            <a:avLst>
              <a:gd name="adj" fmla="val 34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Shape 34"/>
          <p:cNvSpPr/>
          <p:nvPr/>
        </p:nvSpPr>
        <p:spPr>
          <a:xfrm>
            <a:off x="9637776" y="1993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5177" y="2140793"/>
            <a:ext cx="272125" cy="272125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11484864" y="1993392"/>
            <a:ext cx="329184" cy="329184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2" name="Text 36"/>
          <p:cNvSpPr/>
          <p:nvPr/>
        </p:nvSpPr>
        <p:spPr>
          <a:xfrm>
            <a:off x="114848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9637776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Validation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9637776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ตรวจสอบความถูกต้อง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9637776" y="327355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ทวนกับผู้ใช้ว่าเข้าใจตรงกัน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หา edge case ที่ยังไม่ครอบคลุม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9637776" y="4169664"/>
            <a:ext cx="1664208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7" name="Text 41"/>
          <p:cNvSpPr/>
          <p:nvPr/>
        </p:nvSpPr>
        <p:spPr>
          <a:xfrm>
            <a:off x="9637776" y="416966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ให้ AI ช่วยตรวจ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566928" y="4773168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9" name="Shape 43"/>
          <p:cNvSpPr/>
          <p:nvPr/>
        </p:nvSpPr>
        <p:spPr>
          <a:xfrm>
            <a:off x="768096" y="4956048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0" name="Text 44"/>
          <p:cNvSpPr/>
          <p:nvPr/>
        </p:nvSpPr>
        <p:spPr>
          <a:xfrm>
            <a:off x="768096" y="49560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สำคัญ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1591056" y="493776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ข้อผิดพลาดที่พบบ่อยที่สุด: ข้ามขั้นที่ 4</a:t>
            </a:r>
            <a:endParaRPr lang="en-US" sz="1400" dirty="0"/>
          </a:p>
        </p:txBody>
      </p:sp>
      <p:sp>
        <p:nvSpPr>
          <p:cNvPr id="52" name="Text 46"/>
          <p:cNvSpPr/>
          <p:nvPr/>
        </p:nvSpPr>
        <p:spPr>
          <a:xfrm>
            <a:off x="786384" y="5340096"/>
            <a:ext cx="10625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6"/>
              </a:lnSpc>
              <a:buNone/>
            </a:pPr>
            <a:r>
              <a:rPr lang="en-US" sz="8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คนส่วนใหญ่เขียน requirement เสร็จแล้วลงมือทำทันที ทั้งที่ยังไม่มีใครทวนว่า “เข้าใจตรงกันหรือยัง” — วันนี้เราจะใช้ AI ทำหน้าที่นี้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ปฏิบัติ (ทำเป็นกลุ่ม 10 นาที)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ขั้นที่ 1 — ตีโจทย์ด้วย 5W1H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371246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คำถาม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คำตอบของ SOC CMU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ส่งผลต่อการออกแบบอย่างไร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Who — ใครใช้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ผู้แจ้ง (บุคลากร/นักศึกษา) · ธุรการอาคาร · ช่างเทคนิค · หัวหน้างาน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กำหนดจำนวน role และสิทธิ์ → 4 บทบาท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What — ทำอะไร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แจ้ง → รับเรื่อง → มอบหมาย → ซ่อม → ปิดงาน → สรุปผล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กำหนดสถานะของใบแจ้ง → state machine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When — เมื่อไร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แจ้งทันทีที่พบ · ติดตามได้ตลอดเวลา · สรุปรายเดือน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ต้องมี real-time update และ report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Where — ที่ไหน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ผู้แจ้งยืนอยู่หน้าจุดชำรุด ใช้มือถือเป็นหลัก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ออกแบบ mobile-first · ใช้กล้องและ GPS ได้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Why — ทำไม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ลดเรื่องตกหล่น · รู้ตำแหน่งชัด · มีหลักฐานภาพ · วัดผลได้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กำหนดตัวชี้วัดที่ต้องมีใน Dashboard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How — อย่างไร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เว็บแอป + Firebase + แผนที่ (ไม่ทำเป็น mobile app)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กำหนด tech stack และขอบเขตงาน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3"/>
          <p:cNvSpPr/>
          <p:nvPr/>
        </p:nvSpPr>
        <p:spPr>
          <a:xfrm>
            <a:off x="768096" y="5321808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4"/>
          <p:cNvSpPr/>
          <p:nvPr/>
        </p:nvSpPr>
        <p:spPr>
          <a:xfrm>
            <a:off x="768096" y="532180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ทฤษฎี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591056" y="53035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สังเกตคอลัมน์ขวา — ทุกคำตอบต้องแปลงเป็น “ผลต่อการออกแบบ” ให้ได้ ไม่งั้นก็เป็นแค่ข้อมูลที่ไม่ได้ใช้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User Story และ Acceptance Criteria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932688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ในฐานะ  &lt;ใคร&gt;   ฉันต้องการ  &lt;ทำอะไร&gt;   เพื่อ  &lt;ได้ประโยชน์อะไร&gt;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786384" y="2578608"/>
            <a:ext cx="566928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786384" y="25786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ไม่ดี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81328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“ทำหน้าแจ้งซ่อม”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98094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ไม่รู้ว่าใครใช้ ไม่รู้ว่าต้องมีอะไรบ้าง ไม่รู้ว่าเสร็จแล้ววัดจากอะไร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AI จะเดาแทนเรา และมันเดาจากค่าเฉลี่ยของอินเทอร์เน็ต ไม่ใช่จากหน่วยงานเรา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4496" y="2395728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E5F2EC"/>
          </a:solidFill>
          <a:ln w="12700">
            <a:solidFill>
              <a:srgbClr val="E5F2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6473952" y="2578608"/>
            <a:ext cx="457200" cy="256032"/>
          </a:xfrm>
          <a:prstGeom prst="roundRect">
            <a:avLst>
              <a:gd name="adj" fmla="val 4642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473952" y="25786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ดี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059168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5B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US-01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98094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ในฐานะ ผู้แจ้ง ฉันต้องการ แจ้งจุดชำรุดพร้อมรูปถ่ายและตำแหน่งบนแผนที่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เพื่อ ให้ช่างหาจุดที่ต้องซ่อมเจอโดยไม่ต้องโทรถาม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187952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768096" y="4370832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768096" y="43708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INVEST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91056" y="435254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เกณฑ์ตรวจ User Story ที่ดี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4754880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Independent อิสระ · Negotiable ต่อรองได้ · Valuable มีคุณค่าต่อผู้ใช้ · Estimable ประเมินเวลาได้ · Small เล็กพอ · Testable ทดสอบได้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54496" y="4187952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6455664" y="4370832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6455664" y="43708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G-W-T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78624" y="435254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Acceptance Criteria แบบ Given–When–Then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73952" y="4754880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Given ผู้ใช้ล็อกอินแล้ว  When กดบันทึกโดยยังไม่ใส่รูป  Then ระบบต้องแจ้งเตือนและไม่บันทึก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→ ประโยคนี้แปลงเป็น test case ได้ทันที และ AI ก็อ่านรู้เรื่อง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ขั้นที่ 2 — รายการ User Story และการจัดลำดับ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7223760" cy="370332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#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ใคร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ต้องการอะไร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ลำดับ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US-01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ผู้แจ้ง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แจ้งจุดชำรุดพร้อมรูปและตำแหน่งบนแผนที่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Must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US-02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ผู้แจ้ง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ดูสถานะเรื่องที่ตนแจ้งไว้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Must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US-03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ธุรการ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เห็นเรื่องใหม่ทั้งหมดและมอบหมายช่าง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Must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US-04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ช่าง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ดูงานที่ได้รับมอบหมาย + อัปเดตสถานะพร้อมรูปหลังซ่อม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Must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US-05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ทุกคน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ได้รับแจ้งเตือนเมื่อสถานะเปลี่ยน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Should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US-06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หัวหน้างาน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Dashboard สรุปจำนวน ประเภท เวลาเฉลี่ย และแผนที่จุดชำรุด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Should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US-07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ผู้ดูแลระบบ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จัดการผู้ใช้ อาคาร และประเภทงาน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Could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US-08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ผู้แจ้ง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ให้คะแนนความพึงพอใจหลังปิดงาน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Won't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19288" y="1371600"/>
            <a:ext cx="3611880" cy="2487168"/>
          </a:xfrm>
          <a:prstGeom prst="roundRect">
            <a:avLst>
              <a:gd name="adj" fmla="val 3676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3"/>
          <p:cNvSpPr/>
          <p:nvPr/>
        </p:nvSpPr>
        <p:spPr>
          <a:xfrm>
            <a:off x="8220456" y="155448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4"/>
          <p:cNvSpPr/>
          <p:nvPr/>
        </p:nvSpPr>
        <p:spPr>
          <a:xfrm>
            <a:off x="8220456" y="15544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MoSCoW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043416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การจัดลำดับความสำคัญ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38744" y="1938528"/>
            <a:ext cx="3172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Must — ไม่มีไม่ได้ ระบบใช้งานไม่ได้เลย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Should — สำคัญ แต่เลื่อนได้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Could — มีก็ดี ทำถ้าเวลาเหลือ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Won't — ตกลงกันชัดว่า “รอบนี้ไม่ทำ”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19288" y="4023360"/>
            <a:ext cx="3611880" cy="1645920"/>
          </a:xfrm>
          <a:prstGeom prst="roundRect">
            <a:avLst>
              <a:gd name="adj" fmla="val 5556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8"/>
          <p:cNvSpPr/>
          <p:nvPr/>
        </p:nvSpPr>
        <p:spPr>
          <a:xfrm>
            <a:off x="8247888" y="4206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ทักษะที่สำคัญกว่าการเขียนโค้ด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47888" y="453542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คือการกล้าตัด scope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วันนี้เราทำ Must ทั้งหมด + Should เท่าที่ทัน  และเขียน Won't ไว้ในเอกสารด้วย เพื่อกัน AI (และเพื่อนร่วมงาน) ทำเกินขอบเขต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สัญลักษณ์ผังงานมาตรฐาน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ISO 5807 / ANSI — ใช้ให้ถูกความหมาย เพราะ AI ตีความจากรูปทรงและคำที่เราเขียนกำกับ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1024128" y="1993392"/>
            <a:ext cx="1188720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70408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Terminator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16382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เริ่ม / จบ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178308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273552" y="1993392"/>
            <a:ext cx="1188720" cy="713232"/>
          </a:xfrm>
          <a:prstGeom prst="rect">
            <a:avLst/>
          </a:prstGeom>
          <a:solidFill>
            <a:srgbClr val="FFFFFF"/>
          </a:solidFill>
          <a:ln w="2032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2953512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9232" y="316382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การประมวลผลหรือการกระทำ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65776" y="178308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5522976" y="1993392"/>
            <a:ext cx="1188720" cy="713232"/>
          </a:xfrm>
          <a:prstGeom prst="diamond">
            <a:avLst/>
          </a:prstGeom>
          <a:solidFill>
            <a:srgbClr val="FFFFFF"/>
          </a:solidFill>
          <a:ln w="20320">
            <a:solidFill>
              <a:srgbClr val="E895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202936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Decision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48656" y="316382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จุดตัดสินใจ มี 2 ทางออกขึ้นไป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78308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7772400" y="1993392"/>
            <a:ext cx="1188720" cy="713232"/>
          </a:xfrm>
          <a:prstGeom prst="parallelogram">
            <a:avLst/>
          </a:prstGeom>
          <a:solidFill>
            <a:srgbClr val="FFFFFF"/>
          </a:solidFill>
          <a:ln w="20320">
            <a:solidFill>
              <a:srgbClr val="10726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745236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Input /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16382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รับข้อมูลเข้า หรือแสดงผลออก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64624" y="178308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10021824" y="1993392"/>
            <a:ext cx="1188720" cy="713232"/>
          </a:xfrm>
          <a:prstGeom prst="flowChartMagneticDrum">
            <a:avLst/>
          </a:prstGeom>
          <a:solidFill>
            <a:srgbClr val="FFFFFF"/>
          </a:solidFill>
          <a:ln w="20320">
            <a:solidFill>
              <a:srgbClr val="10726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9701784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Data Store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47504" y="316382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บันทึกหรืออ่านจากฐานข้อมูล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279392"/>
            <a:ext cx="5394960" cy="1389888"/>
          </a:xfrm>
          <a:prstGeom prst="roundRect">
            <a:avLst>
              <a:gd name="adj" fmla="val 6579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768096" y="4462272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768096" y="44622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ทฤษฎี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91056" y="444398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กฎ 3 ข้อของผังงานที่ใช้งานได้จริง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6384" y="4846320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63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1. ทุกเส้นทางต้องไปจบที่ terminator เสมอ — ห้ามมีเส้นที่หายไปเฉย ๆ</a:t>
            </a:r>
            <a:endParaRPr lang="en-US" sz="1050" dirty="0"/>
          </a:p>
          <a:p>
            <a:pPr marL="0" indent="0">
              <a:lnSpc>
                <a:spcPts val="1663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2. Decision ต้องมีป้ายกำกับทุกทางออก (ใช่ / ไม่ใช่ / กรณีอื่น)</a:t>
            </a:r>
            <a:endParaRPr lang="en-US" sz="1050" dirty="0"/>
          </a:p>
          <a:p>
            <a:pPr marL="0" indent="0">
              <a:lnSpc>
                <a:spcPts val="1663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3. หนึ่งผัง ตอบหนึ่งคำถาม — อย่ายัดทุกอย่างลงผังเดียว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54496" y="4279392"/>
            <a:ext cx="5394960" cy="1389888"/>
          </a:xfrm>
          <a:prstGeom prst="roundRect">
            <a:avLst>
              <a:gd name="adj" fmla="val 6579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6455664" y="4462272"/>
            <a:ext cx="640080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6455664" y="4462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กับดัก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05472" y="4443984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ผังงานที่สวยแต่ไร้ประโยชน์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73952" y="4846320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63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คือผังที่มีแต่ “ทางที่ทุกอย่างราบรื่น” (happy path)  ระบบจริงพังที่ทางแยก — เรื่องซ้ำ ผู้แจ้งใส่ข้อมูลไม่ครบ ช่างลาป่วย ของไม่มีในคลัง</a:t>
            </a:r>
            <a:endParaRPr lang="en-US" sz="1050" dirty="0"/>
          </a:p>
          <a:p>
            <a:pPr marL="0" indent="0">
              <a:lnSpc>
                <a:spcPts val="1663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จำนวน decision node ในผังของคุณ คือดัชนีชี้วัดว่าคุณคิดรอบคอบแค่ไหน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ขั้นที่ 3 — วาดผัง 4 ระดับ  แต่ละระดับตอบคนละคำถาม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94960" cy="2029968"/>
          </a:xfrm>
          <a:prstGeom prst="roundRect">
            <a:avLst>
              <a:gd name="adj" fmla="val 450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22960" y="1609344"/>
            <a:ext cx="457200" cy="457200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82296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26464" y="16093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Process 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19019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“งานเดินอย่างไร”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2677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ภาพรวมกระบวนการตั้งแต่พบปัญหาจนปิดงาน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ใช้สื่อสารกับผู้บริหารและผู้ใช้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2852928"/>
            <a:ext cx="48463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969264" y="28529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แปลงเป็น: ลำดับการทำงานของระบบ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1371600"/>
            <a:ext cx="5394960" cy="2029968"/>
          </a:xfrm>
          <a:prstGeom prst="roundRect">
            <a:avLst>
              <a:gd name="adj" fmla="val 450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6510528" y="1609344"/>
            <a:ext cx="457200" cy="457200"/>
          </a:xfrm>
          <a:prstGeom prst="ellipse">
            <a:avLst/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510528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14032" y="16093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State Diagram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14032" y="19019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“ใบแจ้งมีสถานะอะไรบ้าง”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วงจรชีวิตของใบแจ้งซ่อม 1 ใบ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เปลี่ยนจากสถานะไหนไปไหนได้บ้าง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28816" y="2852928"/>
            <a:ext cx="48463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656832" y="28529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แปลงเป็น: enum + กฎการเปลี่ยนสถานะ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584448"/>
            <a:ext cx="5394960" cy="2029968"/>
          </a:xfrm>
          <a:prstGeom prst="roundRect">
            <a:avLst>
              <a:gd name="adj" fmla="val 450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822960" y="3822192"/>
            <a:ext cx="457200" cy="45720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8229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26464" y="3822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Swimlane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26464" y="41148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7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“ใครทำอะไรได้”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4480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ตารางสิทธิ์ของแต่ละบทบาท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ต่อแต่ละการกระทำในระบบ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1248" y="5065776"/>
            <a:ext cx="48463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969264" y="50657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57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แปลงเป็น: Security Rules + RoleRoute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4496" y="3584448"/>
            <a:ext cx="5394960" cy="2029968"/>
          </a:xfrm>
          <a:prstGeom prst="roundRect">
            <a:avLst>
              <a:gd name="adj" fmla="val 450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6510528" y="3822192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65105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14032" y="3822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Screen Flow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14032" y="41148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“แอปมีกี่หน้า ไปกันอย่างไร”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28816" y="4480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ผังหน้าจอและเส้นทางการนำทาง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แยกตามบทบาทผู้ใช้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28816" y="5065776"/>
            <a:ext cx="48463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6656832" y="50657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5B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แปลงเป็น: routing + โครงไฟล์ pages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5870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คนส่วนใหญ่วาดแค่ระดับ (ก) แล้วรีบไปเขียนโค้ด — ระดับ (ข) และ (ค) คือสองระดับที่ AI ต้องการมากที่สุด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ผังระดับที่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(ก) Process Flow — กระบวนการแจ้งซ่อม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B3A57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9202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พบจุดชำรุด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87168" y="1847088"/>
            <a:ext cx="356616" cy="0"/>
          </a:xfrm>
          <a:prstGeom prst="line">
            <a:avLst/>
          </a:prstGeom>
          <a:noFill/>
          <a:ln w="17780">
            <a:solidFill>
              <a:srgbClr val="6E7F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2843784" y="1481328"/>
            <a:ext cx="1920240" cy="731520"/>
          </a:xfrm>
          <a:prstGeom prst="parallelogram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0726F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2843784" y="1481328"/>
            <a:ext cx="19202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กรอกฟอร์ม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+ ถ่ายรูป 1–3 ภาพ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64024" y="1847088"/>
            <a:ext cx="356616" cy="0"/>
          </a:xfrm>
          <a:prstGeom prst="line">
            <a:avLst/>
          </a:prstGeom>
          <a:noFill/>
          <a:ln w="17780">
            <a:solidFill>
              <a:srgbClr val="6E7F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5120640" y="1481328"/>
            <a:ext cx="1920240" cy="731520"/>
          </a:xfrm>
          <a:prstGeom prst="parallelogram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0726F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120640" y="1481328"/>
            <a:ext cx="19202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เลือกอาคาร ชั้น ห้อง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+ ปักหมุดแผนที่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1847088"/>
            <a:ext cx="356616" cy="0"/>
          </a:xfrm>
          <a:prstGeom prst="line">
            <a:avLst/>
          </a:prstGeom>
          <a:noFill/>
          <a:ln w="17780">
            <a:solidFill>
              <a:srgbClr val="6E7F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397496" y="1481328"/>
            <a:ext cx="1920240" cy="731520"/>
          </a:xfrm>
          <a:prstGeom prst="flowChartMagneticDrum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0726F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Finite State Machine — ผังที่ AI ชอบที่สุด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ทฤษฎี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91056" y="1536192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นิยาม: ระบบที่ ณ เวลาหนึ่งอยู่ได้เพียง “หนึ่งสถานะ” และเปลี่ยนสถานะได้เฉพาะตามเส้นทางที่กำหนดไว้เท่านั้น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1938528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ใบแจ้งซ่อม 1 ใบ = 1 state machine  ·  ถ้าเราไม่นิยามให้ชัด ระบบจะเกิดสถานะประหลาด เช่น ใบที่ “ปิดงานแล้ว” แต่ “ยังไม่เคยมอบหมายช่าง” ซึ่งเป็นไปไม่ได้ในโลกจริง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566160" cy="2084832"/>
          </a:xfrm>
          <a:prstGeom prst="roundRect">
            <a:avLst>
              <a:gd name="adj" fmla="val 438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22960" y="29443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3091769"/>
            <a:ext cx="272125" cy="27212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36192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State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536192" y="32552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สถานะที่เป็นไปได้ทั้งหมด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3657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· NEED_INFO · REJECTED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 · IN_PROGRESS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ON_HOLD · DONE · CLOSED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89120" y="2743200"/>
            <a:ext cx="3566160" cy="2084832"/>
          </a:xfrm>
          <a:prstGeom prst="roundRect">
            <a:avLst>
              <a:gd name="adj" fmla="val 438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3"/>
          <p:cNvSpPr/>
          <p:nvPr/>
        </p:nvSpPr>
        <p:spPr>
          <a:xfrm>
            <a:off x="4645152" y="29443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553" y="3091769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58384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Transition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358384" y="32552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การเปลี่ยนสถานะที่อนุญาต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663440" y="3657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→ ASSIGNED  ✓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→ DONE  ✗ (ข้ามขั้น)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→ อะไรก็ตาม  ✗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211312" y="2743200"/>
            <a:ext cx="3566160" cy="2084832"/>
          </a:xfrm>
          <a:prstGeom prst="roundRect">
            <a:avLst>
              <a:gd name="adj" fmla="val 438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18"/>
          <p:cNvSpPr/>
          <p:nvPr/>
        </p:nvSpPr>
        <p:spPr>
          <a:xfrm>
            <a:off x="8467344" y="29443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4745" y="3091769"/>
            <a:ext cx="272125" cy="2721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80576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Guard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9180576" y="32552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เงื่อนไขและสิทธิ์ในการเปลี่ยน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485632" y="3657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เฉพาะช่างที่ถูกมอบหมาย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จึงเปลี่ยนเป็น IN_PROGRESS ได้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และต้องแนบเหตุผลทุกครั้ง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66928" y="5010912"/>
            <a:ext cx="11064240" cy="676656"/>
          </a:xfrm>
          <a:prstGeom prst="roundRect">
            <a:avLst>
              <a:gd name="adj" fmla="val 13514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3"/>
          <p:cNvSpPr/>
          <p:nvPr/>
        </p:nvSpPr>
        <p:spPr>
          <a:xfrm>
            <a:off x="886968" y="5010912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ทำไม AI ชอบ :  State + Transition + Guard  แปลงเป็นโค้ดได้แบบตรงตัว → enum, ฟังก์ชันตรวจสิทธิ์ และ Security Rules  โดยแทบไม่ต้องตีความ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ผังระดับที่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(ข) State Diagram — วงจรชีวิตของใบแจ้งซ่อม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3063240"/>
            <a:ext cx="1572768" cy="658368"/>
          </a:xfrm>
          <a:prstGeom prst="roundRect">
            <a:avLst>
              <a:gd name="adj" fmla="val 48611"/>
            </a:avLst>
          </a:prstGeom>
          <a:solidFill>
            <a:srgbClr val="E8952F"/>
          </a:solidFill>
          <a:ln w="12700">
            <a:solidFill>
              <a:srgbClr val="E895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051560" y="306324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NEW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24328" y="3392424"/>
            <a:ext cx="475488" cy="0"/>
          </a:xfrm>
          <a:prstGeom prst="line">
            <a:avLst/>
          </a:prstGeom>
          <a:noFill/>
          <a:ln w="20320">
            <a:solidFill>
              <a:srgbClr val="1B3A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2240280" y="277063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มอบหมายช่าง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99816" y="3063240"/>
            <a:ext cx="1572768" cy="658368"/>
          </a:xfrm>
          <a:prstGeom prst="roundRect">
            <a:avLst>
              <a:gd name="adj" fmla="val 48611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099816" y="306324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ASSIGNED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72584" y="3392424"/>
            <a:ext cx="475488" cy="0"/>
          </a:xfrm>
          <a:prstGeom prst="line">
            <a:avLst/>
          </a:prstGeom>
          <a:noFill/>
          <a:ln w="20320">
            <a:solidFill>
              <a:srgbClr val="1B3A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4288536" y="277063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ช่างเริ่มงาน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48072" y="3063240"/>
            <a:ext cx="1572768" cy="658368"/>
          </a:xfrm>
          <a:prstGeom prst="roundRect">
            <a:avLst>
              <a:gd name="adj" fmla="val 48611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148072" y="306324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IN_PROGRESS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3392424"/>
            <a:ext cx="475488" cy="0"/>
          </a:xfrm>
          <a:prstGeom prst="line">
            <a:avLst/>
          </a:prstGeom>
          <a:noFill/>
          <a:ln w="20320">
            <a:solidFill>
              <a:srgbClr val="1B3A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336792" y="277063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ซ่อมเสร็จ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96328" y="3063240"/>
            <a:ext cx="1572768" cy="658368"/>
          </a:xfrm>
          <a:prstGeom prst="roundRect">
            <a:avLst>
              <a:gd name="adj" fmla="val 48611"/>
            </a:avLst>
          </a:prstGeom>
          <a:solidFill>
            <a:srgbClr val="10726F"/>
          </a:solidFill>
          <a:ln w="12700">
            <a:solidFill>
              <a:srgbClr val="10726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7196328" y="306324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DONE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69096" y="3392424"/>
            <a:ext cx="475488" cy="0"/>
          </a:xfrm>
          <a:prstGeom prst="line">
            <a:avLst/>
          </a:prstGeom>
          <a:noFill/>
          <a:ln w="20320">
            <a:solidFill>
              <a:srgbClr val="1B3A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8385048" y="277063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ยืนยัน / ครบ 7 วัน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244584" y="3063240"/>
            <a:ext cx="1572768" cy="658368"/>
          </a:xfrm>
          <a:prstGeom prst="roundRect">
            <a:avLst>
              <a:gd name="adj" fmla="val 48611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9244584" y="306324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CLOSED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" y="3291840"/>
            <a:ext cx="201168" cy="201168"/>
          </a:xfrm>
          <a:prstGeom prst="ellipse">
            <a:avLst/>
          </a:prstGeom>
          <a:solidFill>
            <a:srgbClr val="16212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822960" y="3392424"/>
            <a:ext cx="201168" cy="0"/>
          </a:xfrm>
          <a:prstGeom prst="line">
            <a:avLst/>
          </a:prstGeom>
          <a:noFill/>
          <a:ln w="20320">
            <a:solidFill>
              <a:srgbClr val="1B3A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11073384" y="3264408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21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10817352" y="3392424"/>
            <a:ext cx="237744" cy="0"/>
          </a:xfrm>
          <a:prstGeom prst="line">
            <a:avLst/>
          </a:prstGeom>
          <a:noFill/>
          <a:ln w="20320">
            <a:solidFill>
              <a:srgbClr val="1B3A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996696" y="1938528"/>
            <a:ext cx="1682496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0320">
            <a:solidFill>
              <a:srgbClr val="E895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996696" y="193852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NEED_INFO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V="1">
            <a:off x="1508760" y="2505456"/>
            <a:ext cx="0" cy="557784"/>
          </a:xfrm>
          <a:prstGeom prst="line">
            <a:avLst/>
          </a:prstGeom>
          <a:noFill/>
          <a:ln w="16510">
            <a:solidFill>
              <a:srgbClr val="E8952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1618488" y="2615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ขอข้อมูลเพิ่ม / ผู้แจ้งแก้ไข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02352" y="4114800"/>
            <a:ext cx="1664208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032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5102352" y="41148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7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ON_HOLD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25312" y="3721608"/>
            <a:ext cx="0" cy="393192"/>
          </a:xfrm>
          <a:prstGeom prst="line">
            <a:avLst/>
          </a:prstGeom>
          <a:noFill/>
          <a:ln w="16510">
            <a:solidFill>
              <a:srgbClr val="1B3A5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016752" y="3867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รออะไหล่ / งบประมาณ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96696" y="4114800"/>
            <a:ext cx="1682496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0320">
            <a:solidFill>
              <a:srgbClr val="B5372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996696" y="4114800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REJECTED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508760" y="3721608"/>
            <a:ext cx="0" cy="393192"/>
          </a:xfrm>
          <a:prstGeom prst="line">
            <a:avLst/>
          </a:prstGeom>
          <a:noFill/>
          <a:ln w="16510">
            <a:solidFill>
              <a:srgbClr val="B5372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1618488" y="38039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ไม่อยู่ในขอบเขต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62088" y="3886200"/>
            <a:ext cx="0" cy="0"/>
          </a:xfrm>
          <a:prstGeom prst="line">
            <a:avLst/>
          </a:prstGeom>
          <a:noFill/>
          <a:ln w="15240">
            <a:solidFill>
              <a:srgbClr val="B5372C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42" name="Shape 40"/>
          <p:cNvSpPr/>
          <p:nvPr/>
        </p:nvSpPr>
        <p:spPr>
          <a:xfrm>
            <a:off x="566928" y="4956048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Shape 41"/>
          <p:cNvSpPr/>
          <p:nvPr/>
        </p:nvSpPr>
        <p:spPr>
          <a:xfrm>
            <a:off x="768096" y="5138928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768096" y="51389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ตรวจผัง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591056" y="512064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คำถามที่ต้องตอบให้ได้ทุกครั้ง: มีสถานะไหนที่ “เข้าไปแล้วออกไม่ได้” หรือไม่ และใครเป็นคนกดเปลี่ยนแต่ละเส้น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ผังระดับที่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(ค) Swimlane — ตารางสิทธิ์ของแต่ละบทบาท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3218688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การกระทำในระบบ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ผู้แจ้ง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ธุรการ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ช่าง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หัวหน้างาน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สร้างใบแจ้งซ่อม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ดูใบแจ้งทั้งหมด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E8952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เฉพาะของตน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E8952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ที่ได้รับมอบหมาย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มอบหมายช่าง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B5372C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B5372C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เปลี่ยนเป็น IN_PROGRESS / DONE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B5372C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B5372C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ปิดงาน (CLOSED)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E8952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 เฉพาะของตน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B5372C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ดู Dashboard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B5372C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B5372C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จัดการผู้ใช้ / อาคาร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B5372C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B5372C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B5372C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0" i="0" dirty="0">
                          <a:solidFill>
                            <a:srgbClr val="2E7D5B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✓ admin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64608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3"/>
          <p:cNvSpPr/>
          <p:nvPr/>
        </p:nvSpPr>
        <p:spPr>
          <a:xfrm>
            <a:off x="768096" y="5047488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4"/>
          <p:cNvSpPr/>
          <p:nvPr/>
        </p:nvSpPr>
        <p:spPr>
          <a:xfrm>
            <a:off x="768096" y="504748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ทฤษฎี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591056" y="502920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ตารางนี้ = Security Rules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" y="5431536"/>
            <a:ext cx="4956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2"/>
              </a:lnSpc>
              <a:buNone/>
            </a:pPr>
            <a:r>
              <a:rPr lang="en-US" sz="8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ทุกช่อง ✗ ในตาราง ต้องกลายเป็นกฎในฐานข้อมูล ไม่ใช่แค่ “ซ่อนปุ่มบนหน้าจอ”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254496" y="4864608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6455664" y="5047488"/>
            <a:ext cx="640080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6455664" y="5047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ระวัง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205472" y="502920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ซ่อนปุ่ม ≠ ป้องกัน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73952" y="5431536"/>
            <a:ext cx="4956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2"/>
              </a:lnSpc>
              <a:buNone/>
            </a:pPr>
            <a:r>
              <a:rPr lang="en-US" sz="8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การซ่อนปุ่มบน UI กันได้แค่คนที่ไม่ตั้งใจ  ใครก็ตามที่เปิด DevTools หรือยิง API ตรงจะข้ามได้ทันที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ผังระดับที่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(ง) Screen Flow — ผังหน้าจอและการนำทาง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7432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1B3A57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66928" y="2743200"/>
            <a:ext cx="1783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Login / Register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2587752"/>
            <a:ext cx="1371600" cy="10058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E895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2697480" y="258775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role 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50008" y="3090672"/>
            <a:ext cx="320040" cy="0"/>
          </a:xfrm>
          <a:prstGeom prst="line">
            <a:avLst/>
          </a:prstGeom>
          <a:noFill/>
          <a:ln w="17780">
            <a:solidFill>
              <a:srgbClr val="1B3A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4617720" y="1481328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0726F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617720" y="1481328"/>
            <a:ext cx="2011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หน้าหลัก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เรื่องของฉัน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280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reporter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69080" y="3090672"/>
            <a:ext cx="256032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325112" y="1837944"/>
            <a:ext cx="0" cy="1252728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325112" y="1837944"/>
            <a:ext cx="274320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086600" y="1481328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B3A57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7086600" y="1481328"/>
            <a:ext cx="2148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ฟอร์มแจ้งซ่อม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9400" y="1837944"/>
            <a:ext cx="438912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9692640" y="1481328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B3A57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9692640" y="1481328"/>
            <a:ext cx="2148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รายละเอียดใบแจ้ง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35440" y="1837944"/>
            <a:ext cx="438912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4617720" y="2724912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0726F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617720" y="2724912"/>
            <a:ext cx="2011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หน้าหลัก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รายการงาน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1901" y="2446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staff / technician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69080" y="3090672"/>
            <a:ext cx="256032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325112" y="3081528"/>
            <a:ext cx="0" cy="9144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4325112" y="3081528"/>
            <a:ext cx="274320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7086600" y="272491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B3A57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7086600" y="2724912"/>
            <a:ext cx="2148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รายละเอียด + อัปเดตสถานะ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9400" y="3081528"/>
            <a:ext cx="438912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9692640" y="272491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B3A57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9692640" y="2724912"/>
            <a:ext cx="2148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แผนที่จุดแจ้งซ่อม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35440" y="3081528"/>
            <a:ext cx="438912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1"/>
          <p:cNvSpPr/>
          <p:nvPr/>
        </p:nvSpPr>
        <p:spPr>
          <a:xfrm>
            <a:off x="4617720" y="3968496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B3A57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4617720" y="3968496"/>
            <a:ext cx="2011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Dashboard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1901" y="3690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supervisor / admin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069080" y="3090672"/>
            <a:ext cx="256032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5"/>
          <p:cNvSpPr/>
          <p:nvPr/>
        </p:nvSpPr>
        <p:spPr>
          <a:xfrm>
            <a:off x="4325112" y="3090672"/>
            <a:ext cx="0" cy="123444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Shape 36"/>
          <p:cNvSpPr/>
          <p:nvPr/>
        </p:nvSpPr>
        <p:spPr>
          <a:xfrm>
            <a:off x="4325112" y="4325112"/>
            <a:ext cx="274320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9" name="Shape 37"/>
          <p:cNvSpPr/>
          <p:nvPr/>
        </p:nvSpPr>
        <p:spPr>
          <a:xfrm>
            <a:off x="7086600" y="3968496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B3A57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0" name="Text 38"/>
          <p:cNvSpPr/>
          <p:nvPr/>
        </p:nvSpPr>
        <p:spPr>
          <a:xfrm>
            <a:off x="7086600" y="3968496"/>
            <a:ext cx="2148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แผนที่ภาพรวม + กราฟ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29400" y="4325112"/>
            <a:ext cx="438912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42" name="Shape 40"/>
          <p:cNvSpPr/>
          <p:nvPr/>
        </p:nvSpPr>
        <p:spPr>
          <a:xfrm>
            <a:off x="9692640" y="3968496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B3A57"/>
            </a:solidFill>
            <a:prstDash val="solid"/>
          </a:ln>
          <a:effectLst>
            <a:outerShdw blurRad="76200" dist="19050" dir="5400000" algn="bl" rotWithShape="0">
              <a:srgbClr val="0F2438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9692640" y="3968496"/>
            <a:ext cx="2148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จัดการผู้ใช้ / อาคาร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235440" y="4325112"/>
            <a:ext cx="438912" cy="0"/>
          </a:xfrm>
          <a:prstGeom prst="line">
            <a:avLst/>
          </a:prstGeom>
          <a:noFill/>
          <a:ln w="15240">
            <a:solidFill>
              <a:srgbClr val="6E7F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566928" y="4846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ผังนี้บอก Agent ว่าต้องสร้างกี่ route · แต่ละ route ใครเข้าได้ · และไฟล์ใน src/pages ควรมีอะไรบ้าง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5175504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804672" y="51755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ทุกหน้ามีกระดิ่งแจ้งเตือนอยู่บน navbar เสมอ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54496" y="5175504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E5F2EC"/>
          </a:solidFill>
          <a:ln w="12700">
            <a:solidFill>
              <a:srgbClr val="E5F2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9" name="Shape 47"/>
          <p:cNvSpPr/>
          <p:nvPr/>
        </p:nvSpPr>
        <p:spPr>
          <a:xfrm>
            <a:off x="6455664" y="5321808"/>
            <a:ext cx="1143000" cy="256032"/>
          </a:xfrm>
          <a:prstGeom prst="roundRect">
            <a:avLst>
              <a:gd name="adj" fmla="val 4642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6455664" y="5321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735824" y="532180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 2 — docs/flow.md มีผังครบ 4 ระดับ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S2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ขั้นที่ 4 - เปิด AI  ให้เป็น “ผู้ตรวจ”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858000" cy="3063240"/>
          </a:xfrm>
          <a:prstGeom prst="roundRect">
            <a:avLst>
              <a:gd name="adj" fmla="val 2985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ให้ AI หาช่องโหว่ในผังของเรา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6382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7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ฉันออกแบบกระบวนการของระบบแจ้งซ่อมอาคารสถานที่ไว้ตามผังด้านล่าง</a:t>
            </a: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บทบาทของคุณคือ Business Analyst ที่ช่างสงสัย</a:t>
            </a: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[วาง mermaid flowchart + state diagram + ตาราง swimlane]</a:t>
            </a: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ช่วยทำ 3 อย่าง</a:t>
            </a: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1. หา edge case ที่ฉันยังไม่ได้ครอบคลุม เช่น เรื่องซ้ำ ผู้แจ้งลาออก</a:t>
            </a: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 ช่างลาป่วย เรื่องเร่งด่วนกลางคืน</a:t>
            </a: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2. ชี้จุดที่กฎทางธุรกิจยังกำกวม และตั้งคำถามกลับมาให้ฉันตัดสินใจ</a:t>
            </a: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 อย่าเดาแทนฉัน</a:t>
            </a: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3. ตรวจว่า state transition ครบถ้วนหรือไม่ มีสถานะไหนที่เข้าไปแล้วออกไม่ได้</a:t>
            </a: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endParaRPr lang="en-US" sz="850" dirty="0"/>
          </a:p>
          <a:p>
            <a:pPr marL="0" indent="0">
              <a:lnSpc>
                <a:spcPts val="1367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ยังไม่ต้องเขียนโค้ดใด ๆ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626096" y="1371600"/>
            <a:ext cx="4005072" cy="1572768"/>
          </a:xfrm>
          <a:prstGeom prst="roundRect">
            <a:avLst>
              <a:gd name="adj" fmla="val 5814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7827264" y="1554480"/>
            <a:ext cx="1991650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7943378" y="153619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ใช้ AI 2 แบบ ต่างกันมาก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45552" y="19385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4"/>
              </a:lnSpc>
              <a:buNone/>
            </a:pPr>
            <a:r>
              <a:rPr lang="en-US" sz="9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“ช่วยคิดให้หน่อย” → เราไม่มีเกณฑ์ตรวจว่าคำตอบดีหรือไม่</a:t>
            </a:r>
            <a:endParaRPr lang="en-US" sz="950" dirty="0"/>
          </a:p>
          <a:p>
            <a:pPr marL="0" indent="0">
              <a:lnSpc>
                <a:spcPts val="1504"/>
              </a:lnSpc>
              <a:buNone/>
            </a:pPr>
            <a:endParaRPr lang="en-US" sz="950" dirty="0"/>
          </a:p>
          <a:p>
            <a:pPr marL="0" indent="0">
              <a:lnSpc>
                <a:spcPts val="1504"/>
              </a:lnSpc>
              <a:buNone/>
            </a:pPr>
            <a:r>
              <a:rPr lang="en-US" sz="9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“ตรวจสิ่งที่ฉันคิดไว้” → เรามีจุดยืนของตัวเองอยู่แล้ว ปลอดภัยกว่ามาก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26096" y="3108960"/>
            <a:ext cx="4005072" cy="1325880"/>
          </a:xfrm>
          <a:prstGeom prst="roundRect">
            <a:avLst>
              <a:gd name="adj" fmla="val 6897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7845552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สิ่งที่ AI มักหาเจอ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45552" y="360273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ไม่ได้กำหนดว่าจะจัดการเรื่องแจ้งซ้ำอย่างไร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ไม่มีเส้นทางกรณีช่างที่มอบหมายไปแล้วลาออก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DONE ที่ไม่มีใครยืนยัน ค้างตลอดกาล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ไม่ได้นิยามว่าใครปิดเรื่องที่ REJECTED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590288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768096" y="4773168"/>
            <a:ext cx="640080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768096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อย่าลืม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17904" y="4754880"/>
            <a:ext cx="9893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AI ไม่รู้บริบทองค์กรของคุณ — มันรู้แค่ “ระบบแจ้งซ่อมโดยทั่วไปในอินเทอร์เน็ตเป็นอย่างไร”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6384" y="515721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ระเบียบพัสดุ ขั้นตอนอนุมัติ วงเงินที่ต้องขออนุมัติ ปีงบประมาณ — สิ่งเหล่านี้ AI เดาไม่ได้ เราต้องเป็นคนบอก  คำถามที่มันถามกลับมา คือของขวัญ อย่ารีบข้าม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AI ออกแบบฐานข้อมูล และเขียน SPEC.md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2552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แปลงผังที่วาดไว้ให้กลายเป็นโครงสร้างข้อมูล แล้วรวบทุกอย่างเป็นเอกสารฉบับเดียว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ที่จะใช้เป็น “สัญญา” ระหว่างเรากับ Agent ตลอดช่วงบ่าย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844906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84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ER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8138" y="4114800"/>
            <a:ext cx="1166774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1558138" y="4114800"/>
            <a:ext cx="1166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SQL vs NoSQL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71216" y="4114800"/>
            <a:ext cx="1488643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2871216" y="4114800"/>
            <a:ext cx="14886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Firestore Schema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06163" y="4114800"/>
            <a:ext cx="764438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06163" y="4114800"/>
            <a:ext cx="764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SPEC.md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331720"/>
            <a:ext cx="1371600" cy="1371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S3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จากผังงาน สู่โครงสร้างข้อมูล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04672" y="1627632"/>
            <a:ext cx="402336" cy="402336"/>
          </a:xfrm>
          <a:prstGeom prst="ellipse">
            <a:avLst/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804672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16736" y="16642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หา Entity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176272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คือ “คำนาม” ในโจทย์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ผู้ใช้ · ใบแจ้ง · อาคาร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ประเภทงาน · ประวัติการอัปเดต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55264" y="2304288"/>
            <a:ext cx="256032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511296" y="141732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749040" y="1627632"/>
            <a:ext cx="402336" cy="402336"/>
          </a:xfrm>
          <a:prstGeom prst="ellipse">
            <a:avLst/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74904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61104" y="16642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หา Attribute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49040" y="2176272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คือคุณสมบัติของ entity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ใบแจ้งมี: หัวข้อ ประเภท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สถานะ ตำแหน่ง รูปภาพ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2304288"/>
            <a:ext cx="256032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6455664" y="141732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693408" y="1627632"/>
            <a:ext cx="402336" cy="402336"/>
          </a:xfrm>
          <a:prstGeom prst="ellipse">
            <a:avLst/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693408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05472" y="16642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หา Relationship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93408" y="2176272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ความสัมพันธ์และจำนวน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ผู้ใช้ 1 คน → แจ้งได้หลายใบ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ใบแจ้ง 1 ใบ → มีหลายประวัติ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0" y="2304288"/>
            <a:ext cx="256032" cy="0"/>
          </a:xfrm>
          <a:prstGeom prst="line">
            <a:avLst/>
          </a:prstGeom>
          <a:noFill/>
          <a:ln w="25400">
            <a:solidFill>
              <a:srgbClr val="E895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9400032" y="141732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9637776" y="1627632"/>
            <a:ext cx="402336" cy="402336"/>
          </a:xfrm>
          <a:prstGeom prst="ellipse">
            <a:avLst/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9637776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49840" y="16642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หา Key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37776" y="2176272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ตัวระบุที่ไม่ซ้ำ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uid, ticketId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และเลขที่ที่คนอ่านได้ FC-2569-0001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3401568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914400" y="37033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914400" y="3703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users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23360" y="37033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4023360" y="3703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tickets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37033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7223760" y="3703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updates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37033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9692640" y="3703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buildings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68880" y="3986784"/>
            <a:ext cx="1554480" cy="0"/>
          </a:xfrm>
          <a:prstGeom prst="line">
            <a:avLst/>
          </a:prstGeom>
          <a:noFill/>
          <a:ln w="19050">
            <a:solidFill>
              <a:srgbClr val="10726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2514600" y="37124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 : N  แจ้ง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3986784"/>
            <a:ext cx="1645920" cy="0"/>
          </a:xfrm>
          <a:prstGeom prst="line">
            <a:avLst/>
          </a:prstGeom>
          <a:noFill/>
          <a:ln w="19050">
            <a:solidFill>
              <a:srgbClr val="10726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5577840" y="3712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 : N  ประวัติ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1247120" y="3986784"/>
            <a:ext cx="0" cy="0"/>
          </a:xfrm>
          <a:prstGeom prst="line">
            <a:avLst/>
          </a:prstGeom>
          <a:noFill/>
          <a:ln w="19050">
            <a:solidFill>
              <a:srgbClr val="10726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9692640" y="37124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N : 1  ตั้งอยู่ที่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4791456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Shape 41"/>
          <p:cNvSpPr/>
          <p:nvPr/>
        </p:nvSpPr>
        <p:spPr>
          <a:xfrm>
            <a:off x="768096" y="4974336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768096" y="49743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ทฤษฎี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591056" y="4956048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Normalization กับ Denormalization — ต้องรู้ทั้งคู่ แต่เลือกใช้ให้ถูกที่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86384" y="5358384"/>
            <a:ext cx="10625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6"/>
              </a:lnSpc>
              <a:buNone/>
            </a:pPr>
            <a:r>
              <a:rPr lang="en-US" sz="8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Normalization = ไม่เก็บข้อมูลซ้ำ เพื่อกันข้อมูลขัดแย้งกัน (เหมาะกับฐานข้อมูลเชิงสัมพันธ์)  ·  Denormalization = ยอมเก็บซ้ำเพื่อให้อ่านเร็ว (เหมาะกับ NoSQL) — สไลด์ถัดไปจะอธิบายว่าทำไม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S3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ทำไม Firestore ต้องออกแบบคนละแบบกับฐานข้อมูลที่เคยเรียน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04672" y="1627632"/>
            <a:ext cx="1234440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804672" y="1627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RELATIONAL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1975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ออกแบบตาม “โครงสร้างข้อมูล”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5915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แตกตารางให้ไม่ซ้ำ แล้วค่อย JOIN ตอนอ่าน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แก้ชื่อผู้ใช้ที่เดียว ทุกที่เปลี่ยนตาม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ตอบคำถามใหม่ ๆ ได้โดยไม่ต้องแก้โครงสร้าง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JOIN หลายตารางบนข้อมูลมหาศาล = ช้า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4496" y="141732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6492240" y="1627632"/>
            <a:ext cx="1783080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492240" y="16276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FIRESTORE (NoSQL)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2240" y="1975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ออกแบบตาม “หน้าจอที่ต้องแสดง”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28816" y="235915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ไม่มี JOIN — ต้องอ่านให้จบในครั้งเดียว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ยอมเก็บซ้ำ เช่น reporterName ในใบแจ้ง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อ่านเร็วมากและขยายตัวได้ดี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เปลี่ยนคำถามทีหลัง = อาจต้องย้ายข้อมูล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950208"/>
            <a:ext cx="6858000" cy="1737360"/>
          </a:xfrm>
          <a:prstGeom prst="roundRect">
            <a:avLst>
              <a:gd name="adj" fmla="val 5263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" y="4133088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768096" y="413308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หลักคิด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91056" y="411480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Query-driven design — เริ่มจากคำถาม ไม่ใช่เริ่มจากตาราง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517136"/>
            <a:ext cx="64190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ถามก่อนว่า “หน้าจอนี้ต้องแสดงอะไรบ้าง” แล้วออกแบบให้ดึงได้ในครั้งเดียว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ตัวอย่าง: การ์ดในหน้ารายการงานต้องแสดงชื่อผู้แจ้ง → ถ้าไม่เก็บ reporterName ไว้ในใบแจ้ง เราจะต้องยิงอ่าน users อีก 1 ครั้งต่อ 1 การ์ด  20 การ์ด = 21 คำขอ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26096" y="3950208"/>
            <a:ext cx="4005072" cy="1737360"/>
          </a:xfrm>
          <a:prstGeom prst="roundRect">
            <a:avLst>
              <a:gd name="adj" fmla="val 5263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7827264" y="4133088"/>
            <a:ext cx="640080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7827264" y="41330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แลกกัน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77072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ราคาของการเก็บซ้ำ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45552" y="451713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7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ถ้าผู้ใช้เปลี่ยนชื่อ ใบแจ้งเก่าจะยังเป็นชื่อเดิม</a:t>
            </a:r>
            <a:endParaRPr lang="en-US" sz="900" dirty="0"/>
          </a:p>
          <a:p>
            <a:pPr marL="0" indent="0">
              <a:lnSpc>
                <a:spcPts val="1487"/>
              </a:lnSpc>
              <a:buNone/>
            </a:pPr>
            <a:endParaRPr lang="en-US" sz="900" dirty="0"/>
          </a:p>
          <a:p>
            <a:pPr marL="0" indent="0">
              <a:lnSpc>
                <a:spcPts val="1487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ต้องตัดสินใจอย่างรู้ตัวว่ายอมรับได้หรือไม่ — สำหรับใบแจ้งซ่อม การเก็บ “ชื่อ ณ เวลาที่แจ้ง” กลับเป็นสิ่งที่ถูกต้องด้วยซ้ำ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S3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ให้ AI ออกแบบ Schema แล้วเราตรวจ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760720" cy="3886200"/>
          </a:xfrm>
          <a:prstGeom prst="roundRect">
            <a:avLst>
              <a:gd name="adj" fmla="val 2353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15361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 ออกแบบฐานข้อมูล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528523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จากผังและ user story ใน @docs/flow.md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ช่วยออกแบบโครงสร้างข้อมูลสำหรับ Cloud Firestore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ระบุ collection, field, ชนิดข้อมูล, ค่า enum และ field ที่ต้องทำ index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อธิบายเหตุผลที่เลือก denormalize ตรงไหน โดยอ้างอิงจากหน้าจอที่ต้องใช้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เขียน ERD เป็น mermaid erDiagram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ระบุรูปแบบเลขที่ใบแจ้ง FC-2569-0001 และวิธีสร้างไม่ให้ชนกัน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เสนอ Firestore Security Rules เบื้องต้นตามตาราง swimlane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เตือนฉันถ้ามี field ใดเป็นข้อมูลส่วนบุคคลที่ต้องระวังตาม PDPA</a:t>
            </a: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endParaRPr lang="en-US" sz="11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เขียนผลลัพธ์ลงไฟล์ docs/data-model.md ยังไม่ต้องเขียนโค้ดแอป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28816" y="1371600"/>
            <a:ext cx="5102352" cy="3886200"/>
          </a:xfrm>
          <a:prstGeom prst="roundRect">
            <a:avLst>
              <a:gd name="adj" fmla="val 1882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6711696" y="1536192"/>
            <a:ext cx="1325880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711696" y="1536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ผลลัพธ์ที่ควรได้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48272" y="1901952"/>
            <a:ext cx="466344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tickets/{ticketId}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ticketNo   "FC-2569-0001"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title, description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   electrical|plumbing|aircon|...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   low|normal|high|urgent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NEW|ASSIGNED|IN_PROGRESS|...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buildingId, buildingName, floor, room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  { lat, lng }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photos[]   { url, path, uploadedAt }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reporterId, reporterName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assigneeId, assigneeName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createdAt, updatedAt, doneAt, dueAt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tickets/{id}/updates/{updateId}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fromStatus, toStatus, note, photos[]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byUid, byName, createdAt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53949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768096" y="557784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768096" y="55778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ตรวจงาน AI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91056" y="5559552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สิ่งที่ต้องตรวจเสมอ: Composite Index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5961888"/>
            <a:ext cx="106253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6"/>
              </a:lnSpc>
              <a:buNone/>
            </a:pPr>
            <a:r>
              <a:rPr lang="en-US" sz="8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ทุก query ที่กรอง 2 field ขึ้นไปพร้อมเรียงลำดับ ต้องมี index — เช่น reporterId + createdAt desc, status + createdAt desc, assigneeId + status  ·  ถ้า AI ไม่บอก ให้ถามกลับ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S3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SPEC.md — เอกสารฉบับเดียวที่เป็น “สัญญา” กับ 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675120" cy="3931920"/>
          </a:xfrm>
          <a:prstGeom prst="roundRect">
            <a:avLst>
              <a:gd name="adj" fmla="val 2326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153619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รวบทุกอย่างเป็นไฟล์เดียว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619963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อ่าน @docs/flow.md และ @docs/data-model.md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แล้วสรุปเป็นไฟล์ SPEC.md ฉบับเดียวที่ใช้อ้างอิงหลักของโปรเจกต์ ประกอบด้วย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1. ภาพรวมระบบและวัตถุประสงค์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2. Actor และสิทธิ์ (ตาราง)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3. User Story พร้อม acceptance criteria แบบ Given-When-Then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4. โครงสร้างข้อมูล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5. รายการหน้าจอ และสิ่งที่ต้องมีในแต่ละหน้า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6. Tech stack: Vite + React + Tailwind, Firebase (Auth/Firestore/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 Storage/Hosting), Leaflet + OpenStreetMap, Recharts,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 mobile-first, UI ภาษาไทย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7. สิ่งที่ "ไม่ทำ" ในเวอร์ชันนี้</a:t>
            </a: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endParaRPr lang="en-US" sz="1100" dirty="0"/>
          </a:p>
          <a:p>
            <a:pPr marL="0" indent="0">
              <a:lnSpc>
                <a:spcPts val="17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เขียนให้กระชับ ใช้ bullet และตาราง อย่าใส่โค้ด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43216" y="1371600"/>
            <a:ext cx="4187952" cy="2011680"/>
          </a:xfrm>
          <a:prstGeom prst="roundRect">
            <a:avLst>
              <a:gd name="adj" fmla="val 4545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7644384" y="1554480"/>
            <a:ext cx="1630246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7644384" y="15544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3273" y="1541853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ทำไมต้องมีไฟล์เดียว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62672" y="1938528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1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Agent มีขีดจำกัดของบริบท (context window) และแต่ละ conversation ก็จำเรื่องเก่าไม่ได้ทั้งหมด</a:t>
            </a:r>
            <a:endParaRPr lang="en-US" sz="1150" dirty="0"/>
          </a:p>
          <a:p>
            <a:pPr marL="0" indent="0">
              <a:lnSpc>
                <a:spcPts val="1821"/>
              </a:lnSpc>
              <a:buNone/>
            </a:pPr>
            <a:endParaRPr lang="en-US" sz="1150" dirty="0"/>
          </a:p>
          <a:p>
            <a:pPr marL="0" indent="0">
              <a:lnSpc>
                <a:spcPts val="1821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การมี SPEC.md ทำให้เราพิมพ์แค่ @SPEC.md แล้วบริบททั้งหมดกลับมาครบ — ไม่ต้องอธิบายใหม่ทุกครั้ง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43216" y="3529584"/>
            <a:ext cx="4187952" cy="1773936"/>
          </a:xfrm>
          <a:prstGeom prst="roundRect">
            <a:avLst>
              <a:gd name="adj" fmla="val 5155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7662672" y="3712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ข้อ 7 สำคัญกว่าที่คิด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62672" y="404164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การเขียนว่า “ไม่ทำอะไร” ช่วยกัน Agent ใส่ฟีเจอร์เกินมาเอง เช่น สร้างระบบแชท ระบบให้คะแนน หรือ dark mode ที่เราไม่ได้ขอ  ซึ่งกินเวลาและเพิ่มบั๊ก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5431536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5F2EC"/>
          </a:solidFill>
          <a:ln w="12700">
            <a:solidFill>
              <a:srgbClr val="E5F2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768096" y="5678424"/>
            <a:ext cx="1143000" cy="256032"/>
          </a:xfrm>
          <a:prstGeom prst="roundRect">
            <a:avLst>
              <a:gd name="adj" fmla="val 4642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768096" y="56784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48256" y="5577840"/>
            <a:ext cx="9363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 3 — มีไฟล์ docs/flow.md · docs/data-model.md · SPEC.md แล้ว commit ขึ้น GitHub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ตอนนี้ “เขียนโปรแกรม” ไปแล้วประมาณ 40% ทั้งที่ยังไม่มีโค้ดสักบรรทัด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SESSION 4 · 13.00 – 13.50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Scaffold โปรเจกต์ และระบบ Login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2552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ช่วงบ่ายจะเร็วมาก เพราะเอกสารพร้อมแล้ว — ทุก prompt เริ่มด้วย “อ่าน @SPEC.md”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1488643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14886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ตั้งค่า Firebase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01875" y="4114800"/>
            <a:ext cx="1327709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2201875" y="4114800"/>
            <a:ext cx="1327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AuthN vs AuthZ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75888" y="4114800"/>
            <a:ext cx="1327709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675888" y="4114800"/>
            <a:ext cx="1327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อ่าน Artifacts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49901" y="41148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149901" y="4114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ระบบ Login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331720"/>
            <a:ext cx="1371600" cy="1371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S4 · ปฏิบัติ (ทำพร้อมกันทั้งห้อง)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เตรียม Firebase ให้พร้อม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766560" cy="786384"/>
          </a:xfrm>
          <a:prstGeom prst="roundRect">
            <a:avLst>
              <a:gd name="adj" fmla="val 116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86384" y="15087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21" y="1641897"/>
            <a:ext cx="245791" cy="2457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627632"/>
            <a:ext cx="274320" cy="274320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694944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81328" y="1490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สร้างโปรเจกต์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81328" y="17556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console.firebase.google.com → Add project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ตั้งชื่อ facility-care-&lt;ชื่อคุณ&gt; · ปิด Analytics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2249424"/>
            <a:ext cx="6766560" cy="786384"/>
          </a:xfrm>
          <a:prstGeom prst="roundRect">
            <a:avLst>
              <a:gd name="adj" fmla="val 116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9"/>
          <p:cNvSpPr/>
          <p:nvPr/>
        </p:nvSpPr>
        <p:spPr>
          <a:xfrm>
            <a:off x="786384" y="23865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21" y="2519721"/>
            <a:ext cx="245791" cy="24579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49440" y="2505456"/>
            <a:ext cx="274320" cy="274320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1"/>
          <p:cNvSpPr/>
          <p:nvPr/>
        </p:nvSpPr>
        <p:spPr>
          <a:xfrm>
            <a:off x="694944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481328" y="2368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เปิด Authentication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81328" y="26334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Get started → เปิด Email/Password และ Google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66928" y="3127248"/>
            <a:ext cx="6766560" cy="786384"/>
          </a:xfrm>
          <a:prstGeom prst="roundRect">
            <a:avLst>
              <a:gd name="adj" fmla="val 116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5"/>
          <p:cNvSpPr/>
          <p:nvPr/>
        </p:nvSpPr>
        <p:spPr>
          <a:xfrm>
            <a:off x="786384" y="32644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21" y="3397545"/>
            <a:ext cx="245791" cy="245791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49440" y="3383280"/>
            <a:ext cx="274320" cy="274320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17"/>
          <p:cNvSpPr/>
          <p:nvPr/>
        </p:nvSpPr>
        <p:spPr>
          <a:xfrm>
            <a:off x="69494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481328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สร้าง Firestore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481328" y="351129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Create database → region asia-southeast1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เริ่มที่ test mode (จะเปลี่ยน rules ทีหลัง)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66928" y="4005072"/>
            <a:ext cx="6766560" cy="786384"/>
          </a:xfrm>
          <a:prstGeom prst="roundRect">
            <a:avLst>
              <a:gd name="adj" fmla="val 116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1"/>
          <p:cNvSpPr/>
          <p:nvPr/>
        </p:nvSpPr>
        <p:spPr>
          <a:xfrm>
            <a:off x="786384" y="41422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521" y="4275369"/>
            <a:ext cx="245791" cy="245791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949440" y="4261104"/>
            <a:ext cx="274320" cy="274320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3"/>
          <p:cNvSpPr/>
          <p:nvPr/>
        </p:nvSpPr>
        <p:spPr>
          <a:xfrm>
            <a:off x="694944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481328" y="4123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เปิด Storage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481328" y="4389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Get started → ใช้ region เดียวกับ Firestore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566928" y="4882896"/>
            <a:ext cx="6766560" cy="786384"/>
          </a:xfrm>
          <a:prstGeom prst="roundRect">
            <a:avLst>
              <a:gd name="adj" fmla="val 116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27"/>
          <p:cNvSpPr/>
          <p:nvPr/>
        </p:nvSpPr>
        <p:spPr>
          <a:xfrm>
            <a:off x="786384" y="502005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521" y="5153193"/>
            <a:ext cx="245791" cy="245791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949440" y="5138928"/>
            <a:ext cx="274320" cy="274320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29"/>
          <p:cNvSpPr/>
          <p:nvPr/>
        </p:nvSpPr>
        <p:spPr>
          <a:xfrm>
            <a:off x="6949440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481328" y="5001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คัดลอก config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481328" y="52669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Project settings → Your apps → Web (&lt;/&gt;)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คัดลอก firebaseConfig เก็บไว้ใส่ .env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7534656" y="1371600"/>
            <a:ext cx="4096512" cy="2212848"/>
          </a:xfrm>
          <a:prstGeom prst="roundRect">
            <a:avLst>
              <a:gd name="adj" fmla="val 4132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Shape 33"/>
          <p:cNvSpPr/>
          <p:nvPr/>
        </p:nvSpPr>
        <p:spPr>
          <a:xfrm>
            <a:off x="7735824" y="1554480"/>
            <a:ext cx="640080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1" name="Text 34"/>
          <p:cNvSpPr/>
          <p:nvPr/>
        </p:nvSpPr>
        <p:spPr>
          <a:xfrm>
            <a:off x="7735824" y="1554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เข้าใจผิดบ่อย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8485632" y="1536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firebaseConfig ไม่ใช่ความลับ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7754112" y="1938528"/>
            <a:ext cx="3657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ค่านี้ถูกส่งไปอยู่ในเบราว์เซอร์ของผู้ใช้ทุกคนอยู่แล้ว ใครเปิด DevTools ก็เห็น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สิ่งที่ปกป้องข้อมูลจริง ๆ คือ Security Rules ไม่ใช่การซ่อน config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7534656" y="3749040"/>
            <a:ext cx="4096512" cy="1938528"/>
          </a:xfrm>
          <a:prstGeom prst="roundRect">
            <a:avLst>
              <a:gd name="adj" fmla="val 4717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Shape 38"/>
          <p:cNvSpPr/>
          <p:nvPr/>
        </p:nvSpPr>
        <p:spPr>
          <a:xfrm>
            <a:off x="7735824" y="393192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6" name="Text 39"/>
          <p:cNvSpPr/>
          <p:nvPr/>
        </p:nvSpPr>
        <p:spPr>
          <a:xfrm>
            <a:off x="7735824" y="39319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BaaS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8558784" y="391363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Backend as a Service คืออะไร</a:t>
            </a:r>
            <a:endParaRPr lang="en-US" sz="1400" dirty="0"/>
          </a:p>
        </p:txBody>
      </p:sp>
      <p:sp>
        <p:nvSpPr>
          <p:cNvPr id="48" name="Text 41"/>
          <p:cNvSpPr/>
          <p:nvPr/>
        </p:nvSpPr>
        <p:spPr>
          <a:xfrm>
            <a:off x="7754112" y="431596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0"/>
              </a:lnSpc>
              <a:buNone/>
            </a:pPr>
            <a:r>
              <a:rPr lang="en-US" sz="9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เราไม่ต้องเขียน server เอง — Firebase ให้ระบบสมาชิก ฐานข้อมูล ที่เก็บไฟล์ และ hosting มาพร้อม</a:t>
            </a:r>
            <a:endParaRPr lang="en-US" sz="950" dirty="0"/>
          </a:p>
          <a:p>
            <a:pPr marL="0" indent="0">
              <a:lnSpc>
                <a:spcPts val="1570"/>
              </a:lnSpc>
              <a:buNone/>
            </a:pPr>
            <a:endParaRPr lang="en-US" sz="950" dirty="0"/>
          </a:p>
          <a:p>
            <a:pPr marL="0" indent="0">
              <a:lnSpc>
                <a:spcPts val="1570"/>
              </a:lnSpc>
              <a:buNone/>
            </a:pPr>
            <a:r>
              <a:rPr lang="en-US" sz="9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ข้อดี: เร็วมากในระยะเริ่มต้น</a:t>
            </a:r>
            <a:endParaRPr lang="en-US" sz="950" dirty="0"/>
          </a:p>
          <a:p>
            <a:pPr marL="0" indent="0">
              <a:lnSpc>
                <a:spcPts val="1570"/>
              </a:lnSpc>
              <a:buNone/>
            </a:pPr>
            <a:r>
              <a:rPr lang="en-US" sz="9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ข้อควรคิด: ผูกกับผู้ให้บริการ และค่าใช้จ่ายโตตามการใช้งาน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S4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Authentication ไม่เท่ากับ Authorization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41248" y="164592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14" y="1807586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700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Authentication (AuthN)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27632" y="1993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“คุณคือใคร”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9536" y="23957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ยืนยันตัวตนด้วยอีเมล+รหัสผ่าน หรือบัญชี Google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ผลลัพธ์คือ uid ที่ไม่ซ้ำกันของแต่ละคน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→ Firebase Authentication จัดการให้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54496" y="1417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6528816" y="164592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482" y="180758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700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Authorization (AuthZ)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15200" y="1993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“คุณทำอะไรได้บ้าง”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47104" y="23957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ตรวจสิทธิ์ตามบทบาทในตาราง swimlane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เก็บ role ไว้ที่ users/{uid} แล้วบังคับใช้ 2 ชั้น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→ ชั้น UI และชั้น Security Rules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3547872"/>
            <a:ext cx="11064240" cy="1207008"/>
          </a:xfrm>
          <a:prstGeom prst="roundRect">
            <a:avLst>
              <a:gd name="adj" fmla="val 7576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3"/>
          <p:cNvSpPr/>
          <p:nvPr/>
        </p:nvSpPr>
        <p:spPr>
          <a:xfrm>
            <a:off x="768096" y="3730752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4"/>
          <p:cNvSpPr/>
          <p:nvPr/>
        </p:nvSpPr>
        <p:spPr>
          <a:xfrm>
            <a:off x="768096" y="373075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RBAC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591056" y="3712464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Role-Based Access Control — ให้สิทธิ์ตาม “บทบาท” ไม่ใช่ตาม “ตัวบุคคล”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86384" y="4114800"/>
            <a:ext cx="10625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8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แทนที่จะกำหนดว่า “คุณสมชายมอบหมายงานได้” เรากำหนดว่า “บทบาทธุรการมอบหมายงานได้” แล้วให้คุณสมชายมีบทบาทธุรการ</a:t>
            </a:r>
            <a:endParaRPr lang="en-US" sz="1150" dirty="0"/>
          </a:p>
          <a:p>
            <a:pPr marL="0" indent="0">
              <a:lnSpc>
                <a:spcPts val="1748"/>
              </a:lnSpc>
              <a:buNone/>
            </a:pPr>
            <a:r>
              <a:rPr lang="en-US" sz="11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ข้อดี: คนเข้าออกงานได้โดยไม่ต้องแก้ระบบ · ตรวจสอบสิทธิ์ทั้งองค์กรได้จากตารางเดียว · ตรงกับผัง swimlane ที่เราวาดไว้พอดี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66928" y="4919472"/>
            <a:ext cx="11064240" cy="768096"/>
          </a:xfrm>
          <a:prstGeom prst="roundRect">
            <a:avLst>
              <a:gd name="adj" fmla="val 11905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18"/>
          <p:cNvSpPr/>
          <p:nvPr/>
        </p:nvSpPr>
        <p:spPr>
          <a:xfrm>
            <a:off x="768096" y="5102352"/>
            <a:ext cx="640080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19"/>
          <p:cNvSpPr/>
          <p:nvPr/>
        </p:nvSpPr>
        <p:spPr>
          <a:xfrm>
            <a:off x="768096" y="51023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ระวัง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517904" y="5084064"/>
            <a:ext cx="9893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บังคับสิทธิ์ที่ฝั่ง client อย่างเดียว = ไม่ได้บังคับอะไรเลย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786384" y="5486400"/>
            <a:ext cx="1062532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6"/>
              </a:lnSpc>
              <a:buNone/>
            </a:pPr>
            <a:r>
              <a:rPr lang="en-US" sz="8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RoleRoute ในหน้าเว็บช่วยเรื่องประสบการณ์ผู้ใช้ แต่ด่านจริงต้องอยู่ที่ Security Rules บนเซิร์ฟเวอร์เสมอ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S4 · ทฤษฎี 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Artifacts — หลักฐานที่ปิดช่องว่างของความเชื่อใจ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เมื่อก่อน AI บอกว่า “แก้ให้แล้ว” เราต้องไปไล่โค้ดเอง — ตอนนี้มันต้องแสดงหลักฐาน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8138160" cy="731520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49808" y="185623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1984614"/>
            <a:ext cx="237012" cy="237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08176" y="1737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Task List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93008" y="1737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รายการงานย่อยที่ทยอยติ๊กทีละข้อ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10528" y="1737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ใช้ติดตามความคืบหน้า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2560320"/>
            <a:ext cx="8138160" cy="731520"/>
          </a:xfrm>
          <a:prstGeom prst="roundRect">
            <a:avLst>
              <a:gd name="adj" fmla="val 12500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9"/>
          <p:cNvSpPr/>
          <p:nvPr/>
        </p:nvSpPr>
        <p:spPr>
          <a:xfrm>
            <a:off x="749808" y="267919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2807574"/>
            <a:ext cx="237012" cy="237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08176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Implementation Plan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93008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แผนสถาปัตยกรรมและการแก้ไข ก่อนลงมือ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510528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อ่านให้ละเอียดที่สุด — แผนผิด โค้ดผิดหมด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" y="3383280"/>
            <a:ext cx="8138160" cy="731520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4"/>
          <p:cNvSpPr/>
          <p:nvPr/>
        </p:nvSpPr>
        <p:spPr>
          <a:xfrm>
            <a:off x="749808" y="350215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3630534"/>
            <a:ext cx="237012" cy="2370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08176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Walkthrough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493008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สรุปสิ่งที่ทำ และวิธีทดสอบ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510528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ใช้ตรวจรับงานและเขียน commit message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66928" y="4206240"/>
            <a:ext cx="8138160" cy="731520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19"/>
          <p:cNvSpPr/>
          <p:nvPr/>
        </p:nvSpPr>
        <p:spPr>
          <a:xfrm>
            <a:off x="749808" y="432511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190" y="4453494"/>
            <a:ext cx="237012" cy="2370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08176" y="4206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Screenshots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493008" y="4206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ภาพหน้าจอก่อนและหลังการแก้ไข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510528" y="4206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หลักฐานว่า UI เปลี่ยนจริง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66928" y="5029200"/>
            <a:ext cx="8138160" cy="731520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4"/>
          <p:cNvSpPr/>
          <p:nvPr/>
        </p:nvSpPr>
        <p:spPr>
          <a:xfrm>
            <a:off x="749808" y="514807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190" y="5276454"/>
            <a:ext cx="237012" cy="2370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08176" y="5029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Code Diffs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493008" y="5029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ความต่างของโค้ดทีละบรรทัด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510528" y="5029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รีวิวได้เหมือนตรวจ Pull Request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8906256" y="1737360"/>
            <a:ext cx="2724912" cy="1828800"/>
          </a:xfrm>
          <a:prstGeom prst="roundRect">
            <a:avLst>
              <a:gd name="adj" fmla="val 5000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hape 29"/>
          <p:cNvSpPr/>
          <p:nvPr/>
        </p:nvSpPr>
        <p:spPr>
          <a:xfrm>
            <a:off x="9107424" y="192024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0"/>
          <p:cNvSpPr/>
          <p:nvPr/>
        </p:nvSpPr>
        <p:spPr>
          <a:xfrm>
            <a:off x="9107424" y="19202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ทำเลย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9930384" y="190195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แบบฝึกหัด 2 นาที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9125712" y="2304288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41"/>
              </a:lnSpc>
              <a:buNone/>
            </a:pPr>
            <a:r>
              <a:rPr lang="en-US" sz="9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พิมพ์ comment ลงใน Implementation Plan อย่างน้อย 1 ข้อ เช่น “ขอให้ใช้ react-router v6 แบบ createBrowserRouter” แล้วดูว่า Agent ปรับตามไหม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8906256" y="3712464"/>
            <a:ext cx="2724912" cy="1975104"/>
          </a:xfrm>
          <a:prstGeom prst="roundRect">
            <a:avLst>
              <a:gd name="adj" fmla="val 4630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4"/>
          <p:cNvSpPr/>
          <p:nvPr/>
        </p:nvSpPr>
        <p:spPr>
          <a:xfrm>
            <a:off x="9107424" y="3877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เปิดดูที่ไหน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107424" y="4206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ปุ่ม Auxiliary Pane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มุมขวาบนของหน้าต่าง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จากตรงนั้นยังกด Open IDE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เพื่อเปิด Antigravity IDE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ดูและแก้โค้ดต่อได้ทันที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566928" y="58887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ปัญหา trust gap: ยิ่ง Agent ทำงานเองได้มาก เรายิ่งต้องมีวิธีตรวจที่เร็วกว่าการอ่านโค้ดทั้งหมด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S4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สั่งงานจริง : Scaffold และระบบ Login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1536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งานที่ 1 — โครงโปรเจกต์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49194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อ่าน @SPEC.md ให้ครบก่อน</a:t>
            </a: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Vite + React + JavaScript + Tailwind CSS</a:t>
            </a: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ติดตั้ง firebase, react-router-dom, react-leaflet, leaflet,</a:t>
            </a: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recharts, date-fns, lucide-react</a:t>
            </a: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โครงโฟลเดอร์ src/pages, components, services, hooks,</a:t>
            </a: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contexts, utils</a:t>
            </a: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ใส่ฟอนต์ไทยที่อ่านง่าย เช่น Noto Sans Thai</a:t>
            </a: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src/services/firebase.js อ่านค่าจาก .env (VITE_FIREBASE_*)</a:t>
            </a: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สร้าง .env.example และเพิ่ม .env ใน .gitignore</a:t>
            </a: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ทำหน้า placeholder ทุกหน้าตามผัง screen flow พร้อม routing</a:t>
            </a: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endParaRPr lang="en-US" sz="1050" dirty="0"/>
          </a:p>
          <a:p>
            <a:pPr marL="0" indent="0">
              <a:lnSpc>
                <a:spcPts val="176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อย่าเพิ่งทำ business logic ทำแค่โครงและ routing ให้รันได้ก่อน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54496" y="137160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6455664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455664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06640" y="1536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งานที่ 2 — ระบบยืนยันตัวตน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1938528"/>
            <a:ext cx="49194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ทำระบบ Auth ตาม SPEC ข้อ 2 และ 3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/login: อีเมล+รหัสผ่าน และปุ่มเข้าสู่ระบบด้วย Google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/register: อีเมล ชื่อ-สกุล เบอร์โทร หน่วยงาน รหัสผ่าน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เมื่อสมัครสำเร็จให้สร้าง users/{uid} โดย role เริ่มต้น = reporter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AuthContext + useAuth hook เก็บ user และ profile (role)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ProtectedRoute: ยังไม่ล็อกอิน → เด้งไป /login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RoleRoute: ไม่มีสิทธิ์ → หน้า 403 ที่สุภาพ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หลังล็อกอิน redirect ตาม role ตามผัง screen flow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ข้อความ error เป็นภาษาไทยที่คนทั่วไปเข้าใจ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ทุกปุ่มมี loading state กันกดซ้ำ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5266944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804672" y="5358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วิธีทดสอบ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" y="56327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สมัคร 2 บัญชี → เข้า Firebase Console เปลี่ยน role ของบัญชีที่สองเป็น staff ด้วยมือ → ล็อกอินใหม่ ต้องเห็นหน้าคนละแบบ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26096" y="5266944"/>
            <a:ext cx="4005072" cy="914400"/>
          </a:xfrm>
          <a:prstGeom prst="roundRect">
            <a:avLst>
              <a:gd name="adj" fmla="val 10000"/>
            </a:avLst>
          </a:prstGeom>
          <a:solidFill>
            <a:srgbClr val="E5F2EC"/>
          </a:solidFill>
          <a:ln w="12700">
            <a:solidFill>
              <a:srgbClr val="E5F2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7827264" y="5596128"/>
            <a:ext cx="1143000" cy="256032"/>
          </a:xfrm>
          <a:prstGeom prst="roundRect">
            <a:avLst>
              <a:gd name="adj" fmla="val 4642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7827264" y="55961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07424" y="5413248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 4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ล็อกอินได้ และเห็นหน้าตาม role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SESSION 5 · 13.50 – 14.40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ฟอร์มแจ้งซ่อม รูปภาพ และแผนที่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2552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หัวใจของระบบ — จุดที่ผู้ใช้จริงสัมผัส และเป็นจุดที่ Agent มักพลาดรายละเอียดถ้าเราไม่กำหนดให้ชัด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1569110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1569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ย่อรูปฝั่ง client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2342" y="41148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2282342" y="4114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ไฟล์กำพร้า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34486" y="4114800"/>
            <a:ext cx="1730045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434486" y="4114800"/>
            <a:ext cx="17300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Leaflet vs MapLibre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10835" y="4114800"/>
            <a:ext cx="1086307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310835" y="4114800"/>
            <a:ext cx="10863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Geolocation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331720"/>
            <a:ext cx="1371600" cy="1371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S5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ฟอร์มแจ้งซ่อมและการอัปโหลดรูป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858000" cy="3657600"/>
          </a:xfrm>
          <a:prstGeom prst="roundRect">
            <a:avLst>
              <a:gd name="adj" fmla="val 2500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งานที่ 3 — หน้า /tickets/new ตาม US-01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63825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ฟอร์ม</a:t>
            </a: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หัวข้อ (บังคับ 5–100 ตัวอักษร) · ประเภทงาน (enum ใน SPEC พร้อมไอคอน)</a:t>
            </a: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ความเร่งด่วน 4 ระดับ พร้อมคำอธิบายสั้น ๆ ว่าแต่ละระดับหมายถึงอะไร</a:t>
            </a: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รายละเอียด (บังคับ) · อาคาร (จาก collection buildings) · ชั้น · ห้อง</a:t>
            </a: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อัปโหลดรูป</a:t>
            </a: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1–3 รูป รองรับถ่ายจากกล้องมือถือ capture="environment" · preview และลบทีละรูป</a:t>
            </a: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ย่อรูปฝั่ง client ก่อนอัปโหลด ด้านยาวสุดไม่เกิน 1600px คุณภาพ 0.8</a:t>
            </a: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เก็บที่ tickets/{ticketId}/{timestamp}_{index}.jpg · แสดง progress bar และปุ่มยกเลิก</a:t>
            </a: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ถ้าอัปโหลดล้มเหลว ต้องไม่ทำให้ข้อมูลใบแจ้งหาย</a:t>
            </a: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เมื่อบันทึก: สร้าง ticketNo อัตโนมัติ · status = NEW</a:t>
            </a:r>
            <a:endParaRPr lang="en-US" sz="1050" dirty="0"/>
          </a:p>
          <a:p>
            <a:pPr marL="0" indent="0">
              <a:lnSpc>
                <a:spcPts val="1689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คำนวณ dueAt จาก priority (urgent 4 ชม. / high 1 วัน / normal 3 วัน / low 7 วัน)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26096" y="1371600"/>
            <a:ext cx="4005072" cy="1755648"/>
          </a:xfrm>
          <a:prstGeom prst="roundRect">
            <a:avLst>
              <a:gd name="adj" fmla="val 5208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7827264" y="155448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7827264" y="15544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ทฤษฎี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50224" y="153619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ทำไมต้องย่อรูปฝั่ง client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45552" y="193852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7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รูปจากมือถือปัจจุบันมีขนาด 5–8 MB ต่อภาพ  3 ภาพ = 24 MB ต่อการแจ้ง 1 ครั้ง</a:t>
            </a:r>
            <a:endParaRPr lang="en-US" sz="900" dirty="0"/>
          </a:p>
          <a:p>
            <a:pPr marL="0" indent="0">
              <a:lnSpc>
                <a:spcPts val="1487"/>
              </a:lnSpc>
              <a:buNone/>
            </a:pPr>
            <a:endParaRPr lang="en-US" sz="900" dirty="0"/>
          </a:p>
          <a:p>
            <a:pPr marL="0" indent="0">
              <a:lnSpc>
                <a:spcPts val="1487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ผู้ใช้บนเครือข่ายมือถือจะรอนาน และค่า Storage บานปลาย  ย่อเหลือกว้าง 1600px ≈ 300–500 KB โดยยังเห็นรอยชำรุดชัด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26096" y="3273552"/>
            <a:ext cx="4005072" cy="1755648"/>
          </a:xfrm>
          <a:prstGeom prst="roundRect">
            <a:avLst>
              <a:gd name="adj" fmla="val 5208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827264" y="3456432"/>
            <a:ext cx="640080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7827264" y="3456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กับดัก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77072" y="34381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ไฟล์กำพร้า (Orphan Files)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45552" y="3840480"/>
            <a:ext cx="3566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7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ถ้าอัปโหลดรูปก่อนสร้าง ticket แล้วผู้ใช้ปิดหน้าไป จะเหลือไฟล์ค้างใน Storage ที่ไม่มีใครอ้างถึง</a:t>
            </a:r>
            <a:endParaRPr lang="en-US" sz="900" dirty="0"/>
          </a:p>
          <a:p>
            <a:pPr marL="0" indent="0">
              <a:lnSpc>
                <a:spcPts val="1487"/>
              </a:lnSpc>
              <a:buNone/>
            </a:pPr>
            <a:endParaRPr lang="en-US" sz="900" dirty="0"/>
          </a:p>
          <a:p>
            <a:pPr marL="0" indent="0">
              <a:lnSpc>
                <a:spcPts val="1487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ลองถาม Agent ว่า “คุณจัดการปัญหานี้อย่างไร” — คำตอบที่ดีคือสร้าง ticket ก่อนแล้วค่อยอัปโหลด หรือมีงานเก็บกวาดตามหลัง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51937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ข้อสังเกต: prompt นี้ยาว เพราะรายละเอียดเหล่านี้คือสิ่งที่แยก “ระบบสาธิต” ออกจาก “ระบบที่ใช้งานได้จริง”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S5 · ทฤษฎี +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เพิ่มแผนที่ : Leaflet หรือ MapLibre GL</a:t>
            </a:r>
            <a:endParaRPr lang="en-US" sz="2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2286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ประเด็น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Leaflet  (เลือกใช้วันนี้)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MapLibre GL JS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วิธีวาดแผนที่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Raster tiles — ภาพสำเร็จรูปต่อกันเป็นตาราง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Vector tiles — ส่งข้อมูลเส้น/รูปหลายเหลี่ยม แล้ววาดด้วย WebGL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ขนาดไลบรารี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เล็ก เบา โหลดเร็ว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ใหญ่กว่า ต้องการ GPU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จุดเด่น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เรียนรู้ง่ายที่สุด ปลั๊กอินเยอะ เหมาะกับงานปักหมุด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หมุน/เอียงแผนที่ได้ ปรับสไตล์ได้อิสระ จุดจำนวนมากยังลื่น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เหมาะกับ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ระบบแจ้งซ่อม ระบบสำรวจทั่วไป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Dashboard เชิงพื้นที่ heatmap อาคาร 3 มิติ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767328"/>
            <a:ext cx="6858000" cy="1920240"/>
          </a:xfrm>
          <a:prstGeom prst="roundRect">
            <a:avLst>
              <a:gd name="adj" fmla="val 4762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3"/>
          <p:cNvSpPr/>
          <p:nvPr/>
        </p:nvSpPr>
        <p:spPr>
          <a:xfrm>
            <a:off x="768096" y="3950208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4"/>
          <p:cNvSpPr/>
          <p:nvPr/>
        </p:nvSpPr>
        <p:spPr>
          <a:xfrm>
            <a:off x="768096" y="39502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719072" y="3931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งานที่ 4 — component เลือกตำแหน่ง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4334256"/>
            <a:ext cx="6382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ใช้ Leaflet + react-leaflet + OpenStreetMap สร้าง &lt;LocationPicker value onChange /&gt;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ค่าเริ่มต้นคือพิกัดของอาคารที่เลือกใน dropdown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ปุ่ม “ใช้ตำแหน่งปัจจุบัน” เรียก geolocation · จัดการกรณีผู้ใช้ปฏิเสธสิทธิ์และกรณีแม่นยำต่ำ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ลากหมุดหรือคลิกเพื่อย้ายหมุด · แสดงพิกัด 6 ตำแหน่ง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แก้ปัญหา marker icon ของ Leaflet ที่หายเมื่อ build ด้วย Vite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ต้องใช้งานได้ดีบนมือถือ ไม่แย่ง scroll กับหน้าเว็บ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626096" y="3767328"/>
            <a:ext cx="4005072" cy="1920240"/>
          </a:xfrm>
          <a:prstGeom prst="roundRect">
            <a:avLst>
              <a:gd name="adj" fmla="val 4762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7827264" y="3950208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7827264" y="395020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GNSS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650224" y="393192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ความแม่นยำของ GPS บนมือถือ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45552" y="4334256"/>
            <a:ext cx="3566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14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กลางแจ้ง 5–10 ม. · ใกล้ตัวอาคารหรือในอาคาร อาจคลาดเคลื่อน 20–50 ม.</a:t>
            </a:r>
            <a:endParaRPr lang="en-US" sz="1050" dirty="0"/>
          </a:p>
          <a:p>
            <a:pPr marL="0" indent="0">
              <a:lnSpc>
                <a:spcPts val="1814"/>
              </a:lnSpc>
              <a:buNone/>
            </a:pPr>
            <a:endParaRPr lang="en-US" sz="1050" dirty="0"/>
          </a:p>
          <a:p>
            <a:pPr marL="0" indent="0">
              <a:lnSpc>
                <a:spcPts val="1814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จึงต้องให้ผู้ใช้ “ลากหมุดยืนยัน” เสมอ ห้ามเชื่อค่า GPS ล้วน ๆ — และควรเก็บค่า accuracy ไว้ด้วย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S5 → S6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รายการงานและการเปลี่ยนสถานะ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858000" cy="4315968"/>
          </a:xfrm>
          <a:prstGeom prst="roundRect">
            <a:avLst>
              <a:gd name="adj" fmla="val 2119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งานที่ 5 — /tickets และ /tickets/:id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6382512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หน้ารายการ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Filter: สถานะ ประเภท อาคาร ความเร่งด่วน ช่วงวันที่ และค้นหาข้อความ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แสดงตามสิทธิ์ในตาราง swimlane (ผู้แจ้งเห็นเฉพาะของตน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ช่างเห็นเฉพาะที่มอบหมายให้ตน)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การ์ดแสดง เลขที่ หัวข้อ badge สถานะ ความเร่งด่วน อาคาร-ชั้น เวลา รูปแรก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ไฮไลต์ใบที่เลย dueAt ด้วยสีแดงและป้าย "เกินกำหนด"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หน้ารายละเอียด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ข้อมูลครบ + แกลเลอรีรูป + แผนที่แสดงหมุด (อ่านอย่างเดียว)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Timeline ประวัติจาก subcollection updates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ปุ่มเปลี่ยนสถานะ แสดงเฉพาะ transition ที่อนุญาตตาม state diagram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ใน @SPEC.md และตาม role เท่านั้น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ทุกครั้งที่เปลี่ยนสถานะ ต้องบันทึกลง updates และอัปเดต timestamp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26096" y="1371600"/>
            <a:ext cx="4005072" cy="1783080"/>
          </a:xfrm>
          <a:prstGeom prst="roundRect">
            <a:avLst>
              <a:gd name="adj" fmla="val 5128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7827264" y="155448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7827264" y="15544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ทฤษฎี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50224" y="153619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ตรงนี้แหละที่ State Diagram คืนทุน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45552" y="1938528"/>
            <a:ext cx="3566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0"/>
              </a:lnSpc>
              <a:buNone/>
            </a:pPr>
            <a:r>
              <a:rPr lang="en-US" sz="9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ถ้าไม่มีผัง Agent จะทำปุ่ม “เปลี่ยนสถานะ” เป็น dropdown ที่เลือกได้ทุกค่า</a:t>
            </a:r>
            <a:endParaRPr lang="en-US" sz="950" dirty="0"/>
          </a:p>
          <a:p>
            <a:pPr marL="0" indent="0">
              <a:lnSpc>
                <a:spcPts val="1570"/>
              </a:lnSpc>
              <a:buNone/>
            </a:pPr>
            <a:endParaRPr lang="en-US" sz="950" dirty="0"/>
          </a:p>
          <a:p>
            <a:pPr marL="0" indent="0">
              <a:lnSpc>
                <a:spcPts val="1570"/>
              </a:lnSpc>
              <a:buNone/>
            </a:pPr>
            <a:r>
              <a:rPr lang="en-US" sz="9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พอมีผัง มันจะสร้างฟังก์ชันตรวจว่า transition ใดถูกต้อง แล้วซ่อนปุ่มที่เหลือให้เอง — โดยเราไม่ต้องสั่งทีละข้อ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26096" y="3310128"/>
            <a:ext cx="4005072" cy="960120"/>
          </a:xfrm>
          <a:prstGeom prst="roundRect">
            <a:avLst>
              <a:gd name="adj" fmla="val 9524"/>
            </a:avLst>
          </a:prstGeom>
          <a:solidFill>
            <a:srgbClr val="E5F2EC"/>
          </a:solidFill>
          <a:ln w="12700">
            <a:solidFill>
              <a:srgbClr val="E5F2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827264" y="3662172"/>
            <a:ext cx="1143000" cy="256032"/>
          </a:xfrm>
          <a:prstGeom prst="roundRect">
            <a:avLst>
              <a:gd name="adj" fmla="val 4642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7827264" y="36621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07424" y="3456432"/>
            <a:ext cx="2304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 5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แจ้งซ่อมได้จริง พร้อมรูปและหมุด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26096" y="4407408"/>
            <a:ext cx="4005072" cy="1280160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7845552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วิธีตรวจงาน Agent ที่ได้ผลที่สุด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45552" y="486460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อย่าอ่านโค้ด — ให้ลองทำสิ่งที่ “ไม่ควรทำได้” เช่น ล็อกอินเป็นผู้แจ้ง แล้วกดปุ่มปิดงานของคนอื่น หรือแก้ URL ไปหน้า /dashboard โดยตรง  ถ้าเข้าได้ แปลว่ายังไม่เสร็จ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SESSION 6 · 14.55 – 15.35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ระบบแจ้งเตือน และ Dashboard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2552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ทำให้ระบบ “พูดกลับ” หาผู้ใช้ และทำให้ผู้บริหารเห็นภาพรวมได้ในหน้าจอเดียว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1166774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1166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Push vs Pull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80006" y="4114800"/>
            <a:ext cx="1649578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1880006" y="4114800"/>
            <a:ext cx="1649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Real-time listener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75888" y="4114800"/>
            <a:ext cx="1086307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675888" y="4114800"/>
            <a:ext cx="10863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KPI และ SLA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08499" y="4114800"/>
            <a:ext cx="1408176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908499" y="41148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เลือกกราฟให้ถูก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331720"/>
            <a:ext cx="1371600" cy="1371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S6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รูปแบบการแจ้งเตือน — เลือกให้เหมาะกับความเร่งด่วน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04672" y="15727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71541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Polling (Pull)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50545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ถามเซิร์ฟเวอร์ซ้ำ ๆ ทุก n วินาที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" y="3017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ง่ายที่สุด แต่เปลืองและช้า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ไม่แนะนำ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11296" y="137160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3749040" y="15727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686" y="171541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Real-time listener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50545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เซิร์ฟเวอร์ส่งมาเองเมื่อข้อมูลเปลี่ยน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749040" y="3017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Firestore onSnapshot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→ ใช้ในเวิร์กช็อปนี้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55664" y="137160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3"/>
          <p:cNvSpPr/>
          <p:nvPr/>
        </p:nvSpPr>
        <p:spPr>
          <a:xfrm>
            <a:off x="6693408" y="15727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054" y="171541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93408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Push notification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693408" y="250545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เด้งแม้ปิดแอปอยู่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693408" y="3017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Firebase Cloud Messaging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+ service worker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400032" y="137160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18"/>
          <p:cNvSpPr/>
          <p:nvPr/>
        </p:nvSpPr>
        <p:spPr>
          <a:xfrm>
            <a:off x="9637776" y="15727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422" y="171541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37776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Email / LINE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637776" y="250545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ส่งออกนอกระบบ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637776" y="3017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Extension ส่งอีเมล หรือ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LINE Messaging API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66928" y="3703320"/>
            <a:ext cx="6858000" cy="1984248"/>
          </a:xfrm>
          <a:prstGeom prst="roundRect">
            <a:avLst>
              <a:gd name="adj" fmla="val 4608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3"/>
          <p:cNvSpPr/>
          <p:nvPr/>
        </p:nvSpPr>
        <p:spPr>
          <a:xfrm>
            <a:off x="768096" y="388620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4"/>
          <p:cNvSpPr/>
          <p:nvPr/>
        </p:nvSpPr>
        <p:spPr>
          <a:xfrm>
            <a:off x="768096" y="388620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1719072" y="3867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งานที่ 6 — แจ้งเตือนภายในแอป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804672" y="4270248"/>
            <a:ext cx="63825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เมื่อสถานะใบแจ้งเปลี่ยน ให้สร้าง document ใน notifications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ส่งถึงผู้แจ้งทุกครั้ง และส่งถึงช่างเมื่อถูกมอบหมาย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ไอคอนกระดิ่งบน navbar พร้อมจำนวนที่ยังไม่อ่าน ใช้ onSnapshot ให้อัปเดตทันที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Dropdown แสดง 10 รายการล่าสุด คลิกแล้วไปหน้าใบแจ้งและ mark ว่าอ่านแล้ว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หน้า /notifications แสดงทั้งหมด พร้อมปุ่ม "อ่านทั้งหมด"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626096" y="3703320"/>
            <a:ext cx="4005072" cy="1984248"/>
          </a:xfrm>
          <a:prstGeom prst="roundRect">
            <a:avLst>
              <a:gd name="adj" fmla="val 4608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Shape 28"/>
          <p:cNvSpPr/>
          <p:nvPr/>
        </p:nvSpPr>
        <p:spPr>
          <a:xfrm>
            <a:off x="7827264" y="3886200"/>
            <a:ext cx="640080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29"/>
          <p:cNvSpPr/>
          <p:nvPr/>
        </p:nvSpPr>
        <p:spPr>
          <a:xfrm>
            <a:off x="7827264" y="3886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ระบบจริง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8577072" y="38679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อย่าให้ client เขียนการแจ้งเตือน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7845552" y="4270248"/>
            <a:ext cx="35661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5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ในเวิร์กช็อปเราเขียนจากฝั่งเบราว์เซอร์เพื่อความเร็ว แต่ระบบจริงต้องย้ายไป Cloud Functions (onDocumentUpdated) มิฉะนั้นผู้ใช้ปลอมการแจ้งเตือนถึงคนอื่นได้</a:t>
            </a:r>
            <a:endParaRPr lang="en-US" sz="900" dirty="0"/>
          </a:p>
          <a:p>
            <a:pPr marL="0" indent="0">
              <a:lnSpc>
                <a:spcPts val="1555"/>
              </a:lnSpc>
              <a:buNone/>
            </a:pPr>
            <a:endParaRPr lang="en-US" sz="900" dirty="0"/>
          </a:p>
          <a:p>
            <a:pPr marL="0" indent="0">
              <a:lnSpc>
                <a:spcPts val="1555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หมายเหตุ: LINE Notify ปิดบริการแล้ว ต้องใช้ LINE Messaging API แทน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S6 · ทฤษฎี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Dashboard ที่ดีตอบคำถาม ไม่ใช่แค่โชว์กราฟ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417320"/>
          <a:ext cx="57607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56248" y="1417320"/>
            <a:ext cx="5074920" cy="585216"/>
          </a:xfrm>
          <a:prstGeom prst="roundRect">
            <a:avLst>
              <a:gd name="adj" fmla="val 1562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3"/>
          <p:cNvSpPr/>
          <p:nvPr/>
        </p:nvSpPr>
        <p:spPr>
          <a:xfrm>
            <a:off x="6766560" y="14721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คำถาม: งานล้นมือหรือยัง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766560" y="17099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ตัวเลขใหญ่ — เรื่องค้างดำเนินการ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56248" y="2066544"/>
            <a:ext cx="5074920" cy="585216"/>
          </a:xfrm>
          <a:prstGeom prst="roundRect">
            <a:avLst>
              <a:gd name="adj" fmla="val 1562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/>
          <p:nvPr/>
        </p:nvSpPr>
        <p:spPr>
          <a:xfrm>
            <a:off x="6766560" y="21214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คำถาม: เราช้าเกินไปไหม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66560" y="23591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เวลาเฉลี่ยตั้งแต่รับแจ้งถึงปิดงาน + จำนวนที่เกิน SLA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56248" y="2715768"/>
            <a:ext cx="5074920" cy="585216"/>
          </a:xfrm>
          <a:prstGeom prst="roundRect">
            <a:avLst>
              <a:gd name="adj" fmla="val 1562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6766560" y="27706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คำถาม: ปัญหากระจุกที่ไหน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766560" y="30083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แผนที่หมุด + 5 อาคารที่แจ้งมากที่สุด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56248" y="3364992"/>
            <a:ext cx="5074920" cy="585216"/>
          </a:xfrm>
          <a:prstGeom prst="roundRect">
            <a:avLst>
              <a:gd name="adj" fmla="val 1562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2"/>
          <p:cNvSpPr/>
          <p:nvPr/>
        </p:nvSpPr>
        <p:spPr>
          <a:xfrm>
            <a:off x="6766560" y="34198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คำถาม: แนวโน้มดีขึ้นไหม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766560" y="3657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กราฟเส้นรายวันย้อนหลัง 30 วัน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" y="4069080"/>
            <a:ext cx="5394960" cy="1618488"/>
          </a:xfrm>
          <a:prstGeom prst="roundRect">
            <a:avLst>
              <a:gd name="adj" fmla="val 5650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5"/>
          <p:cNvSpPr/>
          <p:nvPr/>
        </p:nvSpPr>
        <p:spPr>
          <a:xfrm>
            <a:off x="768096" y="425196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6"/>
          <p:cNvSpPr/>
          <p:nvPr/>
        </p:nvSpPr>
        <p:spPr>
          <a:xfrm>
            <a:off x="768096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SLA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591056" y="423367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Service Level Agreement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6384" y="4636008"/>
            <a:ext cx="4956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2"/>
              </a:lnSpc>
              <a:buNone/>
            </a:pPr>
            <a:r>
              <a:rPr lang="en-US" sz="10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ข้อตกลงว่าจะตอบสนองภายในเวลาเท่าใด — ในระบบนี้เราแปลง priority เป็น dueAt</a:t>
            </a:r>
            <a:endParaRPr lang="en-US" sz="1000" dirty="0"/>
          </a:p>
          <a:p>
            <a:pPr marL="0" indent="0">
              <a:lnSpc>
                <a:spcPts val="1652"/>
              </a:lnSpc>
              <a:buNone/>
            </a:pPr>
            <a:endParaRPr lang="en-US" sz="1000" dirty="0"/>
          </a:p>
          <a:p>
            <a:pPr marL="0" indent="0">
              <a:lnSpc>
                <a:spcPts val="1652"/>
              </a:lnSpc>
              <a:buNone/>
            </a:pPr>
            <a:r>
              <a:rPr lang="en-US" sz="10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urgent 4 ชม. · high 1 วัน · normal 3 วัน · low 7 วัน</a:t>
            </a:r>
            <a:endParaRPr lang="en-US" sz="1000" dirty="0"/>
          </a:p>
          <a:p>
            <a:pPr marL="0" indent="0">
              <a:lnSpc>
                <a:spcPts val="1652"/>
              </a:lnSpc>
              <a:buNone/>
            </a:pPr>
            <a:r>
              <a:rPr lang="en-US" sz="10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→ ทำให้ “เกินกำหนด” กลายเป็นตัวเลขที่วัดได้ ไม่ใช่ความรู้สึก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54496" y="4069080"/>
            <a:ext cx="5394960" cy="1618488"/>
          </a:xfrm>
          <a:prstGeom prst="roundRect">
            <a:avLst>
              <a:gd name="adj" fmla="val 565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0"/>
          <p:cNvSpPr/>
          <p:nvPr/>
        </p:nvSpPr>
        <p:spPr>
          <a:xfrm>
            <a:off x="6455664" y="425196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1"/>
          <p:cNvSpPr/>
          <p:nvPr/>
        </p:nvSpPr>
        <p:spPr>
          <a:xfrm>
            <a:off x="6455664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เลือกกราฟ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278624" y="423367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จับคู่ชนิดข้อมูลกับชนิดกราฟ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73952" y="4636008"/>
            <a:ext cx="4956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2"/>
              </a:lnSpc>
              <a:buNone/>
            </a:pPr>
            <a:r>
              <a:rPr lang="en-US" sz="10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เปรียบเทียบหมวดหมู่ → แท่ง  ·  สัดส่วนของทั้งหมด → โดนัท (ไม่เกิน 5–6 ส่วน)</a:t>
            </a:r>
            <a:endParaRPr lang="en-US" sz="1000" dirty="0"/>
          </a:p>
          <a:p>
            <a:pPr marL="0" indent="0">
              <a:lnSpc>
                <a:spcPts val="1652"/>
              </a:lnSpc>
              <a:buNone/>
            </a:pPr>
            <a:r>
              <a:rPr lang="en-US" sz="10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แนวโน้มตามเวลา → เส้น  ·  ตำแหน่งเชิงพื้นที่ → แผนที่  ·  ตัวเลขเดียวที่สำคัญ → ตัวเลขใหญ่ ๆ ไม่ต้องมีกราฟ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S6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สั่งสร้าง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858000" cy="4023360"/>
          </a:xfrm>
          <a:prstGeom prst="roundRect">
            <a:avLst>
              <a:gd name="adj" fmla="val 2273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งานที่ 7 — /dashboard สำหรับ supervisor และ admin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63825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การ์ดตัวเลข: เรื่องทั้งหมด · ค้างดำเนินการ · เสร็จเดือนนี้ · เกินกำหนด SLA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และเวลาเฉลี่ยตั้งแต่รับแจ้งจนปิดงาน (ชั่วโมง)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กราฟด้วย Recharts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แท่ง: จำนวนแยกตามประเภทงาน · โดนัท: สัดส่วนตามสถานะ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เส้น: แนวโน้มรายวันย้อนหลัง 30 วัน · แท่งแนวนอน: 5 อาคารที่แจ้งมากที่สุด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แผนที่ภาพรวม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Leaflet แสดงหมุดของทุกใบแจ้ง สีตามสถานะ · ใช้ marker cluster เมื่อหนาแน่น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คลิกหมุด → popup ย่อ → ลิงก์ไปหน้ารายละเอียด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ปุ่ม Export CSV ตาม filter ปัจจุบัน (encoding ต้องรองรับภาษาไทยใน Excel)</a:t>
            </a:r>
            <a:endParaRPr lang="en-US" sz="110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ทุกส่วนต้องแสดงผลได้ดีบนจอมือถือ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26096" y="1371600"/>
            <a:ext cx="4005072" cy="1874520"/>
          </a:xfrm>
          <a:prstGeom prst="roundRect">
            <a:avLst>
              <a:gd name="adj" fmla="val 4878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7827264" y="155448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7827264" y="15544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เกร็ด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50224" y="153619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ทำไมต้องระบุเรื่อง encoding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45552" y="1938528"/>
            <a:ext cx="3566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35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ไฟล์ CSV ภาษาไทยที่เปิดใน Excel แล้วเป็นตัวยึกยือ เกิดจากไม่มี BOM นำหน้า (UTF-8 with BOM)</a:t>
            </a:r>
            <a:endParaRPr lang="en-US" sz="1050" dirty="0"/>
          </a:p>
          <a:p>
            <a:pPr marL="0" indent="0">
              <a:lnSpc>
                <a:spcPts val="1735"/>
              </a:lnSpc>
              <a:buNone/>
            </a:pPr>
            <a:endParaRPr lang="en-US" sz="1050" dirty="0"/>
          </a:p>
          <a:p>
            <a:pPr marL="0" indent="0">
              <a:lnSpc>
                <a:spcPts val="1735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เป็นตัวอย่างว่า “รายละเอียดเล็ก ๆ ที่คนไทยเจอบ่อย” ต้องบอก AI เพราะมันไม่รู้บริบทเรา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26096" y="3401568"/>
            <a:ext cx="4005072" cy="786384"/>
          </a:xfrm>
          <a:prstGeom prst="roundRect">
            <a:avLst>
              <a:gd name="adj" fmla="val 11628"/>
            </a:avLst>
          </a:prstGeom>
          <a:solidFill>
            <a:srgbClr val="E5F2EC"/>
          </a:solidFill>
          <a:ln w="12700">
            <a:solidFill>
              <a:srgbClr val="E5F2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827264" y="3666744"/>
            <a:ext cx="1143000" cy="256032"/>
          </a:xfrm>
          <a:prstGeom prst="roundRect">
            <a:avLst>
              <a:gd name="adj" fmla="val 4642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7827264" y="36667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07424" y="3547872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 6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Dashboard แสดงข้อมูลจริงจาก Firestore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26096" y="4352544"/>
            <a:ext cx="4005072" cy="1042416"/>
          </a:xfrm>
          <a:prstGeom prst="roundRect">
            <a:avLst>
              <a:gd name="adj" fmla="val 8772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7845552" y="4352544"/>
            <a:ext cx="3611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ถ้าเวลาไม่พอ ให้ตัดกราฟเส้นและ Export CSV ออกก่อน — แต่ต้องเหลือการ์ดตัวเลขและแผนที่ไว้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5486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สังเกตว่า prompt นี้ไม่ได้บอกวิธีเขียนโค้ดเลยสักบรรทัด — บอกแต่ “ต้องได้อะไร” ซึ่งเป็นภาษาที่เราถนัดกว่า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SESSION 7 · 15.35 – 16.10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Browser Agent ตรวจงาน และ Deploy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2552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ปิดวงจร plan → act → verify ให้ครบ แล้วส่งระบบขึ้นออนไลน์ให้ทุกคนเปิดจากมือถือได้จริง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1327709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1327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ทดสอบอัตโนมัติ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40941" y="4114800"/>
            <a:ext cx="1569110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2040941" y="4114800"/>
            <a:ext cx="1569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Responsive + WCAG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56355" y="4114800"/>
            <a:ext cx="1327709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756355" y="4114800"/>
            <a:ext cx="1327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Security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0368" y="4114800"/>
            <a:ext cx="1488643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230368" y="4114800"/>
            <a:ext cx="14886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Firebase Hosting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331720"/>
            <a:ext cx="1371600" cy="1371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S7 · ปฏิบัติ 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Browser Agent — ให้ AI เป็นคนทดสอบเว็บของตัวเอง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1536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ทดสอบ end-to-end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49194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/browser เปิด http://localhost:5173 แล้วทดสอบ flow การแจ้งซ่อมทั้งหมด</a:t>
            </a:r>
            <a:endParaRPr lang="en-US" sz="950" dirty="0"/>
          </a:p>
          <a:p>
            <a:pPr marL="0" indent="0">
              <a:lnSpc>
                <a:spcPts val="167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1. สมัครสมาชิกใหม่ด้วยอีเมล test-&lt;random&gt;@example.com</a:t>
            </a:r>
            <a:endParaRPr lang="en-US" sz="950" dirty="0"/>
          </a:p>
          <a:p>
            <a:pPr marL="0" indent="0">
              <a:lnSpc>
                <a:spcPts val="167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2. เข้าสู่ระบบ</a:t>
            </a:r>
            <a:endParaRPr lang="en-US" sz="950" dirty="0"/>
          </a:p>
          <a:p>
            <a:pPr marL="0" indent="0">
              <a:lnSpc>
                <a:spcPts val="167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3. แจ้งซ่อม: หัวข้อ "หลอดไฟชั้น 3 ดับ" ประเภทไฟฟ้า</a:t>
            </a:r>
            <a:endParaRPr lang="en-US" sz="950" dirty="0"/>
          </a:p>
          <a:p>
            <a:pPr marL="0" indent="0">
              <a:lnSpc>
                <a:spcPts val="167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 ความเร่งด่วน high เลือกอาคารใดก็ได้ ปักหมุดบนแผนที่</a:t>
            </a:r>
            <a:endParaRPr lang="en-US" sz="950" dirty="0"/>
          </a:p>
          <a:p>
            <a:pPr marL="0" indent="0">
              <a:lnSpc>
                <a:spcPts val="167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4. บันทึก แล้วตรวจว่าไปโผล่ในรายการ "เรื่องของฉัน" จริง</a:t>
            </a:r>
            <a:endParaRPr lang="en-US" sz="950" dirty="0"/>
          </a:p>
          <a:p>
            <a:pPr marL="0" indent="0">
              <a:lnSpc>
                <a:spcPts val="167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5. เปิดหน้ารายละเอียดและตรวจว่าข้อมูลครบ</a:t>
            </a:r>
            <a:endParaRPr lang="en-US" sz="950" dirty="0"/>
          </a:p>
          <a:p>
            <a:pPr marL="0" indent="0">
              <a:lnSpc>
                <a:spcPts val="1674"/>
              </a:lnSpc>
              <a:buNone/>
            </a:pPr>
            <a:endParaRPr lang="en-US" sz="950" dirty="0"/>
          </a:p>
          <a:p>
            <a:pPr marL="0" indent="0">
              <a:lnSpc>
                <a:spcPts val="167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รายงานผลเป็น artifact พร้อม screenshot ทุกขั้นตอน</a:t>
            </a:r>
            <a:endParaRPr lang="en-US" sz="950" dirty="0"/>
          </a:p>
          <a:p>
            <a:pPr marL="0" indent="0">
              <a:lnSpc>
                <a:spcPts val="167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ถ้าเจอ error ให้บอกว่าเกิดที่ไหนและสาเหตุน่าจะคืออะไร แต่ยังไม่ต้องแก้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54496" y="137160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6455664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455664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06640" y="1536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ทดสอบ responsive และ accessibility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1938528"/>
            <a:ext cx="49194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/browser ทดสอบเว็บที่ localhost:5173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ที่ความกว้าง 390px (มือถือ) และ 1440px (เดสก์ท็อป)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ตรวจว่ามีเนื้อหาล้นขอบ ปุ่มเล็กเกินกด หรือข้อความทับกันหรือไม่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ตรวจ contrast ของสีตัวอักษรกับพื้นหลังตามเกณฑ์ WCAG AA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สรุปเป็นรายการปัญหาเรียงตามความรุนแรง พร้อม screenshot ประกอบ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— แล้วตามด้วย —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แก้ปัญหา 3 ข้อแรกที่พบ แล้วทดสอบซ้ำด้วย browser</a:t>
            </a:r>
            <a:endParaRPr lang="en-US" sz="850" dirty="0"/>
          </a:p>
          <a:p>
            <a:pPr marL="0" indent="0">
              <a:lnSpc>
                <a:spcPts val="1498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เพื่อยืนยันว่าแก้ได้จริง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4407408"/>
            <a:ext cx="6858000" cy="1280160"/>
          </a:xfrm>
          <a:prstGeom prst="roundRect">
            <a:avLst>
              <a:gd name="adj" fmla="val 7143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68096" y="4590288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768096" y="459028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ทฤษฎี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91056" y="457200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นี่คือหัวใจของ agentic development : Verification Loop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974336"/>
            <a:ext cx="6419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6"/>
              </a:lnSpc>
              <a:buNone/>
            </a:pPr>
            <a:r>
              <a:rPr lang="en-US" sz="8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Agent ไม่ได้แค่ “เขียนโค้ดแล้วบอกว่าเสร็จ” แต่เปิดเบราว์เซอร์จริง คลิกจริง เห็นผลจริง แล้ววนกลับไปแก้เอง</a:t>
            </a:r>
            <a:endParaRPr lang="en-US" sz="850" dirty="0"/>
          </a:p>
          <a:p>
            <a:pPr marL="0" indent="0">
              <a:lnSpc>
                <a:spcPts val="1346"/>
              </a:lnSpc>
              <a:buNone/>
            </a:pPr>
            <a:endParaRPr lang="en-US" sz="850" dirty="0"/>
          </a:p>
          <a:p>
            <a:pPr marL="0" indent="0">
              <a:lnSpc>
                <a:spcPts val="1346"/>
              </a:lnSpc>
              <a:buNone/>
            </a:pPr>
            <a:r>
              <a:rPr lang="en-US" sz="8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บทบาทของเราเปลี่ยนจาก “คนทดสอบ” เป็น “คนกำหนดเกณฑ์การทดสอบ” — ซึ่งเป็นงานที่มีคุณค่าสูงกว่ามาก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26096" y="4407408"/>
            <a:ext cx="4005072" cy="1280160"/>
          </a:xfrm>
          <a:prstGeom prst="roundRect">
            <a:avLst>
              <a:gd name="adj" fmla="val 7143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7827264" y="4590288"/>
            <a:ext cx="640080" cy="256032"/>
          </a:xfrm>
          <a:prstGeom prst="roundRect">
            <a:avLst>
              <a:gd name="adj" fmla="val 46429"/>
            </a:avLst>
          </a:prstGeom>
          <a:solidFill>
            <a:srgbClr val="B5372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7827264" y="45902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เงื่อนไข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77072" y="4572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ต้องตั้ง Chrome เป็นเบราว์เซอร์เริ่มต้น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45552" y="49743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82"/>
              </a:lnSpc>
              <a:buNone/>
            </a:pPr>
            <a:r>
              <a:rPr lang="en-US" sz="8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คำสั่ง /browser จะเปิด debugging session กับ Chrome  ถ้าเครื่องตั้ง Edge หรือ Safari เป็นค่าเริ่มต้น จะใช้ไม่ได้</a:t>
            </a:r>
            <a:endParaRPr lang="en-US" sz="800" dirty="0"/>
          </a:p>
          <a:p>
            <a:pPr marL="0" indent="0">
              <a:lnSpc>
                <a:spcPts val="1382"/>
              </a:lnSpc>
              <a:buNone/>
            </a:pPr>
            <a:endParaRPr lang="en-US" sz="800" dirty="0"/>
          </a:p>
          <a:p>
            <a:pPr marL="0" indent="0">
              <a:lnSpc>
                <a:spcPts val="1382"/>
              </a:lnSpc>
              <a:buNone/>
            </a:pPr>
            <a:r>
              <a:rPr lang="en-US" sz="8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และ Agent จะขออนุญาตก่อนเปิดเบราว์เซอร์ทุกครั้ง — ต้องกดอนุญาต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S7 · ปฏิบัติ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Security Rules และการ Deploy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943600" cy="3520440"/>
          </a:xfrm>
          <a:prstGeom prst="roundRect">
            <a:avLst>
              <a:gd name="adj" fmla="val 2597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68096" y="1554480"/>
            <a:ext cx="841248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68096" y="15544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PROMPT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1536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งานที่ 8 — เตรียมขึ้นระบบจริง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54681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1. เขียน firestore.rules ที่บังคับสิทธิ์ตามตาราง swimlane ใน @SPEC.md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 • อ่าน role จาก users/{uid} ด้วย get()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 • ผู้แจ้งอ่านได้เฉพาะ ticket ที่ reporterId == uid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 • ห้าม client แก้ status ข้ามลำดับที่ state diagram ไม่อนุญาต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   • ห้ามแก้ createdAt, ticketNo, reporterId หลังสร้างแล้ว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2. เขียน storage.rules: อัปโหลดได้เฉพาะผู้ล็อกอิน ไฟล์ ≤ 5MB เฉพาะ image/*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3. สร้าง firestore.indexes.json ตาม query ที่ใช้จริง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4. อธิบายให้ฉันฟังทีละบรรทัดว่า rule แต่ละข้อป้องกันอะไร</a:t>
            </a:r>
            <a:endParaRPr lang="en-US" sz="1050" dirty="0"/>
          </a:p>
          <a:p>
            <a:pPr marL="0" indent="0">
              <a:lnSpc>
                <a:spcPts val="18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5. รัน build และแก้ warning ที่เกิดขึ้น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11696" y="1371600"/>
            <a:ext cx="4919472" cy="1920240"/>
          </a:xfrm>
          <a:prstGeom prst="roundRect">
            <a:avLst>
              <a:gd name="adj" fmla="val 3810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6894576" y="1536192"/>
            <a:ext cx="868680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894576" y="15361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DEPLOY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31152" y="1901952"/>
            <a:ext cx="4480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firebase-tools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 login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 init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เลือก Hosting + Firestore + Storage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public directory = dist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SPA = Yes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ไม่ต้อง overwrite index.html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C9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 deploy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711696" y="3429000"/>
            <a:ext cx="4919472" cy="1463040"/>
          </a:xfrm>
          <a:prstGeom prst="roundRect">
            <a:avLst>
              <a:gd name="adj" fmla="val 6250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6912864" y="361188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912864" y="36118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หลักการ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35824" y="3593592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Deny by default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1152" y="399592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17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Security Rules ที่ดีเริ่มจาก “ปฏิเสธทุกอย่าง” แล้วค่อยเปิดสิทธิ์ทีละข้อ ไม่ใช่เริ่มจากเปิดหมดแล้วค่อยปิด — เพราะสิ่งที่เราลืมปิด คือช่องโหว่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029200"/>
            <a:ext cx="7223760" cy="777240"/>
          </a:xfrm>
          <a:prstGeom prst="roundRect">
            <a:avLst>
              <a:gd name="adj" fmla="val 11765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822960" y="5102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ทดสอบของจริง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535838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ให้ทุกคนเปิด URL ที่ได้ (https://xxx.web.app) บนมือถือตัวเอง แล้วลองแจ้งซ่อมของจริงในห้องอบรม เช่น “ปลั๊กไฟห้องประชุมหลวม” → ข้อมูลจะขึ้น Dashboard บนจอโปรเจกเตอร์ทันที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91856" y="5029200"/>
            <a:ext cx="3639312" cy="777240"/>
          </a:xfrm>
          <a:prstGeom prst="roundRect">
            <a:avLst>
              <a:gd name="adj" fmla="val 11765"/>
            </a:avLst>
          </a:prstGeom>
          <a:solidFill>
            <a:srgbClr val="E5F2EC"/>
          </a:solidFill>
          <a:ln w="12700">
            <a:solidFill>
              <a:srgbClr val="E5F2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8193024" y="5289804"/>
            <a:ext cx="1143000" cy="256032"/>
          </a:xfrm>
          <a:prstGeom prst="roundRect">
            <a:avLst>
              <a:gd name="adj" fmla="val 4642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8193024" y="52898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73184" y="5175504"/>
            <a:ext cx="1938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Checkpoint 7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URL ใช้งานได้จริง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+ repo สมบูรณ์พร้อม README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SESSION 8 · 16.10 – 16.30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นำเสนอ ถอดบทเรียน และต่อยอด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2552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สิ่งที่ได้กลับบ้านไม่ใช่แค่แอป แต่คือวิธีคิดที่ใช้กับระบบอื่นได้ทันที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1327709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1327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Lightning 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40941" y="41148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2040941" y="4114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ถอดบทเรียน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93085" y="4114800"/>
            <a:ext cx="1247242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193085" y="4114800"/>
            <a:ext cx="12472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สิ่งที่ยังขาด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86630" y="4114800"/>
            <a:ext cx="925373" cy="365760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86630" y="4114800"/>
            <a:ext cx="9253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ทางต่อยอด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331720"/>
            <a:ext cx="1371600" cy="1371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2194560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S8 · ถอดบทเรียนร่วมกัน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 คำถามก่อนกลับบ้าน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859536" y="2139696"/>
            <a:ext cx="548640" cy="548640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859536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27632" y="201168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ตอนไหนที่ Agent เข้าใจผิด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27632" y="23774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ย้อนกลับไปดูสิว่าเป็นเพราะ spec ของเราไม่ชัดเจนตรงไหน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เกือบทุกครั้งคำตอบคือ “เราไม่ได้บอก” ไม่ใช่ “มันโง่”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859536" y="3438144"/>
            <a:ext cx="548640" cy="548640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859536" y="3438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27632" y="331012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Flowchart ตอนเช้าช่วยอะไรบ้าง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27632" y="36758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ลองนึกว่าถ้าเริ่มตอนบ่ายโดยไม่มีผังเลย จะเสียเวลาแก้ไปแล้วกี่รอบ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เอกสารที่ใช้เวลาทำ 50 นาที ประหยัดไปได้เท่าไร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425696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859536" y="4736592"/>
            <a:ext cx="548640" cy="548640"/>
          </a:xfrm>
          <a:prstGeom prst="ellipse">
            <a:avLst/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859536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27632" y="46085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ถ้าไม่มี Artifact เราจะรู้ได้อย่างไรว่างานถูก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27632" y="497433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ในงานจริงที่ไม่มีใครอ่านโค้ดเป็น อะไรคือหลักฐานที่คุณจะขอ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จากผู้รับจ้างหรือจาก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7424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Lightning demo 60 วินาที/คน — สุ่ม 5–6 คนเปิด URL จริงบนจอ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S8 · สำคัญมาก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สิ่งที่ยังขาดก่อนนำไปใช้งานจริง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อย่ากลับไปด้วยความเข้าใจผิดว่าระบบที่ทำวันนี้พร้อมใช้กับข้อมูลจริงแล้ว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94960" cy="1225296"/>
          </a:xfrm>
          <a:prstGeom prst="roundRect">
            <a:avLst>
              <a:gd name="adj" fmla="val 746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804672" y="18653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201277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73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PDPA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554480" y="2084832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ข้อตกลงการใช้ข้อมูล · สิทธิ์การลบข้อมูล · รูปถ่ายที่อาจติดใบหน้าคน · ระยะเวลาเก็บข้อมูล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54496" y="1572768"/>
            <a:ext cx="5394960" cy="1225296"/>
          </a:xfrm>
          <a:prstGeom prst="roundRect">
            <a:avLst>
              <a:gd name="adj" fmla="val 746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6492240" y="18653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641" y="201277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42048" y="1773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ย้าย logic ไปฝั่งเซิร์ฟเวอร์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242048" y="2084832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การสร้างเลขที่ใบแจ้ง การแจ้งเตือน และการเปลี่ยนสถานะสำคัญ ควรอยู่ใน Cloud Functions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928" y="2962656"/>
            <a:ext cx="5394960" cy="1225296"/>
          </a:xfrm>
          <a:prstGeom prst="roundRect">
            <a:avLst>
              <a:gd name="adj" fmla="val 746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2"/>
          <p:cNvSpPr/>
          <p:nvPr/>
        </p:nvSpPr>
        <p:spPr>
          <a:xfrm>
            <a:off x="804672" y="325526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3402665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63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สำรองข้อมูลและกู้คืน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554480" y="3474720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ตั้ง scheduled backup ของ Firestore และทดสอบการกู้คืนจริงอย่างน้อยปีละครั้ง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54496" y="2962656"/>
            <a:ext cx="5394960" cy="1225296"/>
          </a:xfrm>
          <a:prstGeom prst="roundRect">
            <a:avLst>
              <a:gd name="adj" fmla="val 746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6"/>
          <p:cNvSpPr/>
          <p:nvPr/>
        </p:nvSpPr>
        <p:spPr>
          <a:xfrm>
            <a:off x="6492240" y="325526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641" y="3402665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42048" y="3163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การทดสอบอัตโนมัติ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242048" y="3474720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เขียน test ให้กฎการเปลี่ยนสถานะและ Security Rules เพื่อกันของเดิมพังเมื่อแก้ของใหม่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66928" y="4352544"/>
            <a:ext cx="5394960" cy="1225296"/>
          </a:xfrm>
          <a:prstGeom prst="roundRect">
            <a:avLst>
              <a:gd name="adj" fmla="val 746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0"/>
          <p:cNvSpPr/>
          <p:nvPr/>
        </p:nvSpPr>
        <p:spPr>
          <a:xfrm>
            <a:off x="804672" y="46451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073" y="4792553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553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เชื่อมกับระบบขององค์กร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554480" y="4864608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ระบบบุคลากรสำหรับ role · ระบบพัสดุสำหรับการเบิกอะไหล่ · SSO ของมหาวิทยาลัย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54496" y="4352544"/>
            <a:ext cx="5394960" cy="1225296"/>
          </a:xfrm>
          <a:prstGeom prst="roundRect">
            <a:avLst>
              <a:gd name="adj" fmla="val 746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4"/>
          <p:cNvSpPr/>
          <p:nvPr/>
        </p:nvSpPr>
        <p:spPr>
          <a:xfrm>
            <a:off x="6492240" y="46451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9641" y="4792553"/>
            <a:ext cx="272125" cy="2721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42048" y="4553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ประเมินค่าใช้จ่าย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7242048" y="4864608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Firebase คิดตามการอ่าน/เขียน/พื้นที่ — ประมาณการเมื่อมีผู้ใช้จริงหลักพันก่อนตัดสินใจ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66928" y="57790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5372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สิ่งที่ทำวันนี้คือ “ต้นแบบที่ใช้งานได้” (working prototype) — เหมาะสำหรับทดลองกับผู้ใช้กลุ่มเล็กเพื่อเก็บ feedback ก่อนลงทุนพัฒนาเต็มรูปแบบ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S8 · นำกลับไปใช้ต่อ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สรุป : 6 รูปแบบ Prompt ที่ใช้ตลอดวันนี้</a:t>
            </a:r>
            <a:endParaRPr lang="en-US" sz="26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38404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รูปแบบ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ตัวอย่างถ้อยคำ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ใช้เมื่อ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Role + Task + Constraint + Output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คุณคือ Business Analyst / ช่วยหา edge case / อย่าเดาแทนฉัน / ตอบเป็นตาราง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ใช้ได้ทุกครั้ง เป็นโครงพื้นฐาน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อ้างอิงไฟล์ด้วย @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อ่าน @SPEC.md แล้ว…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ให้ Agent ยึด spec ไม่หลุดบริบท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Stop point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ยังไม่ต้องเขียนโค้ด / ทำแค่โครงก่อน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กัน Agent วิ่งเลยธงไปไกล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Verify loop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แก้แล้วทดสอบด้วย browser เพื่อยืนยันว่าแก้ได้จริง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ตรวจรับงานโดยไม่ต้องอ่านโค้ด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Explain back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อธิบายทีละบรรทัดว่า rule นี้ป้องกันอะไร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เรียนรู้จากโค้ดที่ AI เขียน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Ask me back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ถ้ามีจุดกำกวม ให้ถามกลับ อย่าเดา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ลดการสมมติผิดตั้งแต่ต้นทาง</a:t>
                      </a:r>
                      <a:endParaRPr lang="en-US" sz="115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120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4F1F0"/>
          </a:solidFill>
          <a:ln w="12700">
            <a:solidFill>
              <a:srgbClr val="E4F1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3"/>
          <p:cNvSpPr/>
          <p:nvPr/>
        </p:nvSpPr>
        <p:spPr>
          <a:xfrm>
            <a:off x="768096" y="5303520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10726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4"/>
          <p:cNvSpPr/>
          <p:nvPr/>
        </p:nvSpPr>
        <p:spPr>
          <a:xfrm>
            <a:off x="768096" y="53035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ทฤษฎี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591056" y="5285232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26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ข้อสังเกต: ทั้ง 6 รูปแบบไม่มีข้อไหนเกี่ยวกับ “คำสั่งวิเศษ” หรือ “คำที่ทำให้ AI เก่งขึ้น”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" y="5687568"/>
            <a:ext cx="106253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6"/>
              </a:lnSpc>
              <a:buNone/>
            </a:pPr>
            <a:r>
              <a:rPr lang="en-US" sz="8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ทุกข้อคือการสื่อสารที่ชัดเจนแบบเดียวกับที่เราใช้มอบหมายงานให้เพื่อนร่วมงานคนใหม่ — prompt engineering ที่ดีคือทักษะการสั่งงาน ไม่ใช่เวทมนตร์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ภาคผนวก · เก็บไว้ใช้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ปัญหาที่เจอบ่อยและวิธีแก้</a:t>
            </a:r>
            <a:endParaRPr lang="en-US" sz="26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7223760" cy="39969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อาการ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สาเหตุ / วิธีแก้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/browser ไม่ทำงาน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Chrome ไม่ได้เป็นเบราว์เซอร์เริ่มต้นของเครื่อง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ล็อกอิน Antigravity ไม่ผ่าน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ใช้บัญชี Google ขององค์กรที่ถูกจำกัดสิทธิ์ → เปลี่ยนเป็น Gmail ส่วนตัว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หมุด Leaflet หายหลัง build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ปัญหา path ของ marker icon กับ Vite → import ไฟล์ icon เข้ามาโดยตรง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แผนที่เป็นพื้นที่สีเทาว่างเปล่า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container ไม่มีความสูง → กำหนด height ให้ชัดเจน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อัปโหลดรูปค้าง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ยังไม่ได้เปิดใช้ Storage / rules บล็อก / ปัญหา CORS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Firestore แจ้ง error พร้อมลิงก์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ต้องสร้าง composite index → คลิกลิงก์ใน error ได้เลย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Agent วนแก้ไม่จบสักที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หยุด แล้วเริ่ม conversation ใหม่ อ้างอิง @SPEC.md และระบุปัญหาให้แคบลง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แอปช้าเมื่อข้อมูลเยอะ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i="0" dirty="0">
                          <a:solidFill>
                            <a:srgbClr val="16212E"/>
                          </a:solidFill>
                          <a:latin typeface="Noto Sans Thai" panose="020B0502040504020204" pitchFamily="34" charset="-34"/>
                          <a:ea typeface="Tahoma" pitchFamily="34" charset="-122"/>
                          <a:cs typeface="Noto Sans Thai" panose="020B0502040504020204" pitchFamily="34" charset="-34"/>
                        </a:rPr>
                        <a:t>ไม่ได้ใส่ limit() ใน query → เพิ่ม pagination</a:t>
                      </a:r>
                      <a:endParaRPr lang="en-US" sz="1100" b="0" i="0" dirty="0">
                        <a:latin typeface="Noto Sans Thai" panose="020B0502040504020204" pitchFamily="34" charset="-34"/>
                        <a:ea typeface="Tahoma" charset="0"/>
                        <a:cs typeface="Noto Sans Thai" panose="020B0502040504020204" pitchFamily="34" charset="-34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91856" y="1371600"/>
            <a:ext cx="3639312" cy="2194560"/>
          </a:xfrm>
          <a:prstGeom prst="roundRect">
            <a:avLst>
              <a:gd name="adj" fmla="val 41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3"/>
          <p:cNvSpPr/>
          <p:nvPr/>
        </p:nvSpPr>
        <p:spPr>
          <a:xfrm>
            <a:off x="8211312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เกณฑ์ประเมินผลงาน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11312" y="18470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เอกสารออกแบบครบและสอดคล้อง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899648" y="1847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11312" y="21305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ระบบใช้งานได้ตาม Must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899648" y="21305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30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11312" y="241401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Dashboard และแจ้งเตือน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899648" y="24140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11312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Deploy + README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899648" y="2697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11312" y="29809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คุณภาพการควบคุม Agent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899648" y="29809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15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11312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2438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รวม 100 คะแนน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91856" y="3712464"/>
            <a:ext cx="3639312" cy="1975104"/>
          </a:xfrm>
          <a:prstGeom prst="roundRect">
            <a:avLst>
              <a:gd name="adj" fmla="val 4630"/>
            </a:avLst>
          </a:prstGeom>
          <a:solidFill>
            <a:srgbClr val="FDF1DF"/>
          </a:solidFill>
          <a:ln w="12700">
            <a:solidFill>
              <a:srgbClr val="FDF1D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6"/>
          <p:cNvSpPr/>
          <p:nvPr/>
        </p:nvSpPr>
        <p:spPr>
          <a:xfrm>
            <a:off x="8193024" y="3895344"/>
            <a:ext cx="713232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7"/>
          <p:cNvSpPr/>
          <p:nvPr/>
        </p:nvSpPr>
        <p:spPr>
          <a:xfrm>
            <a:off x="8193024" y="389534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ต่อยอด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015984" y="3877056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ไปต่อได้ที่ไหน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11312" y="4279392"/>
            <a:ext cx="3200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5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Skills — เขียน SKILL.md ให้ Agent รู้มาตรฐานทีมเรา</a:t>
            </a:r>
            <a:endParaRPr lang="en-US" sz="900" dirty="0"/>
          </a:p>
          <a:p>
            <a:pPr marL="0" indent="0">
              <a:lnSpc>
                <a:spcPts val="1555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Scheduled Tasks — สรุปเรื่องค้างส่งทุกเช้า 8 โมง</a:t>
            </a:r>
            <a:endParaRPr lang="en-US" sz="900" dirty="0"/>
          </a:p>
          <a:p>
            <a:pPr marL="0" indent="0">
              <a:lnSpc>
                <a:spcPts val="1555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MCP Servers — เชื่อม GitHub, ฐานข้อมูล, Cloud Run</a:t>
            </a:r>
            <a:endParaRPr lang="en-US" sz="900" dirty="0"/>
          </a:p>
          <a:p>
            <a:pPr marL="0" indent="0">
              <a:lnSpc>
                <a:spcPts val="1555"/>
              </a:lnSpc>
              <a:buNone/>
            </a:pPr>
            <a:r>
              <a:rPr lang="en-US" sz="900" dirty="0">
                <a:solidFill>
                  <a:srgbClr val="16212E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Antigravity CLI และ SDK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645920"/>
            <a:ext cx="5120640" cy="512064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463040" cy="256032"/>
          </a:xfrm>
          <a:prstGeom prst="roundRect">
            <a:avLst>
              <a:gd name="adj" fmla="val 46429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8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ขอบคุณครับ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6642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สิ่งที่ได้กลับบ้านวันนี้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2514600"/>
            <a:ext cx="6766560" cy="749808"/>
          </a:xfrm>
          <a:prstGeom prst="roundRect">
            <a:avLst>
              <a:gd name="adj" fmla="val 12195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วิธีคิด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87168" y="251460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เปลี่ยนปัญหาหน้างานเป็นผังงานที่ AI ทำตามได้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383280"/>
            <a:ext cx="6766560" cy="749808"/>
          </a:xfrm>
          <a:prstGeom prst="roundRect">
            <a:avLst>
              <a:gd name="adj" fmla="val 12195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841248" y="338328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เครื่องมือ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87168" y="338328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Antigravity + Firebase + แผนที่ ที่ใช้ต่อได้ฟรี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251960"/>
            <a:ext cx="6766560" cy="749808"/>
          </a:xfrm>
          <a:prstGeom prst="roundRect">
            <a:avLst>
              <a:gd name="adj" fmla="val 12195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841248" y="425196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ผลงานจริง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87168" y="425196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ระบบที่ deploy แล้ว 1 ระบบ + repo + เอกสารออกแบบ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2514600"/>
            <a:ext cx="3977640" cy="2487168"/>
          </a:xfrm>
          <a:prstGeom prst="roundRect">
            <a:avLst>
              <a:gd name="adj" fmla="val 3676"/>
            </a:avLst>
          </a:prstGeom>
          <a:solidFill>
            <a:srgbClr val="17324B"/>
          </a:solidFill>
          <a:ln w="12700">
            <a:solidFill>
              <a:srgbClr val="1732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7863840" y="2697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ปรับใช้กับงานอื่นได้ทันที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63840" y="3035808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โครงเดียวกันนี้ใช้กับ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ระบบยืม-คืนครุภัณฑ์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ระบบจองห้องประชุม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ระบบรับเรื่องร้องเรียน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• ระบบสำรวจภาคสนาม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8C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เพียงเปลี่ยน entity และ state diagram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230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952F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“AI เก่งเรื่องทำอย่างไร  —  เราต้องเป็นคนตอบว่าทำอะไร และทำไม”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66928" y="57607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97AC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antigravity.google  ·  codelabs.developers.google.com/getting-started-google-antigravity  ·  console.firebase.google.com  ·  leafletjs.com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SOC CMU · Google Antigravity Workshop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Noto Sans Thai" panose="020B0502040504020204" pitchFamily="34" charset="-34"/>
                <a:ea typeface="Tahoma" pitchFamily="34" charset="-122"/>
                <a:cs typeface="Noto Sans Thai" panose="020B0502040504020204" pitchFamily="34" charset="-34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10288</Words>
  <Application>Microsoft Macintosh PowerPoint</Application>
  <PresentationFormat>Widescreen</PresentationFormat>
  <Paragraphs>1447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Courier New</vt:lpstr>
      <vt:lpstr>Noto Sans Thai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Workshop: สร้างเว็บแอปด้วย Google Antigravity — FacilityCare</dc:title>
  <dc:subject>ระบบแจ้งซ่อมงานอาคารสถานที่</dc:subject>
  <dc:creator>Workshop</dc:creator>
  <cp:lastModifiedBy>SAKDA HOMHUAN</cp:lastModifiedBy>
  <cp:revision>11</cp:revision>
  <dcterms:created xsi:type="dcterms:W3CDTF">2026-08-13T02:24:47Z</dcterms:created>
  <dcterms:modified xsi:type="dcterms:W3CDTF">2026-08-13T03:05:06Z</dcterms:modified>
</cp:coreProperties>
</file>